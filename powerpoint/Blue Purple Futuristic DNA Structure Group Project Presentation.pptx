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8288000" cy="10287000"/>
  <p:notesSz cx="6858000" cy="9144000"/>
  <p:embeddedFontLst>
    <p:embeddedFont>
      <p:font typeface="Baron Bold" charset="1" panose="020B0000000000000000"/>
      <p:regular r:id="rId48"/>
    </p:embeddedFont>
    <p:embeddedFont>
      <p:font typeface="Montserrat Bold" charset="1" panose="00000800000000000000"/>
      <p:regular r:id="rId49"/>
    </p:embeddedFont>
    <p:embeddedFont>
      <p:font typeface="Open Sauce" charset="1" panose="00000500000000000000"/>
      <p:regular r:id="rId50"/>
    </p:embeddedFont>
    <p:embeddedFont>
      <p:font typeface="Baron" charset="1" panose="020B0000000000000000"/>
      <p:regular r:id="rId51"/>
    </p:embeddedFont>
    <p:embeddedFont>
      <p:font typeface="Montserrat Semi-Bold" charset="1" panose="00000700000000000000"/>
      <p:regular r:id="rId52"/>
    </p:embeddedFont>
    <p:embeddedFont>
      <p:font typeface="Open Sauce Semi-Bold" charset="1" panose="00000700000000000000"/>
      <p:regular r:id="rId53"/>
    </p:embeddedFont>
    <p:embeddedFont>
      <p:font typeface="Open Sauce Bold" charset="1" panose="00000800000000000000"/>
      <p:regular r:id="rId54"/>
    </p:embeddedFont>
    <p:embeddedFont>
      <p:font typeface="Montserrat" charset="1" panose="00000500000000000000"/>
      <p:regular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4.png" Type="http://schemas.openxmlformats.org/officeDocument/2006/relationships/image"/><Relationship Id="rId4"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4.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4.png" Type="http://schemas.openxmlformats.org/officeDocument/2006/relationships/image"/><Relationship Id="rId4"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3.png" Type="http://schemas.openxmlformats.org/officeDocument/2006/relationships/image"/><Relationship Id="rId4" Target="../media/image49.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3.png" Type="http://schemas.openxmlformats.org/officeDocument/2006/relationships/image"/><Relationship Id="rId4" Target="../media/image5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5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png" Type="http://schemas.openxmlformats.org/officeDocument/2006/relationships/image"/><Relationship Id="rId4" Target="../media/image2.png" Type="http://schemas.openxmlformats.org/officeDocument/2006/relationships/image"/><Relationship Id="rId5" Target="../media/image4.png" Type="http://schemas.openxmlformats.org/officeDocument/2006/relationships/image"/><Relationship Id="rId6" Target="../media/image54.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4.png" Type="http://schemas.openxmlformats.org/officeDocument/2006/relationships/image"/><Relationship Id="rId4" Target="../media/image5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 Id="rId5" Target="../media/image4.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59.pn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6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61.png" Type="http://schemas.openxmlformats.org/officeDocument/2006/relationships/image"/><Relationship Id="rId4" Target="../media/image42.png" Type="http://schemas.openxmlformats.org/officeDocument/2006/relationships/image"/><Relationship Id="rId5" Target="../media/image43.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 Id="rId4" Target="../media/image63.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12875" t="0" r="-12875" b="0"/>
            </a:stretch>
          </a:blipFill>
        </p:spPr>
      </p:sp>
      <p:grpSp>
        <p:nvGrpSpPr>
          <p:cNvPr name="Group 3" id="3"/>
          <p:cNvGrpSpPr/>
          <p:nvPr/>
        </p:nvGrpSpPr>
        <p:grpSpPr>
          <a:xfrm rot="0">
            <a:off x="-1734300" y="-340038"/>
            <a:ext cx="20245050" cy="10967076"/>
            <a:chOff x="0" y="0"/>
            <a:chExt cx="4165648" cy="2256600"/>
          </a:xfrm>
        </p:grpSpPr>
        <p:sp>
          <p:nvSpPr>
            <p:cNvPr name="Freeform 4" id="4"/>
            <p:cNvSpPr/>
            <p:nvPr/>
          </p:nvSpPr>
          <p:spPr>
            <a:xfrm flipH="false" flipV="false" rot="0">
              <a:off x="0" y="0"/>
              <a:ext cx="4165648" cy="2256600"/>
            </a:xfrm>
            <a:custGeom>
              <a:avLst/>
              <a:gdLst/>
              <a:ahLst/>
              <a:cxnLst/>
              <a:rect r="r" b="b" t="t" l="l"/>
              <a:pathLst>
                <a:path h="2256600" w="4165648">
                  <a:moveTo>
                    <a:pt x="7469" y="0"/>
                  </a:moveTo>
                  <a:lnTo>
                    <a:pt x="4158179" y="0"/>
                  </a:lnTo>
                  <a:cubicBezTo>
                    <a:pt x="4160160" y="0"/>
                    <a:pt x="4162060" y="787"/>
                    <a:pt x="4163461" y="2188"/>
                  </a:cubicBezTo>
                  <a:cubicBezTo>
                    <a:pt x="4164861" y="3588"/>
                    <a:pt x="4165648" y="5488"/>
                    <a:pt x="4165648" y="7469"/>
                  </a:cubicBezTo>
                  <a:lnTo>
                    <a:pt x="4165648" y="2249131"/>
                  </a:lnTo>
                  <a:cubicBezTo>
                    <a:pt x="4165648" y="2251112"/>
                    <a:pt x="4164861" y="2253012"/>
                    <a:pt x="4163461" y="2254412"/>
                  </a:cubicBezTo>
                  <a:cubicBezTo>
                    <a:pt x="4162060" y="2255813"/>
                    <a:pt x="4160160" y="2256600"/>
                    <a:pt x="4158179" y="2256600"/>
                  </a:cubicBezTo>
                  <a:lnTo>
                    <a:pt x="7469" y="2256600"/>
                  </a:lnTo>
                  <a:cubicBezTo>
                    <a:pt x="5488" y="2256600"/>
                    <a:pt x="3588" y="2255813"/>
                    <a:pt x="2188" y="2254412"/>
                  </a:cubicBezTo>
                  <a:cubicBezTo>
                    <a:pt x="787" y="2253012"/>
                    <a:pt x="0" y="2251112"/>
                    <a:pt x="0" y="2249131"/>
                  </a:cubicBezTo>
                  <a:lnTo>
                    <a:pt x="0" y="7469"/>
                  </a:lnTo>
                  <a:cubicBezTo>
                    <a:pt x="0" y="5488"/>
                    <a:pt x="787" y="3588"/>
                    <a:pt x="2188" y="2188"/>
                  </a:cubicBezTo>
                  <a:cubicBezTo>
                    <a:pt x="3588" y="787"/>
                    <a:pt x="5488" y="0"/>
                    <a:pt x="7469"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5" id="5"/>
            <p:cNvSpPr txBox="true"/>
            <p:nvPr/>
          </p:nvSpPr>
          <p:spPr>
            <a:xfrm>
              <a:off x="0" y="-38100"/>
              <a:ext cx="4165648" cy="2294700"/>
            </a:xfrm>
            <a:prstGeom prst="rect">
              <a:avLst/>
            </a:prstGeom>
          </p:spPr>
          <p:txBody>
            <a:bodyPr anchor="ctr" rtlCol="false" tIns="50800" lIns="50800" bIns="50800" rIns="50800"/>
            <a:lstStyle/>
            <a:p>
              <a:pPr algn="ctr" marL="0" indent="0" lvl="0">
                <a:lnSpc>
                  <a:spcPts val="2659"/>
                </a:lnSpc>
              </a:pPr>
            </a:p>
          </p:txBody>
        </p:sp>
      </p:grpSp>
      <p:sp>
        <p:nvSpPr>
          <p:cNvPr name="Freeform 6" id="6"/>
          <p:cNvSpPr/>
          <p:nvPr/>
        </p:nvSpPr>
        <p:spPr>
          <a:xfrm flipH="false" flipV="false" rot="0">
            <a:off x="-728099" y="-587672"/>
            <a:ext cx="3232744" cy="3232744"/>
          </a:xfrm>
          <a:custGeom>
            <a:avLst/>
            <a:gdLst/>
            <a:ahLst/>
            <a:cxnLst/>
            <a:rect r="r" b="b" t="t" l="l"/>
            <a:pathLst>
              <a:path h="3232744" w="3232744">
                <a:moveTo>
                  <a:pt x="0" y="0"/>
                </a:moveTo>
                <a:lnTo>
                  <a:pt x="3232744" y="0"/>
                </a:lnTo>
                <a:lnTo>
                  <a:pt x="3232744" y="3232744"/>
                </a:lnTo>
                <a:lnTo>
                  <a:pt x="0" y="3232744"/>
                </a:lnTo>
                <a:lnTo>
                  <a:pt x="0" y="0"/>
                </a:lnTo>
                <a:close/>
              </a:path>
            </a:pathLst>
          </a:custGeom>
          <a:blipFill>
            <a:blip r:embed="rId3"/>
            <a:stretch>
              <a:fillRect l="0" t="0" r="0" b="0"/>
            </a:stretch>
          </a:blipFill>
        </p:spPr>
      </p:sp>
      <p:sp>
        <p:nvSpPr>
          <p:cNvPr name="Freeform 7" id="7"/>
          <p:cNvSpPr/>
          <p:nvPr/>
        </p:nvSpPr>
        <p:spPr>
          <a:xfrm flipH="false" flipV="false" rot="-9508001">
            <a:off x="557896" y="8333929"/>
            <a:ext cx="1981685" cy="1448155"/>
          </a:xfrm>
          <a:custGeom>
            <a:avLst/>
            <a:gdLst/>
            <a:ahLst/>
            <a:cxnLst/>
            <a:rect r="r" b="b" t="t" l="l"/>
            <a:pathLst>
              <a:path h="1448155" w="1981685">
                <a:moveTo>
                  <a:pt x="0" y="0"/>
                </a:moveTo>
                <a:lnTo>
                  <a:pt x="1981685" y="0"/>
                </a:lnTo>
                <a:lnTo>
                  <a:pt x="1981685" y="1448155"/>
                </a:lnTo>
                <a:lnTo>
                  <a:pt x="0" y="1448155"/>
                </a:lnTo>
                <a:lnTo>
                  <a:pt x="0" y="0"/>
                </a:lnTo>
                <a:close/>
              </a:path>
            </a:pathLst>
          </a:custGeom>
          <a:blipFill>
            <a:blip r:embed="rId4"/>
            <a:stretch>
              <a:fillRect l="0" t="0" r="0" b="0"/>
            </a:stretch>
          </a:blipFill>
        </p:spPr>
      </p:sp>
      <p:sp>
        <p:nvSpPr>
          <p:cNvPr name="TextBox 8" id="8"/>
          <p:cNvSpPr txBox="true"/>
          <p:nvPr/>
        </p:nvSpPr>
        <p:spPr>
          <a:xfrm rot="0">
            <a:off x="1491342" y="2082786"/>
            <a:ext cx="16338462" cy="1474577"/>
          </a:xfrm>
          <a:prstGeom prst="rect">
            <a:avLst/>
          </a:prstGeom>
        </p:spPr>
        <p:txBody>
          <a:bodyPr anchor="t" rtlCol="false" tIns="0" lIns="0" bIns="0" rIns="0">
            <a:spAutoFit/>
          </a:bodyPr>
          <a:lstStyle/>
          <a:p>
            <a:pPr algn="ctr" marL="0" indent="0" lvl="0">
              <a:lnSpc>
                <a:spcPts val="5831"/>
              </a:lnSpc>
            </a:pPr>
            <a:r>
              <a:rPr lang="en-US" b="true" sz="4941">
                <a:solidFill>
                  <a:srgbClr val="535E7B"/>
                </a:solidFill>
                <a:latin typeface="Baron Bold"/>
                <a:ea typeface="Baron Bold"/>
                <a:cs typeface="Baron Bold"/>
                <a:sym typeface="Baron Bold"/>
              </a:rPr>
              <a:t>ALZHEIMER'S DISEASE PREDICTION USING RNA-SEQ GENE EXPRESSION DATA AND MACHINE LEARNING</a:t>
            </a:r>
          </a:p>
        </p:txBody>
      </p:sp>
      <p:sp>
        <p:nvSpPr>
          <p:cNvPr name="TextBox 9" id="9"/>
          <p:cNvSpPr txBox="true"/>
          <p:nvPr/>
        </p:nvSpPr>
        <p:spPr>
          <a:xfrm rot="0">
            <a:off x="1376009" y="7082018"/>
            <a:ext cx="8094438" cy="744514"/>
          </a:xfrm>
          <a:prstGeom prst="rect">
            <a:avLst/>
          </a:prstGeom>
        </p:spPr>
        <p:txBody>
          <a:bodyPr anchor="t" rtlCol="false" tIns="0" lIns="0" bIns="0" rIns="0">
            <a:spAutoFit/>
          </a:bodyPr>
          <a:lstStyle/>
          <a:p>
            <a:pPr algn="ctr" marL="0" indent="0" lvl="0">
              <a:lnSpc>
                <a:spcPts val="3063"/>
              </a:lnSpc>
            </a:pPr>
          </a:p>
          <a:p>
            <a:pPr algn="ctr" marL="0" indent="0" lvl="0">
              <a:lnSpc>
                <a:spcPts val="3063"/>
              </a:lnSpc>
            </a:pPr>
            <a:r>
              <a:rPr lang="en-US" b="true" sz="2188">
                <a:solidFill>
                  <a:srgbClr val="363E52"/>
                </a:solidFill>
                <a:latin typeface="Montserrat Bold"/>
                <a:ea typeface="Montserrat Bold"/>
                <a:cs typeface="Montserrat Bold"/>
                <a:sym typeface="Montserrat Bold"/>
              </a:rPr>
              <a:t>Prepared by: Jessica Amgad Anis  | ID: 231001218</a:t>
            </a:r>
          </a:p>
        </p:txBody>
      </p:sp>
      <p:sp>
        <p:nvSpPr>
          <p:cNvPr name="TextBox 10" id="10"/>
          <p:cNvSpPr txBox="true"/>
          <p:nvPr/>
        </p:nvSpPr>
        <p:spPr>
          <a:xfrm rot="0">
            <a:off x="1491342" y="4554881"/>
            <a:ext cx="12556143" cy="463506"/>
          </a:xfrm>
          <a:prstGeom prst="rect">
            <a:avLst/>
          </a:prstGeom>
        </p:spPr>
        <p:txBody>
          <a:bodyPr anchor="t" rtlCol="false" tIns="0" lIns="0" bIns="0" rIns="0">
            <a:spAutoFit/>
          </a:bodyPr>
          <a:lstStyle/>
          <a:p>
            <a:pPr algn="ctr">
              <a:lnSpc>
                <a:spcPts val="3621"/>
              </a:lnSpc>
              <a:spcBef>
                <a:spcPct val="0"/>
              </a:spcBef>
            </a:pPr>
            <a:r>
              <a:rPr lang="en-US" sz="3069">
                <a:solidFill>
                  <a:srgbClr val="FFFFFF"/>
                </a:solidFill>
                <a:latin typeface="Open Sauce"/>
                <a:ea typeface="Open Sauce"/>
                <a:cs typeface="Open Sauce"/>
                <a:sym typeface="Open Sauce"/>
              </a:rPr>
              <a:t>Final Project — CBIO313: Data Mining and Machine Learning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737478" y="-8571423"/>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9275291">
            <a:off x="14294035" y="750072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2"/>
            <a:stretch>
              <a:fillRect l="0" t="0" r="0" b="0"/>
            </a:stretch>
          </a:blipFill>
        </p:spPr>
      </p:sp>
      <p:sp>
        <p:nvSpPr>
          <p:cNvPr name="Freeform 6" id="6"/>
          <p:cNvSpPr/>
          <p:nvPr/>
        </p:nvSpPr>
        <p:spPr>
          <a:xfrm flipH="true" flipV="false" rot="-9144663">
            <a:off x="-1936565" y="7454662"/>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2"/>
            <a:stretch>
              <a:fillRect l="0" t="0" r="0" b="0"/>
            </a:stretch>
          </a:blipFill>
        </p:spPr>
      </p:sp>
      <p:sp>
        <p:nvSpPr>
          <p:cNvPr name="TextBox 7" id="7"/>
          <p:cNvSpPr txBox="true"/>
          <p:nvPr/>
        </p:nvSpPr>
        <p:spPr>
          <a:xfrm rot="0">
            <a:off x="1341806" y="1019175"/>
            <a:ext cx="15604388" cy="834782"/>
          </a:xfrm>
          <a:prstGeom prst="rect">
            <a:avLst/>
          </a:prstGeom>
        </p:spPr>
        <p:txBody>
          <a:bodyPr anchor="t" rtlCol="false" tIns="0" lIns="0" bIns="0" rIns="0">
            <a:spAutoFit/>
          </a:bodyPr>
          <a:lstStyle/>
          <a:p>
            <a:pPr algn="ctr" marL="0" indent="0" lvl="0">
              <a:lnSpc>
                <a:spcPts val="6442"/>
              </a:lnSpc>
            </a:pPr>
            <a:r>
              <a:rPr lang="en-US" sz="5459">
                <a:solidFill>
                  <a:srgbClr val="363E52"/>
                </a:solidFill>
                <a:latin typeface="Baron"/>
                <a:ea typeface="Baron"/>
                <a:cs typeface="Baron"/>
                <a:sym typeface="Baron"/>
              </a:rPr>
              <a:t>Introduction</a:t>
            </a:r>
          </a:p>
        </p:txBody>
      </p:sp>
      <p:sp>
        <p:nvSpPr>
          <p:cNvPr name="Freeform 8" id="8"/>
          <p:cNvSpPr/>
          <p:nvPr/>
        </p:nvSpPr>
        <p:spPr>
          <a:xfrm flipH="false" flipV="false" rot="0">
            <a:off x="2376705" y="3078783"/>
            <a:ext cx="1211667" cy="1384763"/>
          </a:xfrm>
          <a:custGeom>
            <a:avLst/>
            <a:gdLst/>
            <a:ahLst/>
            <a:cxnLst/>
            <a:rect r="r" b="b" t="t" l="l"/>
            <a:pathLst>
              <a:path h="1384763" w="1211667">
                <a:moveTo>
                  <a:pt x="0" y="0"/>
                </a:moveTo>
                <a:lnTo>
                  <a:pt x="1211667" y="0"/>
                </a:lnTo>
                <a:lnTo>
                  <a:pt x="1211667" y="1384763"/>
                </a:lnTo>
                <a:lnTo>
                  <a:pt x="0" y="1384763"/>
                </a:lnTo>
                <a:lnTo>
                  <a:pt x="0" y="0"/>
                </a:lnTo>
                <a:close/>
              </a:path>
            </a:pathLst>
          </a:custGeom>
          <a:blipFill>
            <a:blip r:embed="rId3"/>
            <a:stretch>
              <a:fillRect l="0" t="0" r="0" b="0"/>
            </a:stretch>
          </a:blipFill>
        </p:spPr>
      </p:sp>
      <p:sp>
        <p:nvSpPr>
          <p:cNvPr name="TextBox 9" id="9"/>
          <p:cNvSpPr txBox="true"/>
          <p:nvPr/>
        </p:nvSpPr>
        <p:spPr>
          <a:xfrm rot="0">
            <a:off x="4072424" y="2691442"/>
            <a:ext cx="13337011" cy="2181280"/>
          </a:xfrm>
          <a:prstGeom prst="rect">
            <a:avLst/>
          </a:prstGeom>
        </p:spPr>
        <p:txBody>
          <a:bodyPr anchor="t" rtlCol="false" tIns="0" lIns="0" bIns="0" rIns="0">
            <a:spAutoFit/>
          </a:bodyPr>
          <a:lstStyle/>
          <a:p>
            <a:pPr algn="l">
              <a:lnSpc>
                <a:spcPts val="2899"/>
              </a:lnSpc>
            </a:pPr>
            <a:r>
              <a:rPr lang="en-US" sz="2071">
                <a:solidFill>
                  <a:srgbClr val="363E52"/>
                </a:solidFill>
                <a:latin typeface="Open Sauce"/>
                <a:ea typeface="Open Sauce"/>
                <a:cs typeface="Open Sauce"/>
                <a:sym typeface="Open Sauce"/>
              </a:rPr>
              <a:t>Introduction</a:t>
            </a:r>
          </a:p>
          <a:p>
            <a:pPr algn="l" marL="447150" indent="-223575" lvl="1">
              <a:lnSpc>
                <a:spcPts val="2899"/>
              </a:lnSpc>
              <a:buFont typeface="Arial"/>
              <a:buChar char="•"/>
            </a:pPr>
            <a:r>
              <a:rPr lang="en-US" sz="2071">
                <a:solidFill>
                  <a:srgbClr val="363E52"/>
                </a:solidFill>
                <a:latin typeface="Open Sauce"/>
                <a:ea typeface="Open Sauce"/>
                <a:cs typeface="Open Sauce"/>
                <a:sym typeface="Open Sauce"/>
              </a:rPr>
              <a:t>Alzheimer’s disease (AD) is a progressive neurological disorder that affects:</a:t>
            </a:r>
          </a:p>
          <a:p>
            <a:pPr algn="l" marL="894300" indent="-298100" lvl="2">
              <a:lnSpc>
                <a:spcPts val="2899"/>
              </a:lnSpc>
              <a:buFont typeface="Arial"/>
              <a:buChar char="⚬"/>
            </a:pPr>
            <a:r>
              <a:rPr lang="en-US" sz="2071">
                <a:solidFill>
                  <a:srgbClr val="363E52"/>
                </a:solidFill>
                <a:latin typeface="Open Sauce"/>
                <a:ea typeface="Open Sauce"/>
                <a:cs typeface="Open Sauce"/>
                <a:sym typeface="Open Sauce"/>
              </a:rPr>
              <a:t>Memory</a:t>
            </a:r>
          </a:p>
          <a:p>
            <a:pPr algn="l" marL="894300" indent="-298100" lvl="2">
              <a:lnSpc>
                <a:spcPts val="2899"/>
              </a:lnSpc>
              <a:buFont typeface="Arial"/>
              <a:buChar char="⚬"/>
            </a:pPr>
            <a:r>
              <a:rPr lang="en-US" sz="2071">
                <a:solidFill>
                  <a:srgbClr val="363E52"/>
                </a:solidFill>
                <a:latin typeface="Open Sauce"/>
                <a:ea typeface="Open Sauce"/>
                <a:cs typeface="Open Sauce"/>
                <a:sym typeface="Open Sauce"/>
              </a:rPr>
              <a:t>Cognitive abilities</a:t>
            </a:r>
          </a:p>
          <a:p>
            <a:pPr algn="l" marL="894300" indent="-298100" lvl="2">
              <a:lnSpc>
                <a:spcPts val="2899"/>
              </a:lnSpc>
              <a:buFont typeface="Arial"/>
              <a:buChar char="⚬"/>
            </a:pPr>
            <a:r>
              <a:rPr lang="en-US" sz="2071">
                <a:solidFill>
                  <a:srgbClr val="363E52"/>
                </a:solidFill>
                <a:latin typeface="Open Sauce"/>
                <a:ea typeface="Open Sauce"/>
                <a:cs typeface="Open Sauce"/>
                <a:sym typeface="Open Sauce"/>
              </a:rPr>
              <a:t>Daily functioning</a:t>
            </a:r>
          </a:p>
          <a:p>
            <a:pPr algn="l" marL="0" indent="0" lvl="0">
              <a:lnSpc>
                <a:spcPts val="2899"/>
              </a:lnSpc>
            </a:pPr>
          </a:p>
        </p:txBody>
      </p:sp>
      <p:sp>
        <p:nvSpPr>
          <p:cNvPr name="TextBox 10" id="10"/>
          <p:cNvSpPr txBox="true"/>
          <p:nvPr/>
        </p:nvSpPr>
        <p:spPr>
          <a:xfrm rot="0">
            <a:off x="2376705" y="3555236"/>
            <a:ext cx="1284975" cy="441382"/>
          </a:xfrm>
          <a:prstGeom prst="rect">
            <a:avLst/>
          </a:prstGeom>
        </p:spPr>
        <p:txBody>
          <a:bodyPr anchor="t" rtlCol="false" tIns="0" lIns="0" bIns="0" rIns="0">
            <a:spAutoFit/>
          </a:bodyPr>
          <a:lstStyle/>
          <a:p>
            <a:pPr algn="ctr" marL="0" indent="0" lvl="0">
              <a:lnSpc>
                <a:spcPts val="3495"/>
              </a:lnSpc>
            </a:pPr>
            <a:r>
              <a:rPr lang="en-US" b="true" sz="2962">
                <a:solidFill>
                  <a:srgbClr val="FFFFFF"/>
                </a:solidFill>
                <a:latin typeface="Montserrat Semi-Bold"/>
                <a:ea typeface="Montserrat Semi-Bold"/>
                <a:cs typeface="Montserrat Semi-Bold"/>
                <a:sym typeface="Montserrat Semi-Bold"/>
              </a:rPr>
              <a:t>?</a:t>
            </a:r>
          </a:p>
        </p:txBody>
      </p:sp>
      <p:sp>
        <p:nvSpPr>
          <p:cNvPr name="Freeform 11" id="11"/>
          <p:cNvSpPr/>
          <p:nvPr/>
        </p:nvSpPr>
        <p:spPr>
          <a:xfrm flipH="false" flipV="false" rot="0">
            <a:off x="2450012" y="4980647"/>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12" id="12"/>
          <p:cNvSpPr txBox="true"/>
          <p:nvPr/>
        </p:nvSpPr>
        <p:spPr>
          <a:xfrm rot="0">
            <a:off x="4072424" y="4942547"/>
            <a:ext cx="12636340" cy="1721948"/>
          </a:xfrm>
          <a:prstGeom prst="rect">
            <a:avLst/>
          </a:prstGeom>
        </p:spPr>
        <p:txBody>
          <a:bodyPr anchor="t" rtlCol="false" tIns="0" lIns="0" bIns="0" rIns="0">
            <a:spAutoFit/>
          </a:bodyPr>
          <a:lstStyle/>
          <a:p>
            <a:pPr algn="l" marL="0" indent="0" lvl="0">
              <a:lnSpc>
                <a:spcPts val="2747"/>
              </a:lnSpc>
            </a:pPr>
            <a:r>
              <a:rPr lang="en-US" sz="1962">
                <a:solidFill>
                  <a:srgbClr val="363E52"/>
                </a:solidFill>
                <a:latin typeface="Open Sauce"/>
                <a:ea typeface="Open Sauce"/>
                <a:cs typeface="Open Sauce"/>
                <a:sym typeface="Open Sauce"/>
              </a:rPr>
              <a:t>E</a:t>
            </a:r>
            <a:r>
              <a:rPr lang="en-US" sz="1962">
                <a:solidFill>
                  <a:srgbClr val="363E52"/>
                </a:solidFill>
                <a:latin typeface="Open Sauce"/>
                <a:ea typeface="Open Sauce"/>
                <a:cs typeface="Open Sauce"/>
                <a:sym typeface="Open Sauce"/>
              </a:rPr>
              <a:t>arly prediction of Alzheimer’s disease is important because it can:</a:t>
            </a:r>
          </a:p>
          <a:p>
            <a:pPr algn="l" marL="423658" indent="-211829" lvl="1">
              <a:lnSpc>
                <a:spcPts val="2747"/>
              </a:lnSpc>
              <a:buFont typeface="Arial"/>
              <a:buChar char="•"/>
            </a:pPr>
            <a:r>
              <a:rPr lang="en-US" sz="1962">
                <a:solidFill>
                  <a:srgbClr val="363E52"/>
                </a:solidFill>
                <a:latin typeface="Open Sauce"/>
                <a:ea typeface="Open Sauce"/>
                <a:cs typeface="Open Sauce"/>
                <a:sym typeface="Open Sauce"/>
              </a:rPr>
              <a:t>Support medical research</a:t>
            </a:r>
          </a:p>
          <a:p>
            <a:pPr algn="l" marL="423658" indent="-211829" lvl="1">
              <a:lnSpc>
                <a:spcPts val="2747"/>
              </a:lnSpc>
              <a:buFont typeface="Arial"/>
              <a:buChar char="•"/>
            </a:pPr>
            <a:r>
              <a:rPr lang="en-US" sz="1962">
                <a:solidFill>
                  <a:srgbClr val="363E52"/>
                </a:solidFill>
                <a:latin typeface="Open Sauce"/>
                <a:ea typeface="Open Sauce"/>
                <a:cs typeface="Open Sauce"/>
                <a:sym typeface="Open Sauce"/>
              </a:rPr>
              <a:t>Improve diagnosis</a:t>
            </a:r>
          </a:p>
          <a:p>
            <a:pPr algn="l" marL="423658" indent="-211829" lvl="1">
              <a:lnSpc>
                <a:spcPts val="2747"/>
              </a:lnSpc>
              <a:buFont typeface="Arial"/>
              <a:buChar char="•"/>
            </a:pPr>
            <a:r>
              <a:rPr lang="en-US" sz="1962">
                <a:solidFill>
                  <a:srgbClr val="363E52"/>
                </a:solidFill>
                <a:latin typeface="Open Sauce"/>
                <a:ea typeface="Open Sauce"/>
                <a:cs typeface="Open Sauce"/>
                <a:sym typeface="Open Sauce"/>
              </a:rPr>
              <a:t>Assist in early intervention</a:t>
            </a:r>
          </a:p>
          <a:p>
            <a:pPr algn="l" marL="0" indent="0" lvl="0">
              <a:lnSpc>
                <a:spcPts val="2747"/>
              </a:lnSpc>
            </a:pPr>
          </a:p>
        </p:txBody>
      </p:sp>
      <p:sp>
        <p:nvSpPr>
          <p:cNvPr name="TextBox 13" id="13"/>
          <p:cNvSpPr txBox="true"/>
          <p:nvPr/>
        </p:nvSpPr>
        <p:spPr>
          <a:xfrm rot="0">
            <a:off x="2413358" y="5345949"/>
            <a:ext cx="1284975" cy="441382"/>
          </a:xfrm>
          <a:prstGeom prst="rect">
            <a:avLst/>
          </a:prstGeom>
        </p:spPr>
        <p:txBody>
          <a:bodyPr anchor="t" rtlCol="false" tIns="0" lIns="0" bIns="0" rIns="0">
            <a:spAutoFit/>
          </a:bodyPr>
          <a:lstStyle/>
          <a:p>
            <a:pPr algn="ctr" marL="0" indent="0" lvl="0">
              <a:lnSpc>
                <a:spcPts val="3495"/>
              </a:lnSpc>
            </a:pPr>
            <a:r>
              <a:rPr lang="en-US" b="true" sz="2962">
                <a:solidFill>
                  <a:srgbClr val="FFFFFF"/>
                </a:solidFill>
                <a:latin typeface="Montserrat Semi-Bold"/>
                <a:ea typeface="Montserrat Semi-Bold"/>
                <a:cs typeface="Montserrat Semi-Bold"/>
                <a:sym typeface="Montserrat Semi-Bold"/>
              </a:rPr>
              <a:t>?</a:t>
            </a:r>
          </a:p>
        </p:txBody>
      </p:sp>
      <p:sp>
        <p:nvSpPr>
          <p:cNvPr name="Freeform 14" id="14"/>
          <p:cNvSpPr/>
          <p:nvPr/>
        </p:nvSpPr>
        <p:spPr>
          <a:xfrm flipH="false" flipV="false" rot="0">
            <a:off x="2450012" y="6882511"/>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15" id="15"/>
          <p:cNvSpPr txBox="true"/>
          <p:nvPr/>
        </p:nvSpPr>
        <p:spPr>
          <a:xfrm rot="0">
            <a:off x="4072424" y="6844411"/>
            <a:ext cx="12873771" cy="1047081"/>
          </a:xfrm>
          <a:prstGeom prst="rect">
            <a:avLst/>
          </a:prstGeom>
        </p:spPr>
        <p:txBody>
          <a:bodyPr anchor="t" rtlCol="false" tIns="0" lIns="0" bIns="0" rIns="0">
            <a:spAutoFit/>
          </a:bodyPr>
          <a:lstStyle/>
          <a:p>
            <a:pPr algn="l" marL="431619" indent="-215809" lvl="1">
              <a:lnSpc>
                <a:spcPts val="2798"/>
              </a:lnSpc>
              <a:buFont typeface="Arial"/>
              <a:buChar char="•"/>
            </a:pPr>
            <a:r>
              <a:rPr lang="en-US" sz="1999">
                <a:solidFill>
                  <a:srgbClr val="363E52"/>
                </a:solidFill>
                <a:latin typeface="Open Sauce"/>
                <a:ea typeface="Open Sauce"/>
                <a:cs typeface="Open Sauce"/>
                <a:sym typeface="Open Sauce"/>
              </a:rPr>
              <a:t>G</a:t>
            </a:r>
            <a:r>
              <a:rPr lang="en-US" sz="1999">
                <a:solidFill>
                  <a:srgbClr val="363E52"/>
                </a:solidFill>
                <a:latin typeface="Open Sauce"/>
                <a:ea typeface="Open Sauce"/>
                <a:cs typeface="Open Sauce"/>
                <a:sym typeface="Open Sauce"/>
              </a:rPr>
              <a:t>ene expression analysis using RNA-Seq data provides biological insights into disease mechanisms.</a:t>
            </a:r>
          </a:p>
          <a:p>
            <a:pPr algn="l" marL="431619" indent="-215809" lvl="1">
              <a:lnSpc>
                <a:spcPts val="2798"/>
              </a:lnSpc>
              <a:buFont typeface="Arial"/>
              <a:buChar char="•"/>
            </a:pPr>
            <a:r>
              <a:rPr lang="en-US" sz="1999">
                <a:solidFill>
                  <a:srgbClr val="363E52"/>
                </a:solidFill>
                <a:latin typeface="Open Sauce"/>
                <a:ea typeface="Open Sauce"/>
                <a:cs typeface="Open Sauce"/>
                <a:sym typeface="Open Sauce"/>
              </a:rPr>
              <a:t>Machine learning can identify hidden patterns in high-dimensional biological datasets.</a:t>
            </a:r>
          </a:p>
          <a:p>
            <a:pPr algn="l" marL="0" indent="0" lvl="0">
              <a:lnSpc>
                <a:spcPts val="2798"/>
              </a:lnSpc>
            </a:pPr>
          </a:p>
        </p:txBody>
      </p:sp>
      <p:sp>
        <p:nvSpPr>
          <p:cNvPr name="TextBox 16" id="16"/>
          <p:cNvSpPr txBox="true"/>
          <p:nvPr/>
        </p:nvSpPr>
        <p:spPr>
          <a:xfrm rot="0">
            <a:off x="2413358" y="7136663"/>
            <a:ext cx="1284975" cy="441382"/>
          </a:xfrm>
          <a:prstGeom prst="rect">
            <a:avLst/>
          </a:prstGeom>
        </p:spPr>
        <p:txBody>
          <a:bodyPr anchor="t" rtlCol="false" tIns="0" lIns="0" bIns="0" rIns="0">
            <a:spAutoFit/>
          </a:bodyPr>
          <a:lstStyle/>
          <a:p>
            <a:pPr algn="ctr" marL="0" indent="0" lvl="0">
              <a:lnSpc>
                <a:spcPts val="3495"/>
              </a:lnSpc>
            </a:pPr>
            <a:r>
              <a:rPr lang="en-US" b="true" sz="2962">
                <a:solidFill>
                  <a:srgbClr val="FFFFFF"/>
                </a:solidFill>
                <a:latin typeface="Montserrat Semi-Bold"/>
                <a:ea typeface="Montserrat Semi-Bold"/>
                <a:cs typeface="Montserrat Semi-Bold"/>
                <a:sym typeface="Montserrat Semi-Bold"/>
              </a:rPr>
              <a: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278052" cy="10287000"/>
          </a:xfrm>
          <a:custGeom>
            <a:avLst/>
            <a:gdLst/>
            <a:ahLst/>
            <a:cxnLst/>
            <a:rect r="r" b="b" t="t" l="l"/>
            <a:pathLst>
              <a:path h="10287000" w="7278052">
                <a:moveTo>
                  <a:pt x="0" y="0"/>
                </a:moveTo>
                <a:lnTo>
                  <a:pt x="7278052" y="0"/>
                </a:lnTo>
                <a:lnTo>
                  <a:pt x="7278052"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227585" y="781862"/>
            <a:ext cx="2718324" cy="1712544"/>
          </a:xfrm>
          <a:custGeom>
            <a:avLst/>
            <a:gdLst/>
            <a:ahLst/>
            <a:cxnLst/>
            <a:rect r="r" b="b" t="t" l="l"/>
            <a:pathLst>
              <a:path h="1712544" w="2718324">
                <a:moveTo>
                  <a:pt x="0" y="0"/>
                </a:moveTo>
                <a:lnTo>
                  <a:pt x="2718324" y="0"/>
                </a:lnTo>
                <a:lnTo>
                  <a:pt x="2718324" y="1712544"/>
                </a:lnTo>
                <a:lnTo>
                  <a:pt x="0" y="1712544"/>
                </a:lnTo>
                <a:lnTo>
                  <a:pt x="0" y="0"/>
                </a:lnTo>
                <a:close/>
              </a:path>
            </a:pathLst>
          </a:custGeom>
          <a:blipFill>
            <a:blip r:embed="rId3"/>
            <a:stretch>
              <a:fillRect l="0" t="0" r="0" b="0"/>
            </a:stretch>
          </a:blipFill>
        </p:spPr>
      </p:sp>
      <p:sp>
        <p:nvSpPr>
          <p:cNvPr name="TextBox 4" id="4"/>
          <p:cNvSpPr txBox="true"/>
          <p:nvPr/>
        </p:nvSpPr>
        <p:spPr>
          <a:xfrm rot="0">
            <a:off x="4703573" y="781862"/>
            <a:ext cx="10341594" cy="1084977"/>
          </a:xfrm>
          <a:prstGeom prst="rect">
            <a:avLst/>
          </a:prstGeom>
        </p:spPr>
        <p:txBody>
          <a:bodyPr anchor="t" rtlCol="false" tIns="0" lIns="0" bIns="0" rIns="0">
            <a:spAutoFit/>
          </a:bodyPr>
          <a:lstStyle/>
          <a:p>
            <a:pPr algn="l" marL="0" indent="0" lvl="0">
              <a:lnSpc>
                <a:spcPts val="8444"/>
              </a:lnSpc>
            </a:pPr>
            <a:r>
              <a:rPr lang="en-US" b="true" sz="7156">
                <a:solidFill>
                  <a:srgbClr val="363E52"/>
                </a:solidFill>
                <a:latin typeface="Baron Bold"/>
                <a:ea typeface="Baron Bold"/>
                <a:cs typeface="Baron Bold"/>
                <a:sym typeface="Baron Bold"/>
              </a:rPr>
              <a:t>Project Objective</a:t>
            </a:r>
          </a:p>
        </p:txBody>
      </p:sp>
      <p:sp>
        <p:nvSpPr>
          <p:cNvPr name="TextBox 5" id="5"/>
          <p:cNvSpPr txBox="true"/>
          <p:nvPr/>
        </p:nvSpPr>
        <p:spPr>
          <a:xfrm rot="0">
            <a:off x="8330897" y="3442387"/>
            <a:ext cx="1848954" cy="1017495"/>
          </a:xfrm>
          <a:prstGeom prst="rect">
            <a:avLst/>
          </a:prstGeom>
        </p:spPr>
        <p:txBody>
          <a:bodyPr anchor="t" rtlCol="false" tIns="0" lIns="0" bIns="0" rIns="0">
            <a:spAutoFit/>
          </a:bodyPr>
          <a:lstStyle/>
          <a:p>
            <a:pPr algn="l" marL="0" indent="0" lvl="0">
              <a:lnSpc>
                <a:spcPts val="8069"/>
              </a:lnSpc>
            </a:pPr>
          </a:p>
        </p:txBody>
      </p:sp>
      <p:sp>
        <p:nvSpPr>
          <p:cNvPr name="TextBox 6" id="6"/>
          <p:cNvSpPr txBox="true"/>
          <p:nvPr/>
        </p:nvSpPr>
        <p:spPr>
          <a:xfrm rot="0">
            <a:off x="8330897" y="5503597"/>
            <a:ext cx="1848954" cy="1017495"/>
          </a:xfrm>
          <a:prstGeom prst="rect">
            <a:avLst/>
          </a:prstGeom>
        </p:spPr>
        <p:txBody>
          <a:bodyPr anchor="t" rtlCol="false" tIns="0" lIns="0" bIns="0" rIns="0">
            <a:spAutoFit/>
          </a:bodyPr>
          <a:lstStyle/>
          <a:p>
            <a:pPr algn="l" marL="0" indent="0" lvl="0">
              <a:lnSpc>
                <a:spcPts val="8069"/>
              </a:lnSpc>
            </a:pPr>
          </a:p>
        </p:txBody>
      </p:sp>
      <p:sp>
        <p:nvSpPr>
          <p:cNvPr name="TextBox 7" id="7"/>
          <p:cNvSpPr txBox="true"/>
          <p:nvPr/>
        </p:nvSpPr>
        <p:spPr>
          <a:xfrm rot="0">
            <a:off x="8330897" y="7564806"/>
            <a:ext cx="1848954" cy="1017495"/>
          </a:xfrm>
          <a:prstGeom prst="rect">
            <a:avLst/>
          </a:prstGeom>
        </p:spPr>
        <p:txBody>
          <a:bodyPr anchor="t" rtlCol="false" tIns="0" lIns="0" bIns="0" rIns="0">
            <a:spAutoFit/>
          </a:bodyPr>
          <a:lstStyle/>
          <a:p>
            <a:pPr algn="l" marL="0" indent="0" lvl="0">
              <a:lnSpc>
                <a:spcPts val="8069"/>
              </a:lnSpc>
            </a:pPr>
          </a:p>
        </p:txBody>
      </p:sp>
      <p:sp>
        <p:nvSpPr>
          <p:cNvPr name="TextBox 8" id="8"/>
          <p:cNvSpPr txBox="true"/>
          <p:nvPr/>
        </p:nvSpPr>
        <p:spPr>
          <a:xfrm rot="0">
            <a:off x="7559201" y="2084841"/>
            <a:ext cx="10091164" cy="7173459"/>
          </a:xfrm>
          <a:prstGeom prst="rect">
            <a:avLst/>
          </a:prstGeom>
        </p:spPr>
        <p:txBody>
          <a:bodyPr anchor="t" rtlCol="false" tIns="0" lIns="0" bIns="0" rIns="0">
            <a:spAutoFit/>
          </a:bodyPr>
          <a:lstStyle/>
          <a:p>
            <a:pPr algn="l">
              <a:lnSpc>
                <a:spcPts val="3146"/>
              </a:lnSpc>
              <a:spcBef>
                <a:spcPct val="0"/>
              </a:spcBef>
            </a:pPr>
            <a:r>
              <a:rPr lang="en-US" b="true" sz="2666">
                <a:solidFill>
                  <a:srgbClr val="363E52"/>
                </a:solidFill>
                <a:latin typeface="Open Sauce Semi-Bold"/>
                <a:ea typeface="Open Sauce Semi-Bold"/>
                <a:cs typeface="Open Sauce Semi-Bold"/>
                <a:sym typeface="Open Sauce Semi-Bold"/>
              </a:rPr>
              <a:t>Project Objective</a:t>
            </a:r>
          </a:p>
          <a:p>
            <a:pPr algn="l">
              <a:lnSpc>
                <a:spcPts val="3146"/>
              </a:lnSpc>
              <a:spcBef>
                <a:spcPct val="0"/>
              </a:spcBef>
            </a:pPr>
            <a:r>
              <a:rPr lang="en-US" b="true" sz="2666">
                <a:solidFill>
                  <a:srgbClr val="363E52"/>
                </a:solidFill>
                <a:latin typeface="Open Sauce Semi-Bold"/>
                <a:ea typeface="Open Sauce Semi-Bold"/>
                <a:cs typeface="Open Sauce Semi-Bold"/>
                <a:sym typeface="Open Sauce Semi-Bold"/>
              </a:rPr>
              <a:t>The objective of this project is to:</a:t>
            </a:r>
          </a:p>
          <a:p>
            <a:pPr algn="l">
              <a:lnSpc>
                <a:spcPts val="3146"/>
              </a:lnSpc>
              <a:spcBef>
                <a:spcPct val="0"/>
              </a:spcBef>
            </a:pPr>
          </a:p>
          <a:p>
            <a:pPr algn="l">
              <a:lnSpc>
                <a:spcPts val="3146"/>
              </a:lnSpc>
              <a:spcBef>
                <a:spcPct val="0"/>
              </a:spcBef>
            </a:pPr>
            <a:r>
              <a:rPr lang="en-US" b="true" sz="2666">
                <a:solidFill>
                  <a:srgbClr val="363E52"/>
                </a:solidFill>
                <a:latin typeface="Open Sauce Semi-Bold"/>
                <a:ea typeface="Open Sauce Semi-Bold"/>
                <a:cs typeface="Open Sauce Semi-Bold"/>
                <a:sym typeface="Open Sauce Semi-Bold"/>
              </a:rPr>
              <a:t>Develop a machine learning model capable of distinguishing:</a:t>
            </a:r>
          </a:p>
          <a:p>
            <a:pPr algn="l">
              <a:lnSpc>
                <a:spcPts val="3146"/>
              </a:lnSpc>
              <a:spcBef>
                <a:spcPct val="0"/>
              </a:spcBef>
            </a:pPr>
            <a:r>
              <a:rPr lang="en-US" b="true" sz="2666">
                <a:solidFill>
                  <a:srgbClr val="363E52"/>
                </a:solidFill>
                <a:latin typeface="Open Sauce Semi-Bold"/>
                <a:ea typeface="Open Sauce Semi-Bold"/>
                <a:cs typeface="Open Sauce Semi-Bold"/>
                <a:sym typeface="Open Sauce Semi-Bold"/>
              </a:rPr>
              <a:t>Alzheimer’s disease samples</a:t>
            </a:r>
          </a:p>
          <a:p>
            <a:pPr algn="l">
              <a:lnSpc>
                <a:spcPts val="3146"/>
              </a:lnSpc>
              <a:spcBef>
                <a:spcPct val="0"/>
              </a:spcBef>
            </a:pPr>
            <a:r>
              <a:rPr lang="en-US" b="true" sz="2666">
                <a:solidFill>
                  <a:srgbClr val="363E52"/>
                </a:solidFill>
                <a:latin typeface="Open Sauce Semi-Bold"/>
                <a:ea typeface="Open Sauce Semi-Bold"/>
                <a:cs typeface="Open Sauce Semi-Bold"/>
                <a:sym typeface="Open Sauce Semi-Bold"/>
              </a:rPr>
              <a:t>Non-Alzheimer’s control samples</a:t>
            </a:r>
          </a:p>
          <a:p>
            <a:pPr algn="l">
              <a:lnSpc>
                <a:spcPts val="3146"/>
              </a:lnSpc>
              <a:spcBef>
                <a:spcPct val="0"/>
              </a:spcBef>
            </a:pPr>
          </a:p>
          <a:p>
            <a:pPr algn="l">
              <a:lnSpc>
                <a:spcPts val="3146"/>
              </a:lnSpc>
              <a:spcBef>
                <a:spcPct val="0"/>
              </a:spcBef>
            </a:pPr>
            <a:r>
              <a:rPr lang="en-US" b="true" sz="2666">
                <a:solidFill>
                  <a:srgbClr val="363E52"/>
                </a:solidFill>
                <a:latin typeface="Open Sauce Semi-Bold"/>
                <a:ea typeface="Open Sauce Semi-Bold"/>
                <a:cs typeface="Open Sauce Semi-Bold"/>
                <a:sym typeface="Open Sauce Semi-Bold"/>
              </a:rPr>
              <a:t>Use RNA-Seq gene expression data for classification.</a:t>
            </a:r>
          </a:p>
          <a:p>
            <a:pPr algn="l">
              <a:lnSpc>
                <a:spcPts val="3146"/>
              </a:lnSpc>
              <a:spcBef>
                <a:spcPct val="0"/>
              </a:spcBef>
            </a:pPr>
            <a:r>
              <a:rPr lang="en-US" b="true" sz="2666">
                <a:solidFill>
                  <a:srgbClr val="363E52"/>
                </a:solidFill>
                <a:latin typeface="Open Sauce Semi-Bold"/>
                <a:ea typeface="Open Sauce Semi-Bold"/>
                <a:cs typeface="Open Sauce Semi-Bold"/>
                <a:sym typeface="Open Sauce Semi-Bold"/>
              </a:rPr>
              <a:t>Apply a complete machine learning workflow including:</a:t>
            </a:r>
          </a:p>
          <a:p>
            <a:pPr algn="l" marL="575706" indent="-287853" lvl="1">
              <a:lnSpc>
                <a:spcPts val="3146"/>
              </a:lnSpc>
              <a:buFont typeface="Arial"/>
              <a:buChar char="•"/>
            </a:pPr>
          </a:p>
          <a:p>
            <a:pPr algn="l" marL="575706" indent="-287853" lvl="1">
              <a:lnSpc>
                <a:spcPts val="3146"/>
              </a:lnSpc>
              <a:buFont typeface="Arial"/>
              <a:buChar char="•"/>
            </a:pPr>
            <a:r>
              <a:rPr lang="en-US" sz="2666">
                <a:solidFill>
                  <a:srgbClr val="363E52"/>
                </a:solidFill>
                <a:latin typeface="Open Sauce"/>
                <a:ea typeface="Open Sauce"/>
                <a:cs typeface="Open Sauce"/>
                <a:sym typeface="Open Sauce"/>
              </a:rPr>
              <a:t>Data preprocessing</a:t>
            </a:r>
          </a:p>
          <a:p>
            <a:pPr algn="l" marL="575706" indent="-287853" lvl="1">
              <a:lnSpc>
                <a:spcPts val="3146"/>
              </a:lnSpc>
              <a:buFont typeface="Arial"/>
              <a:buChar char="•"/>
            </a:pPr>
            <a:r>
              <a:rPr lang="en-US" sz="2666">
                <a:solidFill>
                  <a:srgbClr val="363E52"/>
                </a:solidFill>
                <a:latin typeface="Open Sauce"/>
                <a:ea typeface="Open Sauce"/>
                <a:cs typeface="Open Sauce"/>
                <a:sym typeface="Open Sauce"/>
              </a:rPr>
              <a:t>Exploratory data analysis</a:t>
            </a:r>
          </a:p>
          <a:p>
            <a:pPr algn="l" marL="575706" indent="-287853" lvl="1">
              <a:lnSpc>
                <a:spcPts val="3146"/>
              </a:lnSpc>
              <a:buFont typeface="Arial"/>
              <a:buChar char="•"/>
            </a:pPr>
            <a:r>
              <a:rPr lang="en-US" sz="2666">
                <a:solidFill>
                  <a:srgbClr val="363E52"/>
                </a:solidFill>
                <a:latin typeface="Open Sauce"/>
                <a:ea typeface="Open Sauce"/>
                <a:cs typeface="Open Sauce"/>
                <a:sym typeface="Open Sauce"/>
              </a:rPr>
              <a:t>Feature engineering</a:t>
            </a:r>
          </a:p>
          <a:p>
            <a:pPr algn="l" marL="575706" indent="-287853" lvl="1">
              <a:lnSpc>
                <a:spcPts val="3146"/>
              </a:lnSpc>
              <a:buFont typeface="Arial"/>
              <a:buChar char="•"/>
            </a:pPr>
            <a:r>
              <a:rPr lang="en-US" sz="2666">
                <a:solidFill>
                  <a:srgbClr val="363E52"/>
                </a:solidFill>
                <a:latin typeface="Open Sauce"/>
                <a:ea typeface="Open Sauce"/>
                <a:cs typeface="Open Sauce"/>
                <a:sym typeface="Open Sauce"/>
              </a:rPr>
              <a:t>Feature selection</a:t>
            </a:r>
          </a:p>
          <a:p>
            <a:pPr algn="l" marL="575706" indent="-287853" lvl="1">
              <a:lnSpc>
                <a:spcPts val="3146"/>
              </a:lnSpc>
              <a:buFont typeface="Arial"/>
              <a:buChar char="•"/>
            </a:pPr>
            <a:r>
              <a:rPr lang="en-US" sz="2666">
                <a:solidFill>
                  <a:srgbClr val="363E52"/>
                </a:solidFill>
                <a:latin typeface="Open Sauce"/>
                <a:ea typeface="Open Sauce"/>
                <a:cs typeface="Open Sauce"/>
                <a:sym typeface="Open Sauce"/>
              </a:rPr>
              <a:t>Model training</a:t>
            </a:r>
          </a:p>
          <a:p>
            <a:pPr algn="l" marL="575706" indent="-287853" lvl="1">
              <a:lnSpc>
                <a:spcPts val="3146"/>
              </a:lnSpc>
              <a:buFont typeface="Arial"/>
              <a:buChar char="•"/>
            </a:pPr>
            <a:r>
              <a:rPr lang="en-US" sz="2666">
                <a:solidFill>
                  <a:srgbClr val="363E52"/>
                </a:solidFill>
                <a:latin typeface="Open Sauce"/>
                <a:ea typeface="Open Sauce"/>
                <a:cs typeface="Open Sauce"/>
                <a:sym typeface="Open Sauce"/>
              </a:rPr>
              <a:t>Hyperparameter tuning</a:t>
            </a:r>
          </a:p>
          <a:p>
            <a:pPr algn="l" marL="575706" indent="-287853" lvl="1">
              <a:lnSpc>
                <a:spcPts val="3146"/>
              </a:lnSpc>
              <a:buFont typeface="Arial"/>
              <a:buChar char="•"/>
            </a:pPr>
            <a:r>
              <a:rPr lang="en-US" sz="2666">
                <a:solidFill>
                  <a:srgbClr val="363E52"/>
                </a:solidFill>
                <a:latin typeface="Open Sauce"/>
                <a:ea typeface="Open Sauce"/>
                <a:cs typeface="Open Sauce"/>
                <a:sym typeface="Open Sauce"/>
              </a:rPr>
              <a:t>Model evaluation</a:t>
            </a:r>
          </a:p>
          <a:p>
            <a:pPr algn="l" marL="575706" indent="-287853" lvl="1">
              <a:lnSpc>
                <a:spcPts val="3146"/>
              </a:lnSpc>
              <a:buFont typeface="Arial"/>
              <a:buChar char="•"/>
            </a:pPr>
            <a:r>
              <a:rPr lang="en-US" sz="2666">
                <a:solidFill>
                  <a:srgbClr val="363E52"/>
                </a:solidFill>
                <a:latin typeface="Open Sauce"/>
                <a:ea typeface="Open Sauce"/>
                <a:cs typeface="Open Sauce"/>
                <a:sym typeface="Open Sauce"/>
              </a:rPr>
              <a:t>Web deployment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75507" y="0"/>
            <a:ext cx="8512493" cy="10287000"/>
          </a:xfrm>
          <a:custGeom>
            <a:avLst/>
            <a:gdLst/>
            <a:ahLst/>
            <a:cxnLst/>
            <a:rect r="r" b="b" t="t" l="l"/>
            <a:pathLst>
              <a:path h="10287000" w="8512493">
                <a:moveTo>
                  <a:pt x="0" y="0"/>
                </a:moveTo>
                <a:lnTo>
                  <a:pt x="8512493" y="0"/>
                </a:lnTo>
                <a:lnTo>
                  <a:pt x="8512493" y="10287000"/>
                </a:lnTo>
                <a:lnTo>
                  <a:pt x="0" y="10287000"/>
                </a:lnTo>
                <a:lnTo>
                  <a:pt x="0" y="0"/>
                </a:lnTo>
                <a:close/>
              </a:path>
            </a:pathLst>
          </a:custGeom>
          <a:blipFill>
            <a:blip r:embed="rId2"/>
            <a:stretch>
              <a:fillRect l="0" t="-1159" r="0" b="-1159"/>
            </a:stretch>
          </a:blipFill>
        </p:spPr>
      </p:sp>
      <p:sp>
        <p:nvSpPr>
          <p:cNvPr name="TextBox 3" id="3"/>
          <p:cNvSpPr txBox="true"/>
          <p:nvPr/>
        </p:nvSpPr>
        <p:spPr>
          <a:xfrm rot="0">
            <a:off x="3153394" y="943244"/>
            <a:ext cx="8853296" cy="1025165"/>
          </a:xfrm>
          <a:prstGeom prst="rect">
            <a:avLst/>
          </a:prstGeom>
        </p:spPr>
        <p:txBody>
          <a:bodyPr anchor="t" rtlCol="false" tIns="0" lIns="0" bIns="0" rIns="0">
            <a:spAutoFit/>
          </a:bodyPr>
          <a:lstStyle/>
          <a:p>
            <a:pPr algn="l" marL="0" indent="0" lvl="0">
              <a:lnSpc>
                <a:spcPts val="7999"/>
              </a:lnSpc>
            </a:pPr>
            <a:r>
              <a:rPr lang="en-US" b="true" sz="6779">
                <a:solidFill>
                  <a:srgbClr val="363E52"/>
                </a:solidFill>
                <a:latin typeface="Baron Bold"/>
                <a:ea typeface="Baron Bold"/>
                <a:cs typeface="Baron Bold"/>
                <a:sym typeface="Baron Bold"/>
              </a:rPr>
              <a:t>Problem Statement</a:t>
            </a:r>
          </a:p>
        </p:txBody>
      </p:sp>
      <p:sp>
        <p:nvSpPr>
          <p:cNvPr name="Freeform 4" id="4"/>
          <p:cNvSpPr/>
          <p:nvPr/>
        </p:nvSpPr>
        <p:spPr>
          <a:xfrm flipH="false" flipV="false" rot="0">
            <a:off x="-1095994" y="-2552185"/>
            <a:ext cx="4249388" cy="5789594"/>
          </a:xfrm>
          <a:custGeom>
            <a:avLst/>
            <a:gdLst/>
            <a:ahLst/>
            <a:cxnLst/>
            <a:rect r="r" b="b" t="t" l="l"/>
            <a:pathLst>
              <a:path h="5789594" w="4249388">
                <a:moveTo>
                  <a:pt x="0" y="0"/>
                </a:moveTo>
                <a:lnTo>
                  <a:pt x="4249388" y="0"/>
                </a:lnTo>
                <a:lnTo>
                  <a:pt x="4249388" y="5789593"/>
                </a:lnTo>
                <a:lnTo>
                  <a:pt x="0" y="5789593"/>
                </a:lnTo>
                <a:lnTo>
                  <a:pt x="0" y="0"/>
                </a:lnTo>
                <a:close/>
              </a:path>
            </a:pathLst>
          </a:custGeom>
          <a:blipFill>
            <a:blip r:embed="rId3"/>
            <a:stretch>
              <a:fillRect l="0" t="0" r="0" b="0"/>
            </a:stretch>
          </a:blipFill>
        </p:spPr>
      </p:sp>
      <p:sp>
        <p:nvSpPr>
          <p:cNvPr name="TextBox 5" id="5"/>
          <p:cNvSpPr txBox="true"/>
          <p:nvPr/>
        </p:nvSpPr>
        <p:spPr>
          <a:xfrm rot="0">
            <a:off x="817586" y="2651303"/>
            <a:ext cx="10446753" cy="6182488"/>
          </a:xfrm>
          <a:prstGeom prst="rect">
            <a:avLst/>
          </a:prstGeom>
        </p:spPr>
        <p:txBody>
          <a:bodyPr anchor="t" rtlCol="false" tIns="0" lIns="0" bIns="0" rIns="0">
            <a:spAutoFit/>
          </a:bodyPr>
          <a:lstStyle/>
          <a:p>
            <a:pPr algn="l">
              <a:lnSpc>
                <a:spcPts val="3831"/>
              </a:lnSpc>
            </a:pPr>
            <a:r>
              <a:rPr lang="en-US" sz="2736" b="true">
                <a:solidFill>
                  <a:srgbClr val="363E52"/>
                </a:solidFill>
                <a:latin typeface="Open Sauce Bold"/>
                <a:ea typeface="Open Sauce Bold"/>
                <a:cs typeface="Open Sauce Bold"/>
                <a:sym typeface="Open Sauce Bold"/>
              </a:rPr>
              <a:t>Problem Statement</a:t>
            </a:r>
          </a:p>
          <a:p>
            <a:pPr algn="l" marL="590896" indent="-295448" lvl="1">
              <a:lnSpc>
                <a:spcPts val="3831"/>
              </a:lnSpc>
              <a:buFont typeface="Arial"/>
              <a:buChar char="•"/>
            </a:pPr>
            <a:r>
              <a:rPr lang="en-US" sz="2736">
                <a:solidFill>
                  <a:srgbClr val="363E52"/>
                </a:solidFill>
                <a:latin typeface="Open Sauce"/>
                <a:ea typeface="Open Sauce"/>
                <a:cs typeface="Open Sauce"/>
                <a:sym typeface="Open Sauce"/>
              </a:rPr>
              <a:t>Alzheimer’s disease diagnosis remains challenging.</a:t>
            </a:r>
          </a:p>
          <a:p>
            <a:pPr algn="l" marL="590896" indent="-295448" lvl="1">
              <a:lnSpc>
                <a:spcPts val="3831"/>
              </a:lnSpc>
              <a:buFont typeface="Arial"/>
              <a:buChar char="•"/>
            </a:pPr>
            <a:r>
              <a:rPr lang="en-US" sz="2736">
                <a:solidFill>
                  <a:srgbClr val="363E52"/>
                </a:solidFill>
                <a:latin typeface="Open Sauce"/>
                <a:ea typeface="Open Sauce"/>
                <a:cs typeface="Open Sauce"/>
                <a:sym typeface="Open Sauce"/>
              </a:rPr>
              <a:t>Biological datasets contain complex and high-dimensional information.</a:t>
            </a:r>
          </a:p>
          <a:p>
            <a:pPr algn="l" marL="590896" indent="-295448" lvl="1">
              <a:lnSpc>
                <a:spcPts val="3831"/>
              </a:lnSpc>
              <a:buFont typeface="Arial"/>
              <a:buChar char="•"/>
            </a:pPr>
            <a:r>
              <a:rPr lang="en-US" sz="2736">
                <a:solidFill>
                  <a:srgbClr val="363E52"/>
                </a:solidFill>
                <a:latin typeface="Open Sauce"/>
                <a:ea typeface="Open Sauce"/>
                <a:cs typeface="Open Sauce"/>
                <a:sym typeface="Open Sauce"/>
              </a:rPr>
              <a:t>Traditional analysis methods may fail to detect subtle gene expression patterns.</a:t>
            </a:r>
          </a:p>
          <a:p>
            <a:pPr algn="l" marL="590896" indent="-295448" lvl="1">
              <a:lnSpc>
                <a:spcPts val="3831"/>
              </a:lnSpc>
              <a:buFont typeface="Arial"/>
              <a:buChar char="•"/>
            </a:pPr>
          </a:p>
          <a:p>
            <a:pPr algn="l" marL="0" indent="0" lvl="0">
              <a:lnSpc>
                <a:spcPts val="3831"/>
              </a:lnSpc>
            </a:pPr>
            <a:r>
              <a:rPr lang="en-US" b="true" sz="2736">
                <a:solidFill>
                  <a:srgbClr val="363E52"/>
                </a:solidFill>
                <a:latin typeface="Open Sauce Bold"/>
                <a:ea typeface="Open Sauce Bold"/>
                <a:cs typeface="Open Sauce Bold"/>
                <a:sym typeface="Open Sauce Bold"/>
              </a:rPr>
              <a:t>Goal:</a:t>
            </a:r>
          </a:p>
          <a:p>
            <a:pPr algn="l" marL="0" indent="0" lvl="0">
              <a:lnSpc>
                <a:spcPts val="3831"/>
              </a:lnSpc>
            </a:pPr>
            <a:r>
              <a:rPr lang="en-US" sz="2736">
                <a:solidFill>
                  <a:srgbClr val="363E52"/>
                </a:solidFill>
                <a:latin typeface="Open Sauce"/>
                <a:ea typeface="Open Sauce"/>
                <a:cs typeface="Open Sauce"/>
                <a:sym typeface="Open Sauce"/>
              </a:rPr>
              <a:t>Build a predictive machine learning model using RNA-Seq gene expression data to classify:</a:t>
            </a:r>
          </a:p>
          <a:p>
            <a:pPr algn="l" marL="590896" indent="-295448" lvl="1">
              <a:lnSpc>
                <a:spcPts val="3831"/>
              </a:lnSpc>
              <a:buFont typeface="Arial"/>
              <a:buChar char="•"/>
            </a:pPr>
            <a:r>
              <a:rPr lang="en-US" sz="2736">
                <a:solidFill>
                  <a:srgbClr val="363E52"/>
                </a:solidFill>
                <a:latin typeface="Open Sauce"/>
                <a:ea typeface="Open Sauce"/>
                <a:cs typeface="Open Sauce"/>
                <a:sym typeface="Open Sauce"/>
              </a:rPr>
              <a:t>AD samples → Class 1</a:t>
            </a:r>
          </a:p>
          <a:p>
            <a:pPr algn="l" marL="590896" indent="-295448" lvl="1">
              <a:lnSpc>
                <a:spcPts val="3831"/>
              </a:lnSpc>
              <a:buFont typeface="Arial"/>
              <a:buChar char="•"/>
            </a:pPr>
            <a:r>
              <a:rPr lang="en-US" sz="2736">
                <a:solidFill>
                  <a:srgbClr val="363E52"/>
                </a:solidFill>
                <a:latin typeface="Open Sauce"/>
                <a:ea typeface="Open Sauce"/>
                <a:cs typeface="Open Sauce"/>
                <a:sym typeface="Open Sauce"/>
              </a:rPr>
              <a:t>Control samples → Class 0</a:t>
            </a:r>
          </a:p>
          <a:p>
            <a:pPr algn="l" marL="0" indent="0" lvl="0">
              <a:lnSpc>
                <a:spcPts val="383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373097" y="-8130002"/>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9275291">
            <a:off x="14294035" y="750072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2"/>
            <a:stretch>
              <a:fillRect l="0" t="0" r="0" b="0"/>
            </a:stretch>
          </a:blipFill>
        </p:spPr>
      </p:sp>
      <p:sp>
        <p:nvSpPr>
          <p:cNvPr name="Freeform 6" id="6"/>
          <p:cNvSpPr/>
          <p:nvPr/>
        </p:nvSpPr>
        <p:spPr>
          <a:xfrm flipH="true" flipV="false" rot="-9144663">
            <a:off x="-1936565" y="7454662"/>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2"/>
            <a:stretch>
              <a:fillRect l="0" t="0" r="0" b="0"/>
            </a:stretch>
          </a:blipFill>
        </p:spPr>
      </p:sp>
      <p:sp>
        <p:nvSpPr>
          <p:cNvPr name="TextBox 7" id="7"/>
          <p:cNvSpPr txBox="true"/>
          <p:nvPr/>
        </p:nvSpPr>
        <p:spPr>
          <a:xfrm rot="0">
            <a:off x="3435886" y="599014"/>
            <a:ext cx="10687465" cy="1130445"/>
          </a:xfrm>
          <a:prstGeom prst="rect">
            <a:avLst/>
          </a:prstGeom>
        </p:spPr>
        <p:txBody>
          <a:bodyPr anchor="t" rtlCol="false" tIns="0" lIns="0" bIns="0" rIns="0">
            <a:spAutoFit/>
          </a:bodyPr>
          <a:lstStyle/>
          <a:p>
            <a:pPr algn="ctr" marL="0" indent="0" lvl="0">
              <a:lnSpc>
                <a:spcPts val="8783"/>
              </a:lnSpc>
            </a:pPr>
            <a:r>
              <a:rPr lang="en-US" b="true" sz="7443">
                <a:solidFill>
                  <a:srgbClr val="363E52"/>
                </a:solidFill>
                <a:latin typeface="Baron Bold"/>
                <a:ea typeface="Baron Bold"/>
                <a:cs typeface="Baron Bold"/>
                <a:sym typeface="Baron Bold"/>
              </a:rPr>
              <a:t>Dataset Description</a:t>
            </a:r>
          </a:p>
        </p:txBody>
      </p:sp>
      <p:sp>
        <p:nvSpPr>
          <p:cNvPr name="TextBox 8" id="8"/>
          <p:cNvSpPr txBox="true"/>
          <p:nvPr/>
        </p:nvSpPr>
        <p:spPr>
          <a:xfrm rot="0">
            <a:off x="3112814" y="1681834"/>
            <a:ext cx="11802218" cy="8308954"/>
          </a:xfrm>
          <a:prstGeom prst="rect">
            <a:avLst/>
          </a:prstGeom>
        </p:spPr>
        <p:txBody>
          <a:bodyPr anchor="t" rtlCol="false" tIns="0" lIns="0" bIns="0" rIns="0">
            <a:spAutoFit/>
          </a:bodyPr>
          <a:lstStyle/>
          <a:p>
            <a:pPr algn="just" marL="0" indent="0" lvl="0">
              <a:lnSpc>
                <a:spcPts val="3501"/>
              </a:lnSpc>
            </a:pPr>
            <a:r>
              <a:rPr lang="en-US" b="true" sz="2500">
                <a:solidFill>
                  <a:srgbClr val="363E52"/>
                </a:solidFill>
                <a:latin typeface="Open Sauce Bold"/>
                <a:ea typeface="Open Sauce Bold"/>
                <a:cs typeface="Open Sauce Bold"/>
                <a:sym typeface="Open Sauce Bold"/>
              </a:rPr>
              <a:t>Dat</a:t>
            </a:r>
            <a:r>
              <a:rPr lang="en-US" b="true" sz="2500">
                <a:solidFill>
                  <a:srgbClr val="363E52"/>
                </a:solidFill>
                <a:latin typeface="Open Sauce Bold"/>
                <a:ea typeface="Open Sauce Bold"/>
                <a:cs typeface="Open Sauce Bold"/>
                <a:sym typeface="Open Sauce Bold"/>
              </a:rPr>
              <a:t>aset Characteristics</a:t>
            </a:r>
          </a:p>
          <a:p>
            <a:pPr algn="just" marL="539929" indent="-269965" lvl="1">
              <a:lnSpc>
                <a:spcPts val="3501"/>
              </a:lnSpc>
              <a:buFont typeface="Arial"/>
              <a:buChar char="•"/>
            </a:pPr>
            <a:r>
              <a:rPr lang="en-US" sz="2500">
                <a:solidFill>
                  <a:srgbClr val="363E52"/>
                </a:solidFill>
                <a:latin typeface="Open Sauce"/>
                <a:ea typeface="Open Sauce"/>
                <a:cs typeface="Open Sauce"/>
                <a:sym typeface="Open Sauce"/>
              </a:rPr>
              <a:t>RNA-Seq gene expression dataset</a:t>
            </a:r>
          </a:p>
          <a:p>
            <a:pPr algn="just" marL="539929" indent="-269965" lvl="1">
              <a:lnSpc>
                <a:spcPts val="3501"/>
              </a:lnSpc>
              <a:buFont typeface="Arial"/>
              <a:buChar char="•"/>
            </a:pPr>
            <a:r>
              <a:rPr lang="en-US" sz="2500">
                <a:solidFill>
                  <a:srgbClr val="363E52"/>
                </a:solidFill>
                <a:latin typeface="Open Sauce"/>
                <a:ea typeface="Open Sauce"/>
                <a:cs typeface="Open Sauce"/>
                <a:sym typeface="Open Sauce"/>
              </a:rPr>
              <a:t>Genes originally represented as rows</a:t>
            </a:r>
          </a:p>
          <a:p>
            <a:pPr algn="just" marL="539929" indent="-269965" lvl="1">
              <a:lnSpc>
                <a:spcPts val="3501"/>
              </a:lnSpc>
              <a:buFont typeface="Arial"/>
              <a:buChar char="•"/>
            </a:pPr>
            <a:r>
              <a:rPr lang="en-US" sz="2500">
                <a:solidFill>
                  <a:srgbClr val="363E52"/>
                </a:solidFill>
                <a:latin typeface="Open Sauce"/>
                <a:ea typeface="Open Sauce"/>
                <a:cs typeface="Open Sauce"/>
                <a:sym typeface="Open Sauce"/>
              </a:rPr>
              <a:t>Samples represented as columns</a:t>
            </a:r>
          </a:p>
          <a:p>
            <a:pPr algn="just" marL="539929" indent="-269965" lvl="1">
              <a:lnSpc>
                <a:spcPts val="3501"/>
              </a:lnSpc>
              <a:buFont typeface="Arial"/>
              <a:buChar char="•"/>
            </a:pPr>
          </a:p>
          <a:p>
            <a:pPr algn="just" marL="0" indent="0" lvl="0">
              <a:lnSpc>
                <a:spcPts val="3501"/>
              </a:lnSpc>
            </a:pPr>
            <a:r>
              <a:rPr lang="en-US" b="true" sz="2500">
                <a:solidFill>
                  <a:srgbClr val="363E52"/>
                </a:solidFill>
                <a:latin typeface="Open Sauce Bold"/>
                <a:ea typeface="Open Sauce Bold"/>
                <a:cs typeface="Open Sauce Bold"/>
                <a:sym typeface="Open Sauce Bold"/>
              </a:rPr>
              <a:t>Sample Groups</a:t>
            </a:r>
          </a:p>
          <a:p>
            <a:pPr algn="just" marL="539929" indent="-269965" lvl="1">
              <a:lnSpc>
                <a:spcPts val="3501"/>
              </a:lnSpc>
              <a:buFont typeface="Arial"/>
              <a:buChar char="•"/>
            </a:pPr>
            <a:r>
              <a:rPr lang="en-US" sz="2500">
                <a:solidFill>
                  <a:srgbClr val="363E52"/>
                </a:solidFill>
                <a:latin typeface="Open Sauce"/>
                <a:ea typeface="Open Sauce"/>
                <a:cs typeface="Open Sauce"/>
                <a:sym typeface="Open Sauce"/>
              </a:rPr>
              <a:t>Alzheimer’s Disease (AD)</a:t>
            </a:r>
          </a:p>
          <a:p>
            <a:pPr algn="just" marL="539929" indent="-269965" lvl="1">
              <a:lnSpc>
                <a:spcPts val="3501"/>
              </a:lnSpc>
              <a:buFont typeface="Arial"/>
              <a:buChar char="•"/>
            </a:pPr>
            <a:r>
              <a:rPr lang="en-US" sz="2500">
                <a:solidFill>
                  <a:srgbClr val="363E52"/>
                </a:solidFill>
                <a:latin typeface="Open Sauce"/>
                <a:ea typeface="Open Sauce"/>
                <a:cs typeface="Open Sauce"/>
                <a:sym typeface="Open Sauce"/>
              </a:rPr>
              <a:t>Old Controls</a:t>
            </a:r>
          </a:p>
          <a:p>
            <a:pPr algn="just" marL="539929" indent="-269965" lvl="1">
              <a:lnSpc>
                <a:spcPts val="3501"/>
              </a:lnSpc>
              <a:buFont typeface="Arial"/>
              <a:buChar char="•"/>
            </a:pPr>
            <a:r>
              <a:rPr lang="en-US" sz="2500">
                <a:solidFill>
                  <a:srgbClr val="363E52"/>
                </a:solidFill>
                <a:latin typeface="Open Sauce"/>
                <a:ea typeface="Open Sauce"/>
                <a:cs typeface="Open Sauce"/>
                <a:sym typeface="Open Sauce"/>
              </a:rPr>
              <a:t>Young Controls</a:t>
            </a:r>
          </a:p>
          <a:p>
            <a:pPr algn="just" marL="539929" indent="-269965" lvl="1">
              <a:lnSpc>
                <a:spcPts val="3501"/>
              </a:lnSpc>
              <a:buFont typeface="Arial"/>
              <a:buChar char="•"/>
            </a:pPr>
          </a:p>
          <a:p>
            <a:pPr algn="just" marL="0" indent="0" lvl="0">
              <a:lnSpc>
                <a:spcPts val="3501"/>
              </a:lnSpc>
            </a:pPr>
            <a:r>
              <a:rPr lang="en-US" b="true" sz="2500">
                <a:solidFill>
                  <a:srgbClr val="363E52"/>
                </a:solidFill>
                <a:latin typeface="Open Sauce Bold"/>
                <a:ea typeface="Open Sauce Bold"/>
                <a:cs typeface="Open Sauce Bold"/>
                <a:sym typeface="Open Sauce Bold"/>
              </a:rPr>
              <a:t>Dataset Transformation</a:t>
            </a:r>
          </a:p>
          <a:p>
            <a:pPr algn="just" marL="539929" indent="-269965" lvl="1">
              <a:lnSpc>
                <a:spcPts val="3501"/>
              </a:lnSpc>
              <a:buFont typeface="Arial"/>
              <a:buChar char="•"/>
            </a:pPr>
            <a:r>
              <a:rPr lang="en-US" sz="2500">
                <a:solidFill>
                  <a:srgbClr val="363E52"/>
                </a:solidFill>
                <a:latin typeface="Open Sauce"/>
                <a:ea typeface="Open Sauce"/>
                <a:cs typeface="Open Sauce"/>
                <a:sym typeface="Open Sauce"/>
              </a:rPr>
              <a:t>Dataset transposed for machine learning compatibility</a:t>
            </a:r>
          </a:p>
          <a:p>
            <a:pPr algn="just" marL="539929" indent="-269965" lvl="1">
              <a:lnSpc>
                <a:spcPts val="3501"/>
              </a:lnSpc>
              <a:buFont typeface="Arial"/>
              <a:buChar char="•"/>
            </a:pPr>
            <a:r>
              <a:rPr lang="en-US" sz="2500">
                <a:solidFill>
                  <a:srgbClr val="363E52"/>
                </a:solidFill>
                <a:latin typeface="Open Sauce"/>
                <a:ea typeface="Open Sauce"/>
                <a:cs typeface="Open Sauce"/>
                <a:sym typeface="Open Sauce"/>
              </a:rPr>
              <a:t>Samples became rows</a:t>
            </a:r>
          </a:p>
          <a:p>
            <a:pPr algn="just" marL="539929" indent="-269965" lvl="1">
              <a:lnSpc>
                <a:spcPts val="3501"/>
              </a:lnSpc>
              <a:buFont typeface="Arial"/>
              <a:buChar char="•"/>
            </a:pPr>
            <a:r>
              <a:rPr lang="en-US" sz="2500">
                <a:solidFill>
                  <a:srgbClr val="363E52"/>
                </a:solidFill>
                <a:latin typeface="Open Sauce"/>
                <a:ea typeface="Open Sauce"/>
                <a:cs typeface="Open Sauce"/>
                <a:sym typeface="Open Sauce"/>
              </a:rPr>
              <a:t>Genes became columns</a:t>
            </a:r>
          </a:p>
          <a:p>
            <a:pPr algn="just" marL="539929" indent="-269965" lvl="1">
              <a:lnSpc>
                <a:spcPts val="3501"/>
              </a:lnSpc>
              <a:buFont typeface="Arial"/>
              <a:buChar char="•"/>
            </a:pPr>
          </a:p>
          <a:p>
            <a:pPr algn="just" marL="0" indent="0" lvl="0">
              <a:lnSpc>
                <a:spcPts val="3501"/>
              </a:lnSpc>
            </a:pPr>
            <a:r>
              <a:rPr lang="en-US" b="true" sz="2500">
                <a:solidFill>
                  <a:srgbClr val="363E52"/>
                </a:solidFill>
                <a:latin typeface="Open Sauce Bold"/>
                <a:ea typeface="Open Sauce Bold"/>
                <a:cs typeface="Open Sauce Bold"/>
                <a:sym typeface="Open Sauce Bold"/>
              </a:rPr>
              <a:t>Binary Classification</a:t>
            </a:r>
          </a:p>
          <a:p>
            <a:pPr algn="just" marL="539929" indent="-269965" lvl="1">
              <a:lnSpc>
                <a:spcPts val="3501"/>
              </a:lnSpc>
              <a:buFont typeface="Arial"/>
              <a:buChar char="•"/>
            </a:pPr>
            <a:r>
              <a:rPr lang="en-US" sz="2500">
                <a:solidFill>
                  <a:srgbClr val="363E52"/>
                </a:solidFill>
                <a:latin typeface="Open Sauce"/>
                <a:ea typeface="Open Sauce"/>
                <a:cs typeface="Open Sauce"/>
                <a:sym typeface="Open Sauce"/>
              </a:rPr>
              <a:t>AD samples labeled as 1</a:t>
            </a:r>
          </a:p>
          <a:p>
            <a:pPr algn="just" marL="539929" indent="-269965" lvl="1">
              <a:lnSpc>
                <a:spcPts val="3501"/>
              </a:lnSpc>
              <a:buFont typeface="Arial"/>
              <a:buChar char="•"/>
            </a:pPr>
            <a:r>
              <a:rPr lang="en-US" sz="2500">
                <a:solidFill>
                  <a:srgbClr val="363E52"/>
                </a:solidFill>
                <a:latin typeface="Open Sauce"/>
                <a:ea typeface="Open Sauce"/>
                <a:cs typeface="Open Sauce"/>
                <a:sym typeface="Open Sauce"/>
              </a:rPr>
              <a:t>Control samples labeled as 0</a:t>
            </a:r>
          </a:p>
          <a:p>
            <a:pPr algn="just" marL="0" indent="0" lvl="0">
              <a:lnSpc>
                <a:spcPts val="3501"/>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4294051" y="-2327245"/>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0">
            <a:off x="7838509" y="2313644"/>
            <a:ext cx="1256591" cy="1256591"/>
          </a:xfrm>
          <a:custGeom>
            <a:avLst/>
            <a:gdLst/>
            <a:ahLst/>
            <a:cxnLst/>
            <a:rect r="r" b="b" t="t" l="l"/>
            <a:pathLst>
              <a:path h="1256591" w="1256591">
                <a:moveTo>
                  <a:pt x="0" y="0"/>
                </a:moveTo>
                <a:lnTo>
                  <a:pt x="1256591" y="0"/>
                </a:lnTo>
                <a:lnTo>
                  <a:pt x="1256591" y="1256590"/>
                </a:lnTo>
                <a:lnTo>
                  <a:pt x="0" y="1256590"/>
                </a:lnTo>
                <a:lnTo>
                  <a:pt x="0" y="0"/>
                </a:lnTo>
                <a:close/>
              </a:path>
            </a:pathLst>
          </a:custGeom>
          <a:blipFill>
            <a:blip r:embed="rId2"/>
            <a:stretch>
              <a:fillRect l="0" t="0" r="0" b="0"/>
            </a:stretch>
          </a:blipFill>
        </p:spPr>
      </p:sp>
      <p:sp>
        <p:nvSpPr>
          <p:cNvPr name="Freeform 6" id="6"/>
          <p:cNvSpPr/>
          <p:nvPr/>
        </p:nvSpPr>
        <p:spPr>
          <a:xfrm flipH="false" flipV="false" rot="0">
            <a:off x="13788105" y="2275559"/>
            <a:ext cx="1255308" cy="1262492"/>
          </a:xfrm>
          <a:custGeom>
            <a:avLst/>
            <a:gdLst/>
            <a:ahLst/>
            <a:cxnLst/>
            <a:rect r="r" b="b" t="t" l="l"/>
            <a:pathLst>
              <a:path h="1262492" w="1255308">
                <a:moveTo>
                  <a:pt x="0" y="0"/>
                </a:moveTo>
                <a:lnTo>
                  <a:pt x="1255308" y="0"/>
                </a:lnTo>
                <a:lnTo>
                  <a:pt x="1255308" y="1262491"/>
                </a:lnTo>
                <a:lnTo>
                  <a:pt x="0" y="1262491"/>
                </a:lnTo>
                <a:lnTo>
                  <a:pt x="0" y="0"/>
                </a:lnTo>
                <a:close/>
              </a:path>
            </a:pathLst>
          </a:custGeom>
          <a:blipFill>
            <a:blip r:embed="rId3"/>
            <a:stretch>
              <a:fillRect l="0" t="0" r="0" b="0"/>
            </a:stretch>
          </a:blipFill>
        </p:spPr>
      </p:sp>
      <p:sp>
        <p:nvSpPr>
          <p:cNvPr name="Freeform 7" id="7"/>
          <p:cNvSpPr/>
          <p:nvPr/>
        </p:nvSpPr>
        <p:spPr>
          <a:xfrm flipH="false" flipV="false" rot="0">
            <a:off x="2956808" y="2275559"/>
            <a:ext cx="1285086" cy="1294676"/>
          </a:xfrm>
          <a:custGeom>
            <a:avLst/>
            <a:gdLst/>
            <a:ahLst/>
            <a:cxnLst/>
            <a:rect r="r" b="b" t="t" l="l"/>
            <a:pathLst>
              <a:path h="1294676" w="1285086">
                <a:moveTo>
                  <a:pt x="0" y="0"/>
                </a:moveTo>
                <a:lnTo>
                  <a:pt x="1285086" y="0"/>
                </a:lnTo>
                <a:lnTo>
                  <a:pt x="1285086" y="1294675"/>
                </a:lnTo>
                <a:lnTo>
                  <a:pt x="0" y="1294675"/>
                </a:lnTo>
                <a:lnTo>
                  <a:pt x="0" y="0"/>
                </a:lnTo>
                <a:close/>
              </a:path>
            </a:pathLst>
          </a:custGeom>
          <a:blipFill>
            <a:blip r:embed="rId4"/>
            <a:stretch>
              <a:fillRect l="0" t="0" r="0" b="0"/>
            </a:stretch>
          </a:blipFill>
        </p:spPr>
      </p:sp>
      <p:sp>
        <p:nvSpPr>
          <p:cNvPr name="Freeform 8" id="8"/>
          <p:cNvSpPr/>
          <p:nvPr/>
        </p:nvSpPr>
        <p:spPr>
          <a:xfrm flipH="false" flipV="false" rot="0">
            <a:off x="2350391" y="6161672"/>
            <a:ext cx="12934683" cy="3266007"/>
          </a:xfrm>
          <a:custGeom>
            <a:avLst/>
            <a:gdLst/>
            <a:ahLst/>
            <a:cxnLst/>
            <a:rect r="r" b="b" t="t" l="l"/>
            <a:pathLst>
              <a:path h="3266007" w="12934683">
                <a:moveTo>
                  <a:pt x="0" y="0"/>
                </a:moveTo>
                <a:lnTo>
                  <a:pt x="12934683" y="0"/>
                </a:lnTo>
                <a:lnTo>
                  <a:pt x="12934683" y="3266007"/>
                </a:lnTo>
                <a:lnTo>
                  <a:pt x="0" y="3266007"/>
                </a:lnTo>
                <a:lnTo>
                  <a:pt x="0" y="0"/>
                </a:lnTo>
                <a:close/>
              </a:path>
            </a:pathLst>
          </a:custGeom>
          <a:blipFill>
            <a:blip r:embed="rId5"/>
            <a:stretch>
              <a:fillRect l="0" t="0" r="0" b="0"/>
            </a:stretch>
          </a:blipFill>
        </p:spPr>
      </p:sp>
      <p:sp>
        <p:nvSpPr>
          <p:cNvPr name="TextBox 9" id="9"/>
          <p:cNvSpPr txBox="true"/>
          <p:nvPr/>
        </p:nvSpPr>
        <p:spPr>
          <a:xfrm rot="0">
            <a:off x="4241894" y="202615"/>
            <a:ext cx="9151678" cy="1642645"/>
          </a:xfrm>
          <a:prstGeom prst="rect">
            <a:avLst/>
          </a:prstGeom>
        </p:spPr>
        <p:txBody>
          <a:bodyPr anchor="t" rtlCol="false" tIns="0" lIns="0" bIns="0" rIns="0">
            <a:spAutoFit/>
          </a:bodyPr>
          <a:lstStyle/>
          <a:p>
            <a:pPr algn="ctr" marL="0" indent="0" lvl="0">
              <a:lnSpc>
                <a:spcPts val="6443"/>
              </a:lnSpc>
            </a:pPr>
            <a:r>
              <a:rPr lang="en-US" b="true" sz="5460">
                <a:solidFill>
                  <a:srgbClr val="363E52"/>
                </a:solidFill>
                <a:latin typeface="Baron Bold"/>
                <a:ea typeface="Baron Bold"/>
                <a:cs typeface="Baron Bold"/>
                <a:sym typeface="Baron Bold"/>
              </a:rPr>
              <a:t>Dataset Size and Challenges</a:t>
            </a:r>
          </a:p>
        </p:txBody>
      </p:sp>
      <p:sp>
        <p:nvSpPr>
          <p:cNvPr name="TextBox 10" id="10"/>
          <p:cNvSpPr txBox="true"/>
          <p:nvPr/>
        </p:nvSpPr>
        <p:spPr>
          <a:xfrm rot="0">
            <a:off x="6212298" y="3948128"/>
            <a:ext cx="4509014" cy="2213544"/>
          </a:xfrm>
          <a:prstGeom prst="rect">
            <a:avLst/>
          </a:prstGeom>
        </p:spPr>
        <p:txBody>
          <a:bodyPr anchor="t" rtlCol="false" tIns="0" lIns="0" bIns="0" rIns="0">
            <a:spAutoFit/>
          </a:bodyPr>
          <a:lstStyle/>
          <a:p>
            <a:pPr algn="ctr" marL="0" indent="0" lvl="0">
              <a:lnSpc>
                <a:spcPts val="2943"/>
              </a:lnSpc>
            </a:pPr>
            <a:r>
              <a:rPr lang="en-US" sz="2102">
                <a:solidFill>
                  <a:srgbClr val="363E52"/>
                </a:solidFill>
                <a:latin typeface="Open Sauce"/>
                <a:ea typeface="Open Sauce"/>
                <a:cs typeface="Open Sauce"/>
                <a:sym typeface="Open Sauce"/>
              </a:rPr>
              <a:t>Challenges</a:t>
            </a:r>
          </a:p>
          <a:p>
            <a:pPr algn="ctr" marL="453952" indent="-226976" lvl="1">
              <a:lnSpc>
                <a:spcPts val="2943"/>
              </a:lnSpc>
              <a:buFont typeface="Arial"/>
              <a:buChar char="•"/>
            </a:pPr>
            <a:r>
              <a:rPr lang="en-US" sz="2102">
                <a:solidFill>
                  <a:srgbClr val="363E52"/>
                </a:solidFill>
                <a:latin typeface="Open Sauce"/>
                <a:ea typeface="Open Sauce"/>
                <a:cs typeface="Open Sauce"/>
                <a:sym typeface="Open Sauce"/>
              </a:rPr>
              <a:t>High dimensionality</a:t>
            </a:r>
          </a:p>
          <a:p>
            <a:pPr algn="ctr" marL="453952" indent="-226976" lvl="1">
              <a:lnSpc>
                <a:spcPts val="2943"/>
              </a:lnSpc>
              <a:buFont typeface="Arial"/>
              <a:buChar char="•"/>
            </a:pPr>
            <a:r>
              <a:rPr lang="en-US" sz="2102">
                <a:solidFill>
                  <a:srgbClr val="363E52"/>
                </a:solidFill>
                <a:latin typeface="Open Sauce"/>
                <a:ea typeface="Open Sauce"/>
                <a:cs typeface="Open Sauce"/>
                <a:sym typeface="Open Sauce"/>
              </a:rPr>
              <a:t>Small sample size</a:t>
            </a:r>
          </a:p>
          <a:p>
            <a:pPr algn="ctr" marL="453952" indent="-226976" lvl="1">
              <a:lnSpc>
                <a:spcPts val="2943"/>
              </a:lnSpc>
              <a:buFont typeface="Arial"/>
              <a:buChar char="•"/>
            </a:pPr>
            <a:r>
              <a:rPr lang="en-US" sz="2102">
                <a:solidFill>
                  <a:srgbClr val="363E52"/>
                </a:solidFill>
                <a:latin typeface="Open Sauce"/>
                <a:ea typeface="Open Sauce"/>
                <a:cs typeface="Open Sauce"/>
                <a:sym typeface="Open Sauce"/>
              </a:rPr>
              <a:t>Risk of overfitting</a:t>
            </a:r>
          </a:p>
          <a:p>
            <a:pPr algn="ctr" marL="453952" indent="-226976" lvl="1">
              <a:lnSpc>
                <a:spcPts val="2943"/>
              </a:lnSpc>
              <a:buFont typeface="Arial"/>
              <a:buChar char="•"/>
            </a:pPr>
            <a:r>
              <a:rPr lang="en-US" sz="2102">
                <a:solidFill>
                  <a:srgbClr val="363E52"/>
                </a:solidFill>
                <a:latin typeface="Open Sauce"/>
                <a:ea typeface="Open Sauce"/>
                <a:cs typeface="Open Sauce"/>
                <a:sym typeface="Open Sauce"/>
              </a:rPr>
              <a:t>Computational complexity</a:t>
            </a:r>
          </a:p>
          <a:p>
            <a:pPr algn="ctr" marL="0" indent="0" lvl="0">
              <a:lnSpc>
                <a:spcPts val="2943"/>
              </a:lnSpc>
            </a:pPr>
          </a:p>
        </p:txBody>
      </p:sp>
      <p:sp>
        <p:nvSpPr>
          <p:cNvPr name="TextBox 11" id="11"/>
          <p:cNvSpPr txBox="true"/>
          <p:nvPr/>
        </p:nvSpPr>
        <p:spPr>
          <a:xfrm rot="0">
            <a:off x="12314790" y="4133865"/>
            <a:ext cx="4509014" cy="1842069"/>
          </a:xfrm>
          <a:prstGeom prst="rect">
            <a:avLst/>
          </a:prstGeom>
        </p:spPr>
        <p:txBody>
          <a:bodyPr anchor="t" rtlCol="false" tIns="0" lIns="0" bIns="0" rIns="0">
            <a:spAutoFit/>
          </a:bodyPr>
          <a:lstStyle/>
          <a:p>
            <a:pPr algn="ctr" marL="0" indent="0" lvl="0">
              <a:lnSpc>
                <a:spcPts val="2943"/>
              </a:lnSpc>
            </a:pPr>
            <a:r>
              <a:rPr lang="en-US" sz="2102">
                <a:solidFill>
                  <a:srgbClr val="363E52"/>
                </a:solidFill>
                <a:latin typeface="Open Sauce"/>
                <a:ea typeface="Open Sauce"/>
                <a:cs typeface="Open Sauce"/>
                <a:sym typeface="Open Sauce"/>
              </a:rPr>
              <a:t>i</a:t>
            </a:r>
            <a:r>
              <a:rPr lang="en-US" sz="2102">
                <a:solidFill>
                  <a:srgbClr val="363E52"/>
                </a:solidFill>
                <a:latin typeface="Open Sauce"/>
                <a:ea typeface="Open Sauce"/>
                <a:cs typeface="Open Sauce"/>
                <a:sym typeface="Open Sauce"/>
              </a:rPr>
              <a:t>mportance of Preprocessing</a:t>
            </a:r>
          </a:p>
          <a:p>
            <a:pPr algn="ctr" marL="453952" indent="-226976" lvl="1">
              <a:lnSpc>
                <a:spcPts val="2943"/>
              </a:lnSpc>
              <a:buFont typeface="Arial"/>
              <a:buChar char="•"/>
            </a:pPr>
            <a:r>
              <a:rPr lang="en-US" sz="2102">
                <a:solidFill>
                  <a:srgbClr val="363E52"/>
                </a:solidFill>
                <a:latin typeface="Open Sauce"/>
                <a:ea typeface="Open Sauce"/>
                <a:cs typeface="Open Sauce"/>
                <a:sym typeface="Open Sauce"/>
              </a:rPr>
              <a:t>Remove noise</a:t>
            </a:r>
          </a:p>
          <a:p>
            <a:pPr algn="ctr" marL="453952" indent="-226976" lvl="1">
              <a:lnSpc>
                <a:spcPts val="2943"/>
              </a:lnSpc>
              <a:buFont typeface="Arial"/>
              <a:buChar char="•"/>
            </a:pPr>
            <a:r>
              <a:rPr lang="en-US" sz="2102">
                <a:solidFill>
                  <a:srgbClr val="363E52"/>
                </a:solidFill>
                <a:latin typeface="Open Sauce"/>
                <a:ea typeface="Open Sauce"/>
                <a:cs typeface="Open Sauce"/>
                <a:sym typeface="Open Sauce"/>
              </a:rPr>
              <a:t>Improve efficiency</a:t>
            </a:r>
          </a:p>
          <a:p>
            <a:pPr algn="ctr" marL="453952" indent="-226976" lvl="1">
              <a:lnSpc>
                <a:spcPts val="2943"/>
              </a:lnSpc>
              <a:buFont typeface="Arial"/>
              <a:buChar char="•"/>
            </a:pPr>
            <a:r>
              <a:rPr lang="en-US" sz="2102">
                <a:solidFill>
                  <a:srgbClr val="363E52"/>
                </a:solidFill>
                <a:latin typeface="Open Sauce"/>
                <a:ea typeface="Open Sauce"/>
                <a:cs typeface="Open Sauce"/>
                <a:sym typeface="Open Sauce"/>
              </a:rPr>
              <a:t>Increase model reliability</a:t>
            </a:r>
          </a:p>
          <a:p>
            <a:pPr algn="ctr" marL="0" indent="0" lvl="0">
              <a:lnSpc>
                <a:spcPts val="2943"/>
              </a:lnSpc>
            </a:pPr>
          </a:p>
        </p:txBody>
      </p:sp>
      <p:sp>
        <p:nvSpPr>
          <p:cNvPr name="TextBox 12" id="12"/>
          <p:cNvSpPr txBox="true"/>
          <p:nvPr/>
        </p:nvSpPr>
        <p:spPr>
          <a:xfrm rot="0">
            <a:off x="1521955" y="3960759"/>
            <a:ext cx="4509014" cy="1842069"/>
          </a:xfrm>
          <a:prstGeom prst="rect">
            <a:avLst/>
          </a:prstGeom>
        </p:spPr>
        <p:txBody>
          <a:bodyPr anchor="t" rtlCol="false" tIns="0" lIns="0" bIns="0" rIns="0">
            <a:spAutoFit/>
          </a:bodyPr>
          <a:lstStyle/>
          <a:p>
            <a:pPr algn="ctr" marL="0" indent="0" lvl="0">
              <a:lnSpc>
                <a:spcPts val="2943"/>
              </a:lnSpc>
            </a:pPr>
            <a:r>
              <a:rPr lang="en-US" sz="2102">
                <a:solidFill>
                  <a:srgbClr val="363E52"/>
                </a:solidFill>
                <a:latin typeface="Open Sauce"/>
                <a:ea typeface="Open Sauce"/>
                <a:cs typeface="Open Sauce"/>
                <a:sym typeface="Open Sauce"/>
              </a:rPr>
              <a:t>Dataset Size</a:t>
            </a:r>
          </a:p>
          <a:p>
            <a:pPr algn="ctr" marL="453952" indent="-226976" lvl="1">
              <a:lnSpc>
                <a:spcPts val="2943"/>
              </a:lnSpc>
              <a:buFont typeface="Arial"/>
              <a:buChar char="•"/>
            </a:pPr>
            <a:r>
              <a:rPr lang="en-US" sz="2102">
                <a:solidFill>
                  <a:srgbClr val="363E52"/>
                </a:solidFill>
                <a:latin typeface="Open Sauce"/>
                <a:ea typeface="Open Sauce"/>
                <a:cs typeface="Open Sauce"/>
                <a:sym typeface="Open Sauce"/>
              </a:rPr>
              <a:t>30 biological samples</a:t>
            </a:r>
          </a:p>
          <a:p>
            <a:pPr algn="ctr" marL="453952" indent="-226976" lvl="1">
              <a:lnSpc>
                <a:spcPts val="2943"/>
              </a:lnSpc>
              <a:buFont typeface="Arial"/>
              <a:buChar char="•"/>
            </a:pPr>
            <a:r>
              <a:rPr lang="en-US" sz="2102">
                <a:solidFill>
                  <a:srgbClr val="363E52"/>
                </a:solidFill>
                <a:latin typeface="Open Sauce"/>
                <a:ea typeface="Open Sauce"/>
                <a:cs typeface="Open Sauce"/>
                <a:sym typeface="Open Sauce"/>
              </a:rPr>
              <a:t>More than 27,000 gene expression features</a:t>
            </a:r>
          </a:p>
          <a:p>
            <a:pPr algn="ctr" marL="0" indent="0" lvl="0">
              <a:lnSpc>
                <a:spcPts val="2943"/>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737478" y="-8571423"/>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9275291">
            <a:off x="14294035" y="750072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2"/>
            <a:stretch>
              <a:fillRect l="0" t="0" r="0" b="0"/>
            </a:stretch>
          </a:blipFill>
        </p:spPr>
      </p:sp>
      <p:sp>
        <p:nvSpPr>
          <p:cNvPr name="Freeform 6" id="6"/>
          <p:cNvSpPr/>
          <p:nvPr/>
        </p:nvSpPr>
        <p:spPr>
          <a:xfrm flipH="true" flipV="false" rot="-9144663">
            <a:off x="-1936565" y="7454662"/>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2"/>
            <a:stretch>
              <a:fillRect l="0" t="0" r="0" b="0"/>
            </a:stretch>
          </a:blipFill>
        </p:spPr>
      </p:sp>
      <p:sp>
        <p:nvSpPr>
          <p:cNvPr name="Freeform 7" id="7"/>
          <p:cNvSpPr/>
          <p:nvPr/>
        </p:nvSpPr>
        <p:spPr>
          <a:xfrm flipH="false" flipV="false" rot="0">
            <a:off x="2450012" y="2853329"/>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8" id="8"/>
          <p:cNvSpPr txBox="true"/>
          <p:nvPr/>
        </p:nvSpPr>
        <p:spPr>
          <a:xfrm rot="0">
            <a:off x="4072424" y="2849231"/>
            <a:ext cx="13498821" cy="1942384"/>
          </a:xfrm>
          <a:prstGeom prst="rect">
            <a:avLst/>
          </a:prstGeom>
        </p:spPr>
        <p:txBody>
          <a:bodyPr anchor="t" rtlCol="false" tIns="0" lIns="0" bIns="0" rIns="0">
            <a:spAutoFit/>
          </a:bodyPr>
          <a:lstStyle/>
          <a:p>
            <a:pPr algn="l" marL="0" indent="0" lvl="0">
              <a:lnSpc>
                <a:spcPts val="2599"/>
              </a:lnSpc>
            </a:pPr>
            <a:r>
              <a:rPr lang="en-US" b="true" sz="1856">
                <a:solidFill>
                  <a:srgbClr val="363E52"/>
                </a:solidFill>
                <a:latin typeface="Open Sauce Bold"/>
                <a:ea typeface="Open Sauce Bold"/>
                <a:cs typeface="Open Sauce Bold"/>
                <a:sym typeface="Open Sauce Bold"/>
              </a:rPr>
              <a:t>Initial Insp</a:t>
            </a:r>
            <a:r>
              <a:rPr lang="en-US" b="true" sz="1856">
                <a:solidFill>
                  <a:srgbClr val="363E52"/>
                </a:solidFill>
                <a:latin typeface="Open Sauce Bold"/>
                <a:ea typeface="Open Sauce Bold"/>
                <a:cs typeface="Open Sauce Bold"/>
                <a:sym typeface="Open Sauce Bold"/>
              </a:rPr>
              <a:t>ection Included</a:t>
            </a:r>
          </a:p>
          <a:p>
            <a:pPr algn="l" marL="400818" indent="-200409" lvl="1">
              <a:lnSpc>
                <a:spcPts val="2599"/>
              </a:lnSpc>
              <a:buFont typeface="Arial"/>
              <a:buChar char="•"/>
            </a:pPr>
            <a:r>
              <a:rPr lang="en-US" sz="1856">
                <a:solidFill>
                  <a:srgbClr val="363E52"/>
                </a:solidFill>
                <a:latin typeface="Open Sauce"/>
                <a:ea typeface="Open Sauce"/>
                <a:cs typeface="Open Sauce"/>
                <a:sym typeface="Open Sauce"/>
              </a:rPr>
              <a:t>Missing value detection</a:t>
            </a:r>
          </a:p>
          <a:p>
            <a:pPr algn="l" marL="400818" indent="-200409" lvl="1">
              <a:lnSpc>
                <a:spcPts val="2599"/>
              </a:lnSpc>
              <a:buFont typeface="Arial"/>
              <a:buChar char="•"/>
            </a:pPr>
            <a:r>
              <a:rPr lang="en-US" sz="1856">
                <a:solidFill>
                  <a:srgbClr val="363E52"/>
                </a:solidFill>
                <a:latin typeface="Open Sauce"/>
                <a:ea typeface="Open Sauce"/>
                <a:cs typeface="Open Sauce"/>
                <a:sym typeface="Open Sauce"/>
              </a:rPr>
              <a:t>Duplicate checking</a:t>
            </a:r>
          </a:p>
          <a:p>
            <a:pPr algn="l" marL="400818" indent="-200409" lvl="1">
              <a:lnSpc>
                <a:spcPts val="2599"/>
              </a:lnSpc>
              <a:buFont typeface="Arial"/>
              <a:buChar char="•"/>
            </a:pPr>
            <a:r>
              <a:rPr lang="en-US" sz="1856">
                <a:solidFill>
                  <a:srgbClr val="363E52"/>
                </a:solidFill>
                <a:latin typeface="Open Sauce"/>
                <a:ea typeface="Open Sauce"/>
                <a:cs typeface="Open Sauce"/>
                <a:sym typeface="Open Sauce"/>
              </a:rPr>
              <a:t>Data type validation</a:t>
            </a:r>
          </a:p>
          <a:p>
            <a:pPr algn="l" marL="400818" indent="-200409" lvl="1">
              <a:lnSpc>
                <a:spcPts val="2599"/>
              </a:lnSpc>
              <a:buFont typeface="Arial"/>
              <a:buChar char="•"/>
            </a:pPr>
            <a:r>
              <a:rPr lang="en-US" sz="1856">
                <a:solidFill>
                  <a:srgbClr val="363E52"/>
                </a:solidFill>
                <a:latin typeface="Open Sauce"/>
                <a:ea typeface="Open Sauce"/>
                <a:cs typeface="Open Sauce"/>
                <a:sym typeface="Open Sauce"/>
              </a:rPr>
              <a:t>Summary statistics review</a:t>
            </a:r>
          </a:p>
          <a:p>
            <a:pPr algn="l" marL="0" indent="0" lvl="0">
              <a:lnSpc>
                <a:spcPts val="2599"/>
              </a:lnSpc>
            </a:pPr>
          </a:p>
        </p:txBody>
      </p:sp>
      <p:sp>
        <p:nvSpPr>
          <p:cNvPr name="Freeform 9" id="9"/>
          <p:cNvSpPr/>
          <p:nvPr/>
        </p:nvSpPr>
        <p:spPr>
          <a:xfrm flipH="false" flipV="false" rot="0">
            <a:off x="2450012" y="5091797"/>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Freeform 10" id="10"/>
          <p:cNvSpPr/>
          <p:nvPr/>
        </p:nvSpPr>
        <p:spPr>
          <a:xfrm flipH="false" flipV="false" rot="0">
            <a:off x="8946666" y="2853329"/>
            <a:ext cx="1211667" cy="1384763"/>
          </a:xfrm>
          <a:custGeom>
            <a:avLst/>
            <a:gdLst/>
            <a:ahLst/>
            <a:cxnLst/>
            <a:rect r="r" b="b" t="t" l="l"/>
            <a:pathLst>
              <a:path h="1384763" w="1211667">
                <a:moveTo>
                  <a:pt x="0" y="0"/>
                </a:moveTo>
                <a:lnTo>
                  <a:pt x="1211667" y="0"/>
                </a:lnTo>
                <a:lnTo>
                  <a:pt x="1211667" y="1384763"/>
                </a:lnTo>
                <a:lnTo>
                  <a:pt x="0" y="1384763"/>
                </a:lnTo>
                <a:lnTo>
                  <a:pt x="0" y="0"/>
                </a:lnTo>
                <a:close/>
              </a:path>
            </a:pathLst>
          </a:custGeom>
          <a:blipFill>
            <a:blip r:embed="rId3"/>
            <a:stretch>
              <a:fillRect l="0" t="0" r="0" b="0"/>
            </a:stretch>
          </a:blipFill>
        </p:spPr>
      </p:sp>
      <p:sp>
        <p:nvSpPr>
          <p:cNvPr name="Freeform 11" id="11"/>
          <p:cNvSpPr/>
          <p:nvPr/>
        </p:nvSpPr>
        <p:spPr>
          <a:xfrm flipH="false" flipV="false" rot="0">
            <a:off x="3296036" y="6375735"/>
            <a:ext cx="11301259" cy="3531643"/>
          </a:xfrm>
          <a:custGeom>
            <a:avLst/>
            <a:gdLst/>
            <a:ahLst/>
            <a:cxnLst/>
            <a:rect r="r" b="b" t="t" l="l"/>
            <a:pathLst>
              <a:path h="3531643" w="11301259">
                <a:moveTo>
                  <a:pt x="0" y="0"/>
                </a:moveTo>
                <a:lnTo>
                  <a:pt x="11301259" y="0"/>
                </a:lnTo>
                <a:lnTo>
                  <a:pt x="11301259" y="3531643"/>
                </a:lnTo>
                <a:lnTo>
                  <a:pt x="0" y="3531643"/>
                </a:lnTo>
                <a:lnTo>
                  <a:pt x="0" y="0"/>
                </a:lnTo>
                <a:close/>
              </a:path>
            </a:pathLst>
          </a:custGeom>
          <a:blipFill>
            <a:blip r:embed="rId4"/>
            <a:stretch>
              <a:fillRect l="0" t="0" r="0" b="0"/>
            </a:stretch>
          </a:blipFill>
        </p:spPr>
      </p:sp>
      <p:sp>
        <p:nvSpPr>
          <p:cNvPr name="TextBox 12" id="12"/>
          <p:cNvSpPr txBox="true"/>
          <p:nvPr/>
        </p:nvSpPr>
        <p:spPr>
          <a:xfrm rot="0">
            <a:off x="2668199" y="1028700"/>
            <a:ext cx="14083942" cy="881602"/>
          </a:xfrm>
          <a:prstGeom prst="rect">
            <a:avLst/>
          </a:prstGeom>
        </p:spPr>
        <p:txBody>
          <a:bodyPr anchor="t" rtlCol="false" tIns="0" lIns="0" bIns="0" rIns="0">
            <a:spAutoFit/>
          </a:bodyPr>
          <a:lstStyle/>
          <a:p>
            <a:pPr algn="ctr" marL="0" indent="0" lvl="0">
              <a:lnSpc>
                <a:spcPts val="6888"/>
              </a:lnSpc>
            </a:pPr>
            <a:r>
              <a:rPr lang="en-US" b="true" sz="5837">
                <a:solidFill>
                  <a:srgbClr val="363E52"/>
                </a:solidFill>
                <a:latin typeface="Baron Bold"/>
                <a:ea typeface="Baron Bold"/>
                <a:cs typeface="Baron Bold"/>
                <a:sym typeface="Baron Bold"/>
              </a:rPr>
              <a:t>Data Cleaning and Preprocessing</a:t>
            </a:r>
          </a:p>
        </p:txBody>
      </p:sp>
      <p:sp>
        <p:nvSpPr>
          <p:cNvPr name="TextBox 13" id="13"/>
          <p:cNvSpPr txBox="true"/>
          <p:nvPr/>
        </p:nvSpPr>
        <p:spPr>
          <a:xfrm rot="0">
            <a:off x="2450012" y="3266236"/>
            <a:ext cx="1284975" cy="568476"/>
          </a:xfrm>
          <a:prstGeom prst="rect">
            <a:avLst/>
          </a:prstGeom>
        </p:spPr>
        <p:txBody>
          <a:bodyPr anchor="t" rtlCol="false" tIns="0" lIns="0" bIns="0" rIns="0">
            <a:spAutoFit/>
          </a:bodyPr>
          <a:lstStyle/>
          <a:p>
            <a:pPr algn="ctr" marL="0" indent="0" lvl="0">
              <a:lnSpc>
                <a:spcPts val="4515"/>
              </a:lnSpc>
            </a:pPr>
            <a:r>
              <a:rPr lang="en-US" b="true" sz="3827">
                <a:solidFill>
                  <a:srgbClr val="FFFFFF"/>
                </a:solidFill>
                <a:latin typeface="Montserrat Semi-Bold"/>
                <a:ea typeface="Montserrat Semi-Bold"/>
                <a:cs typeface="Montserrat Semi-Bold"/>
                <a:sym typeface="Montserrat Semi-Bold"/>
              </a:rPr>
              <a:t>1</a:t>
            </a:r>
          </a:p>
        </p:txBody>
      </p:sp>
      <p:sp>
        <p:nvSpPr>
          <p:cNvPr name="TextBox 14" id="14"/>
          <p:cNvSpPr txBox="true"/>
          <p:nvPr/>
        </p:nvSpPr>
        <p:spPr>
          <a:xfrm rot="0">
            <a:off x="4072424" y="4945797"/>
            <a:ext cx="12801033" cy="1533522"/>
          </a:xfrm>
          <a:prstGeom prst="rect">
            <a:avLst/>
          </a:prstGeom>
        </p:spPr>
        <p:txBody>
          <a:bodyPr anchor="t" rtlCol="false" tIns="0" lIns="0" bIns="0" rIns="0">
            <a:spAutoFit/>
          </a:bodyPr>
          <a:lstStyle/>
          <a:p>
            <a:pPr algn="l">
              <a:lnSpc>
                <a:spcPts val="2464"/>
              </a:lnSpc>
            </a:pPr>
            <a:r>
              <a:rPr lang="en-US" sz="1760" b="true">
                <a:solidFill>
                  <a:srgbClr val="363E52"/>
                </a:solidFill>
                <a:latin typeface="Open Sauce Bold"/>
                <a:ea typeface="Open Sauce Bold"/>
                <a:cs typeface="Open Sauce Bold"/>
                <a:sym typeface="Open Sauce Bold"/>
              </a:rPr>
              <a:t>Observations</a:t>
            </a:r>
          </a:p>
          <a:p>
            <a:pPr algn="l" marL="380099" indent="-190049" lvl="1">
              <a:lnSpc>
                <a:spcPts val="2464"/>
              </a:lnSpc>
              <a:buFont typeface="Arial"/>
              <a:buChar char="•"/>
            </a:pPr>
            <a:r>
              <a:rPr lang="en-US" sz="1760">
                <a:solidFill>
                  <a:srgbClr val="363E52"/>
                </a:solidFill>
                <a:latin typeface="Open Sauce"/>
                <a:ea typeface="Open Sauce"/>
                <a:cs typeface="Open Sauce"/>
                <a:sym typeface="Open Sauce"/>
              </a:rPr>
              <a:t>RNA-Seq data showed strong right-skewed distribution</a:t>
            </a:r>
          </a:p>
          <a:p>
            <a:pPr algn="l" marL="380099" indent="-190049" lvl="1">
              <a:lnSpc>
                <a:spcPts val="2464"/>
              </a:lnSpc>
              <a:buFont typeface="Arial"/>
              <a:buChar char="•"/>
            </a:pPr>
            <a:r>
              <a:rPr lang="en-US" sz="1760">
                <a:solidFill>
                  <a:srgbClr val="363E52"/>
                </a:solidFill>
                <a:latin typeface="Open Sauce"/>
                <a:ea typeface="Open Sauce"/>
                <a:cs typeface="Open Sauce"/>
                <a:sym typeface="Open Sauce"/>
              </a:rPr>
              <a:t>Many genes had low expression</a:t>
            </a:r>
          </a:p>
          <a:p>
            <a:pPr algn="l" marL="380099" indent="-190049" lvl="1">
              <a:lnSpc>
                <a:spcPts val="2464"/>
              </a:lnSpc>
              <a:buFont typeface="Arial"/>
              <a:buChar char="•"/>
            </a:pPr>
            <a:r>
              <a:rPr lang="en-US" sz="1760">
                <a:solidFill>
                  <a:srgbClr val="363E52"/>
                </a:solidFill>
                <a:latin typeface="Open Sauce"/>
                <a:ea typeface="Open Sauce"/>
                <a:cs typeface="Open Sauce"/>
                <a:sym typeface="Open Sauce"/>
              </a:rPr>
              <a:t>Few genes had extremely high counts</a:t>
            </a:r>
          </a:p>
          <a:p>
            <a:pPr algn="l" marL="0" indent="0" lvl="0">
              <a:lnSpc>
                <a:spcPts val="2464"/>
              </a:lnSpc>
            </a:pPr>
          </a:p>
        </p:txBody>
      </p:sp>
      <p:sp>
        <p:nvSpPr>
          <p:cNvPr name="TextBox 15" id="15"/>
          <p:cNvSpPr txBox="true"/>
          <p:nvPr/>
        </p:nvSpPr>
        <p:spPr>
          <a:xfrm rot="0">
            <a:off x="2413358" y="5345949"/>
            <a:ext cx="1284975" cy="568476"/>
          </a:xfrm>
          <a:prstGeom prst="rect">
            <a:avLst/>
          </a:prstGeom>
        </p:spPr>
        <p:txBody>
          <a:bodyPr anchor="t" rtlCol="false" tIns="0" lIns="0" bIns="0" rIns="0">
            <a:spAutoFit/>
          </a:bodyPr>
          <a:lstStyle/>
          <a:p>
            <a:pPr algn="ctr" marL="0" indent="0" lvl="0">
              <a:lnSpc>
                <a:spcPts val="4515"/>
              </a:lnSpc>
            </a:pPr>
            <a:r>
              <a:rPr lang="en-US" b="true" sz="3827">
                <a:solidFill>
                  <a:srgbClr val="FFFFFF"/>
                </a:solidFill>
                <a:latin typeface="Montserrat Semi-Bold"/>
                <a:ea typeface="Montserrat Semi-Bold"/>
                <a:cs typeface="Montserrat Semi-Bold"/>
                <a:sym typeface="Montserrat Semi-Bold"/>
              </a:rPr>
              <a:t>2</a:t>
            </a:r>
          </a:p>
        </p:txBody>
      </p:sp>
      <p:sp>
        <p:nvSpPr>
          <p:cNvPr name="TextBox 16" id="16"/>
          <p:cNvSpPr txBox="true"/>
          <p:nvPr/>
        </p:nvSpPr>
        <p:spPr>
          <a:xfrm rot="0">
            <a:off x="10158333" y="2911520"/>
            <a:ext cx="13187615" cy="1239807"/>
          </a:xfrm>
          <a:prstGeom prst="rect">
            <a:avLst/>
          </a:prstGeom>
        </p:spPr>
        <p:txBody>
          <a:bodyPr anchor="t" rtlCol="false" tIns="0" lIns="0" bIns="0" rIns="0">
            <a:spAutoFit/>
          </a:bodyPr>
          <a:lstStyle/>
          <a:p>
            <a:pPr algn="l">
              <a:lnSpc>
                <a:spcPts val="2539"/>
              </a:lnSpc>
            </a:pPr>
            <a:r>
              <a:rPr lang="en-US" sz="1813" b="true">
                <a:solidFill>
                  <a:srgbClr val="363E52"/>
                </a:solidFill>
                <a:latin typeface="Open Sauce Bold"/>
                <a:ea typeface="Open Sauce Bold"/>
                <a:cs typeface="Open Sauce Bold"/>
                <a:sym typeface="Open Sauce Bold"/>
              </a:rPr>
              <a:t>Additional Preprocessing</a:t>
            </a:r>
          </a:p>
          <a:p>
            <a:pPr algn="l" marL="391578" indent="-195789" lvl="1">
              <a:lnSpc>
                <a:spcPts val="2539"/>
              </a:lnSpc>
              <a:buFont typeface="Arial"/>
              <a:buChar char="•"/>
            </a:pPr>
            <a:r>
              <a:rPr lang="en-US" sz="1813">
                <a:solidFill>
                  <a:srgbClr val="363E52"/>
                </a:solidFill>
                <a:latin typeface="Open Sauce"/>
                <a:ea typeface="Open Sauce"/>
                <a:cs typeface="Open Sauce"/>
                <a:sym typeface="Open Sauce"/>
              </a:rPr>
              <a:t>Removed constant (zero-variance) genes</a:t>
            </a:r>
          </a:p>
          <a:p>
            <a:pPr algn="l" marL="391578" indent="-195789" lvl="1">
              <a:lnSpc>
                <a:spcPts val="2539"/>
              </a:lnSpc>
              <a:buFont typeface="Arial"/>
              <a:buChar char="•"/>
            </a:pPr>
            <a:r>
              <a:rPr lang="en-US" sz="1813">
                <a:solidFill>
                  <a:srgbClr val="363E52"/>
                </a:solidFill>
                <a:latin typeface="Open Sauce"/>
                <a:ea typeface="Open Sauce"/>
                <a:cs typeface="Open Sauce"/>
                <a:sym typeface="Open Sauce"/>
              </a:rPr>
              <a:t>Applied feature scaling for machine learning algorithms</a:t>
            </a:r>
          </a:p>
          <a:p>
            <a:pPr algn="l" marL="0" indent="0" lvl="0">
              <a:lnSpc>
                <a:spcPts val="2539"/>
              </a:lnSpc>
            </a:pPr>
          </a:p>
        </p:txBody>
      </p:sp>
      <p:sp>
        <p:nvSpPr>
          <p:cNvPr name="TextBox 17" id="17"/>
          <p:cNvSpPr txBox="true"/>
          <p:nvPr/>
        </p:nvSpPr>
        <p:spPr>
          <a:xfrm rot="0">
            <a:off x="8946666" y="3266236"/>
            <a:ext cx="1284975" cy="568476"/>
          </a:xfrm>
          <a:prstGeom prst="rect">
            <a:avLst/>
          </a:prstGeom>
        </p:spPr>
        <p:txBody>
          <a:bodyPr anchor="t" rtlCol="false" tIns="0" lIns="0" bIns="0" rIns="0">
            <a:spAutoFit/>
          </a:bodyPr>
          <a:lstStyle/>
          <a:p>
            <a:pPr algn="ctr" marL="0" indent="0" lvl="0">
              <a:lnSpc>
                <a:spcPts val="4515"/>
              </a:lnSpc>
            </a:pPr>
            <a:r>
              <a:rPr lang="en-US" b="true" sz="3827">
                <a:solidFill>
                  <a:srgbClr val="FFFFFF"/>
                </a:solidFill>
                <a:latin typeface="Montserrat Semi-Bold"/>
                <a:ea typeface="Montserrat Semi-Bold"/>
                <a:cs typeface="Montserrat Semi-Bold"/>
                <a:sym typeface="Montserrat Semi-Bold"/>
              </a:rPr>
              <a:t>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9909220" y="0"/>
            <a:ext cx="8512492" cy="10287000"/>
          </a:xfrm>
          <a:custGeom>
            <a:avLst/>
            <a:gdLst/>
            <a:ahLst/>
            <a:cxnLst/>
            <a:rect r="r" b="b" t="t" l="l"/>
            <a:pathLst>
              <a:path h="10287000" w="8512492">
                <a:moveTo>
                  <a:pt x="8512493" y="0"/>
                </a:moveTo>
                <a:lnTo>
                  <a:pt x="0" y="0"/>
                </a:lnTo>
                <a:lnTo>
                  <a:pt x="0" y="10287000"/>
                </a:lnTo>
                <a:lnTo>
                  <a:pt x="8512493" y="10287000"/>
                </a:lnTo>
                <a:lnTo>
                  <a:pt x="8512493" y="0"/>
                </a:lnTo>
                <a:close/>
              </a:path>
            </a:pathLst>
          </a:custGeom>
          <a:blipFill>
            <a:blip r:embed="rId2"/>
            <a:stretch>
              <a:fillRect l="0" t="0" r="0" b="0"/>
            </a:stretch>
          </a:blipFill>
        </p:spPr>
      </p:sp>
      <p:sp>
        <p:nvSpPr>
          <p:cNvPr name="TextBox 3" id="3"/>
          <p:cNvSpPr txBox="true"/>
          <p:nvPr/>
        </p:nvSpPr>
        <p:spPr>
          <a:xfrm rot="0">
            <a:off x="2060087" y="1038225"/>
            <a:ext cx="10169357" cy="755862"/>
          </a:xfrm>
          <a:prstGeom prst="rect">
            <a:avLst/>
          </a:prstGeom>
        </p:spPr>
        <p:txBody>
          <a:bodyPr anchor="t" rtlCol="false" tIns="0" lIns="0" bIns="0" rIns="0">
            <a:spAutoFit/>
          </a:bodyPr>
          <a:lstStyle/>
          <a:p>
            <a:pPr algn="l" marL="0" indent="0" lvl="0">
              <a:lnSpc>
                <a:spcPts val="5998"/>
              </a:lnSpc>
            </a:pPr>
            <a:r>
              <a:rPr lang="en-US" b="true" sz="5083">
                <a:solidFill>
                  <a:srgbClr val="363E52"/>
                </a:solidFill>
                <a:latin typeface="Baron Bold"/>
                <a:ea typeface="Baron Bold"/>
                <a:cs typeface="Baron Bold"/>
                <a:sym typeface="Baron Bold"/>
              </a:rPr>
              <a:t>Target Variable Distribution</a:t>
            </a:r>
          </a:p>
        </p:txBody>
      </p:sp>
      <p:sp>
        <p:nvSpPr>
          <p:cNvPr name="TextBox 4" id="4"/>
          <p:cNvSpPr txBox="true"/>
          <p:nvPr/>
        </p:nvSpPr>
        <p:spPr>
          <a:xfrm rot="0">
            <a:off x="1158054" y="2031120"/>
            <a:ext cx="7537864" cy="6994525"/>
          </a:xfrm>
          <a:prstGeom prst="rect">
            <a:avLst/>
          </a:prstGeom>
        </p:spPr>
        <p:txBody>
          <a:bodyPr anchor="t" rtlCol="false" tIns="0" lIns="0" bIns="0" rIns="0">
            <a:spAutoFit/>
          </a:bodyPr>
          <a:lstStyle/>
          <a:p>
            <a:pPr algn="l" marL="0" indent="0" lvl="0">
              <a:lnSpc>
                <a:spcPts val="3500"/>
              </a:lnSpc>
            </a:pPr>
            <a:r>
              <a:rPr lang="en-US" sz="2500">
                <a:solidFill>
                  <a:srgbClr val="363E52"/>
                </a:solidFill>
                <a:latin typeface="Open Sauce"/>
                <a:ea typeface="Open Sauce"/>
                <a:cs typeface="Open Sauce"/>
                <a:sym typeface="Open Sauce"/>
              </a:rPr>
              <a:t>Cl</a:t>
            </a:r>
            <a:r>
              <a:rPr lang="en-US" sz="2500">
                <a:solidFill>
                  <a:srgbClr val="363E52"/>
                </a:solidFill>
                <a:latin typeface="Open Sauce"/>
                <a:ea typeface="Open Sauce"/>
                <a:cs typeface="Open Sauce"/>
                <a:sym typeface="Open Sauce"/>
              </a:rPr>
              <a:t>ass Distribution</a:t>
            </a:r>
          </a:p>
          <a:p>
            <a:pPr algn="l" marL="0" indent="0" lvl="0">
              <a:lnSpc>
                <a:spcPts val="3500"/>
              </a:lnSpc>
            </a:pPr>
            <a:r>
              <a:rPr lang="en-US" sz="2500">
                <a:solidFill>
                  <a:srgbClr val="363E52"/>
                </a:solidFill>
                <a:latin typeface="Open Sauce"/>
                <a:ea typeface="Open Sauce"/>
                <a:cs typeface="Open Sauce"/>
                <a:sym typeface="Open Sauce"/>
              </a:rPr>
              <a:t>Dataset Distribution</a:t>
            </a:r>
          </a:p>
          <a:p>
            <a:pPr algn="l" marL="539751" indent="-269876" lvl="1">
              <a:lnSpc>
                <a:spcPts val="3500"/>
              </a:lnSpc>
              <a:buFont typeface="Arial"/>
              <a:buChar char="•"/>
            </a:pPr>
            <a:r>
              <a:rPr lang="en-US" sz="2500">
                <a:solidFill>
                  <a:srgbClr val="363E52"/>
                </a:solidFill>
                <a:latin typeface="Open Sauce"/>
                <a:ea typeface="Open Sauce"/>
                <a:cs typeface="Open Sauce"/>
                <a:sym typeface="Open Sauce"/>
              </a:rPr>
              <a:t>18 Control samples</a:t>
            </a:r>
          </a:p>
          <a:p>
            <a:pPr algn="l" marL="539751" indent="-269876" lvl="1">
              <a:lnSpc>
                <a:spcPts val="3500"/>
              </a:lnSpc>
              <a:buFont typeface="Arial"/>
              <a:buChar char="•"/>
            </a:pPr>
            <a:r>
              <a:rPr lang="en-US" sz="2500">
                <a:solidFill>
                  <a:srgbClr val="363E52"/>
                </a:solidFill>
                <a:latin typeface="Open Sauce"/>
                <a:ea typeface="Open Sauce"/>
                <a:cs typeface="Open Sauce"/>
                <a:sym typeface="Open Sauce"/>
              </a:rPr>
              <a:t>12 Alzheimer’s samples</a:t>
            </a:r>
          </a:p>
          <a:p>
            <a:pPr algn="l" marL="539751" indent="-269876" lvl="1">
              <a:lnSpc>
                <a:spcPts val="3500"/>
              </a:lnSpc>
              <a:buFont typeface="Arial"/>
              <a:buChar char="•"/>
            </a:pPr>
          </a:p>
          <a:p>
            <a:pPr algn="l" marL="0" indent="0" lvl="0">
              <a:lnSpc>
                <a:spcPts val="3500"/>
              </a:lnSpc>
            </a:pPr>
            <a:r>
              <a:rPr lang="en-US" sz="2500">
                <a:solidFill>
                  <a:srgbClr val="363E52"/>
                </a:solidFill>
                <a:latin typeface="Open Sauce"/>
                <a:ea typeface="Open Sauce"/>
                <a:cs typeface="Open Sauce"/>
                <a:sym typeface="Open Sauce"/>
              </a:rPr>
              <a:t>Observations</a:t>
            </a:r>
          </a:p>
          <a:p>
            <a:pPr algn="l" marL="539751" indent="-269876" lvl="1">
              <a:lnSpc>
                <a:spcPts val="3500"/>
              </a:lnSpc>
              <a:buFont typeface="Arial"/>
              <a:buChar char="•"/>
            </a:pPr>
            <a:r>
              <a:rPr lang="en-US" sz="2500">
                <a:solidFill>
                  <a:srgbClr val="363E52"/>
                </a:solidFill>
                <a:latin typeface="Open Sauce"/>
                <a:ea typeface="Open Sauce"/>
                <a:cs typeface="Open Sauce"/>
                <a:sym typeface="Open Sauce"/>
              </a:rPr>
              <a:t>Dataset is slightly imbalanced</a:t>
            </a:r>
          </a:p>
          <a:p>
            <a:pPr algn="l" marL="539751" indent="-269876" lvl="1">
              <a:lnSpc>
                <a:spcPts val="3500"/>
              </a:lnSpc>
              <a:buFont typeface="Arial"/>
              <a:buChar char="•"/>
            </a:pPr>
            <a:r>
              <a:rPr lang="en-US" sz="2500">
                <a:solidFill>
                  <a:srgbClr val="363E52"/>
                </a:solidFill>
                <a:latin typeface="Open Sauce"/>
                <a:ea typeface="Open Sauce"/>
                <a:cs typeface="Open Sauce"/>
                <a:sym typeface="Open Sauce"/>
              </a:rPr>
              <a:t>Not severely imbalanced</a:t>
            </a:r>
          </a:p>
          <a:p>
            <a:pPr algn="l" marL="539751" indent="-269876" lvl="1">
              <a:lnSpc>
                <a:spcPts val="3500"/>
              </a:lnSpc>
              <a:buFont typeface="Arial"/>
              <a:buChar char="•"/>
            </a:pPr>
            <a:r>
              <a:rPr lang="en-US" sz="2500">
                <a:solidFill>
                  <a:srgbClr val="363E52"/>
                </a:solidFill>
                <a:latin typeface="Open Sauce"/>
                <a:ea typeface="Open Sauce"/>
                <a:cs typeface="Open Sauce"/>
                <a:sym typeface="Open Sauce"/>
              </a:rPr>
              <a:t>Both classes sufficiently represented</a:t>
            </a:r>
          </a:p>
          <a:p>
            <a:pPr algn="l" marL="539751" indent="-269876" lvl="1">
              <a:lnSpc>
                <a:spcPts val="3500"/>
              </a:lnSpc>
              <a:buFont typeface="Arial"/>
              <a:buChar char="•"/>
            </a:pPr>
          </a:p>
          <a:p>
            <a:pPr algn="l" marL="0" indent="0" lvl="0">
              <a:lnSpc>
                <a:spcPts val="3500"/>
              </a:lnSpc>
            </a:pPr>
            <a:r>
              <a:rPr lang="en-US" sz="2500">
                <a:solidFill>
                  <a:srgbClr val="363E52"/>
                </a:solidFill>
                <a:latin typeface="Open Sauce"/>
                <a:ea typeface="Open Sauce"/>
                <a:cs typeface="Open Sauce"/>
                <a:sym typeface="Open Sauce"/>
              </a:rPr>
              <a:t>Importance</a:t>
            </a:r>
          </a:p>
          <a:p>
            <a:pPr algn="l" marL="0" indent="0" lvl="0">
              <a:lnSpc>
                <a:spcPts val="3500"/>
              </a:lnSpc>
            </a:pPr>
            <a:r>
              <a:rPr lang="en-US" sz="2500">
                <a:solidFill>
                  <a:srgbClr val="363E52"/>
                </a:solidFill>
                <a:latin typeface="Open Sauce"/>
                <a:ea typeface="Open Sauce"/>
                <a:cs typeface="Open Sauce"/>
                <a:sym typeface="Open Sauce"/>
              </a:rPr>
              <a:t>Balanced datasets help:</a:t>
            </a:r>
          </a:p>
          <a:p>
            <a:pPr algn="l" marL="539751" indent="-269876" lvl="1">
              <a:lnSpc>
                <a:spcPts val="3500"/>
              </a:lnSpc>
              <a:buFont typeface="Arial"/>
              <a:buChar char="•"/>
            </a:pPr>
            <a:r>
              <a:rPr lang="en-US" sz="2500">
                <a:solidFill>
                  <a:srgbClr val="363E52"/>
                </a:solidFill>
                <a:latin typeface="Open Sauce"/>
                <a:ea typeface="Open Sauce"/>
                <a:cs typeface="Open Sauce"/>
                <a:sym typeface="Open Sauce"/>
              </a:rPr>
              <a:t>Improve learning quality</a:t>
            </a:r>
          </a:p>
          <a:p>
            <a:pPr algn="l" marL="539751" indent="-269876" lvl="1">
              <a:lnSpc>
                <a:spcPts val="3500"/>
              </a:lnSpc>
              <a:buFont typeface="Arial"/>
              <a:buChar char="•"/>
            </a:pPr>
            <a:r>
              <a:rPr lang="en-US" sz="2500">
                <a:solidFill>
                  <a:srgbClr val="363E52"/>
                </a:solidFill>
                <a:latin typeface="Open Sauce"/>
                <a:ea typeface="Open Sauce"/>
                <a:cs typeface="Open Sauce"/>
                <a:sym typeface="Open Sauce"/>
              </a:rPr>
              <a:t>Reduce prediction bias</a:t>
            </a:r>
          </a:p>
          <a:p>
            <a:pPr algn="l" marL="539751" indent="-269876" lvl="1">
              <a:lnSpc>
                <a:spcPts val="3500"/>
              </a:lnSpc>
              <a:buFont typeface="Arial"/>
              <a:buChar char="•"/>
            </a:pPr>
            <a:r>
              <a:rPr lang="en-US" sz="2500">
                <a:solidFill>
                  <a:srgbClr val="363E52"/>
                </a:solidFill>
                <a:latin typeface="Open Sauce"/>
                <a:ea typeface="Open Sauce"/>
                <a:cs typeface="Open Sauce"/>
                <a:sym typeface="Open Sauce"/>
              </a:rPr>
              <a:t>Improve evaluation reliability</a:t>
            </a:r>
          </a:p>
          <a:p>
            <a:pPr algn="l" marL="0" indent="0" lvl="0">
              <a:lnSpc>
                <a:spcPts val="3500"/>
              </a:lnSpc>
            </a:pPr>
          </a:p>
        </p:txBody>
      </p:sp>
      <p:sp>
        <p:nvSpPr>
          <p:cNvPr name="Freeform 5" id="5"/>
          <p:cNvSpPr/>
          <p:nvPr/>
        </p:nvSpPr>
        <p:spPr>
          <a:xfrm flipH="false" flipV="false" rot="-1866251">
            <a:off x="-2491577" y="1102658"/>
            <a:ext cx="4983154" cy="2566324"/>
          </a:xfrm>
          <a:custGeom>
            <a:avLst/>
            <a:gdLst/>
            <a:ahLst/>
            <a:cxnLst/>
            <a:rect r="r" b="b" t="t" l="l"/>
            <a:pathLst>
              <a:path h="2566324" w="4983154">
                <a:moveTo>
                  <a:pt x="0" y="0"/>
                </a:moveTo>
                <a:lnTo>
                  <a:pt x="4983154" y="0"/>
                </a:lnTo>
                <a:lnTo>
                  <a:pt x="4983154" y="2566324"/>
                </a:lnTo>
                <a:lnTo>
                  <a:pt x="0" y="2566324"/>
                </a:lnTo>
                <a:lnTo>
                  <a:pt x="0" y="0"/>
                </a:lnTo>
                <a:close/>
              </a:path>
            </a:pathLst>
          </a:custGeom>
          <a:blipFill>
            <a:blip r:embed="rId3"/>
            <a:stretch>
              <a:fillRect l="0" t="0" r="0" b="0"/>
            </a:stretch>
          </a:blipFill>
        </p:spPr>
      </p:sp>
      <p:sp>
        <p:nvSpPr>
          <p:cNvPr name="Freeform 6" id="6"/>
          <p:cNvSpPr/>
          <p:nvPr/>
        </p:nvSpPr>
        <p:spPr>
          <a:xfrm flipH="false" flipV="false" rot="3849890">
            <a:off x="8279261" y="8755360"/>
            <a:ext cx="4983154" cy="2566324"/>
          </a:xfrm>
          <a:custGeom>
            <a:avLst/>
            <a:gdLst/>
            <a:ahLst/>
            <a:cxnLst/>
            <a:rect r="r" b="b" t="t" l="l"/>
            <a:pathLst>
              <a:path h="2566324" w="4983154">
                <a:moveTo>
                  <a:pt x="0" y="0"/>
                </a:moveTo>
                <a:lnTo>
                  <a:pt x="4983154" y="0"/>
                </a:lnTo>
                <a:lnTo>
                  <a:pt x="4983154" y="2566325"/>
                </a:lnTo>
                <a:lnTo>
                  <a:pt x="0" y="2566325"/>
                </a:lnTo>
                <a:lnTo>
                  <a:pt x="0" y="0"/>
                </a:lnTo>
                <a:close/>
              </a:path>
            </a:pathLst>
          </a:custGeom>
          <a:blipFill>
            <a:blip r:embed="rId3"/>
            <a:stretch>
              <a:fillRect l="0" t="0" r="0" b="0"/>
            </a:stretch>
          </a:blipFill>
        </p:spPr>
      </p:sp>
      <p:sp>
        <p:nvSpPr>
          <p:cNvPr name="Freeform 7" id="7"/>
          <p:cNvSpPr/>
          <p:nvPr/>
        </p:nvSpPr>
        <p:spPr>
          <a:xfrm flipH="false" flipV="false" rot="0">
            <a:off x="7796418" y="2078745"/>
            <a:ext cx="8606359" cy="5845422"/>
          </a:xfrm>
          <a:custGeom>
            <a:avLst/>
            <a:gdLst/>
            <a:ahLst/>
            <a:cxnLst/>
            <a:rect r="r" b="b" t="t" l="l"/>
            <a:pathLst>
              <a:path h="5845422" w="8606359">
                <a:moveTo>
                  <a:pt x="0" y="0"/>
                </a:moveTo>
                <a:lnTo>
                  <a:pt x="8606359" y="0"/>
                </a:lnTo>
                <a:lnTo>
                  <a:pt x="8606359" y="5845422"/>
                </a:lnTo>
                <a:lnTo>
                  <a:pt x="0" y="5845422"/>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929399" y="-8389905"/>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9275291">
            <a:off x="14294035" y="750072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2"/>
            <a:stretch>
              <a:fillRect l="0" t="0" r="0" b="0"/>
            </a:stretch>
          </a:blipFill>
        </p:spPr>
      </p:sp>
      <p:sp>
        <p:nvSpPr>
          <p:cNvPr name="Freeform 6" id="6"/>
          <p:cNvSpPr/>
          <p:nvPr/>
        </p:nvSpPr>
        <p:spPr>
          <a:xfrm flipH="true" flipV="false" rot="-9144663">
            <a:off x="-1936565" y="7454662"/>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2"/>
            <a:stretch>
              <a:fillRect l="0" t="0" r="0" b="0"/>
            </a:stretch>
          </a:blipFill>
        </p:spPr>
      </p:sp>
      <p:sp>
        <p:nvSpPr>
          <p:cNvPr name="TextBox 7" id="7"/>
          <p:cNvSpPr txBox="true"/>
          <p:nvPr/>
        </p:nvSpPr>
        <p:spPr>
          <a:xfrm rot="0">
            <a:off x="2687391" y="1197236"/>
            <a:ext cx="12913218" cy="930064"/>
          </a:xfrm>
          <a:prstGeom prst="rect">
            <a:avLst/>
          </a:prstGeom>
        </p:spPr>
        <p:txBody>
          <a:bodyPr anchor="t" rtlCol="false" tIns="0" lIns="0" bIns="0" rIns="0">
            <a:spAutoFit/>
          </a:bodyPr>
          <a:lstStyle/>
          <a:p>
            <a:pPr algn="ctr" marL="0" indent="0" lvl="0">
              <a:lnSpc>
                <a:spcPts val="7277"/>
              </a:lnSpc>
            </a:pPr>
            <a:r>
              <a:rPr lang="en-US" b="true" sz="6167">
                <a:solidFill>
                  <a:srgbClr val="363E52"/>
                </a:solidFill>
                <a:latin typeface="Montserrat Semi-Bold"/>
                <a:ea typeface="Montserrat Semi-Bold"/>
                <a:cs typeface="Montserrat Semi-Bold"/>
                <a:sym typeface="Montserrat Semi-Bold"/>
              </a:rPr>
              <a:t>Exploratory Data Analysis (EDA)</a:t>
            </a:r>
          </a:p>
        </p:txBody>
      </p:sp>
      <p:sp>
        <p:nvSpPr>
          <p:cNvPr name="TextBox 8" id="8"/>
          <p:cNvSpPr txBox="true"/>
          <p:nvPr/>
        </p:nvSpPr>
        <p:spPr>
          <a:xfrm rot="0">
            <a:off x="2123308" y="2641321"/>
            <a:ext cx="11802218" cy="6942345"/>
          </a:xfrm>
          <a:prstGeom prst="rect">
            <a:avLst/>
          </a:prstGeom>
        </p:spPr>
        <p:txBody>
          <a:bodyPr anchor="t" rtlCol="false" tIns="0" lIns="0" bIns="0" rIns="0">
            <a:spAutoFit/>
          </a:bodyPr>
          <a:lstStyle/>
          <a:p>
            <a:pPr algn="l" marL="0" indent="0" lvl="0">
              <a:lnSpc>
                <a:spcPts val="3226"/>
              </a:lnSpc>
            </a:pPr>
            <a:r>
              <a:rPr lang="en-US" sz="2304">
                <a:solidFill>
                  <a:srgbClr val="363E52"/>
                </a:solidFill>
                <a:latin typeface="Open Sauce"/>
                <a:ea typeface="Open Sauce"/>
                <a:cs typeface="Open Sauce"/>
                <a:sym typeface="Open Sauce"/>
              </a:rPr>
              <a:t>Explo</a:t>
            </a:r>
            <a:r>
              <a:rPr lang="en-US" sz="2304">
                <a:solidFill>
                  <a:srgbClr val="363E52"/>
                </a:solidFill>
                <a:latin typeface="Open Sauce"/>
                <a:ea typeface="Open Sauce"/>
                <a:cs typeface="Open Sauce"/>
                <a:sym typeface="Open Sauce"/>
              </a:rPr>
              <a:t>ratory Data Analysis (EDA)</a:t>
            </a:r>
          </a:p>
          <a:p>
            <a:pPr algn="l" marL="0" indent="0" lvl="0">
              <a:lnSpc>
                <a:spcPts val="3226"/>
              </a:lnSpc>
            </a:pPr>
            <a:r>
              <a:rPr lang="en-US" sz="2304">
                <a:solidFill>
                  <a:srgbClr val="363E52"/>
                </a:solidFill>
                <a:latin typeface="Open Sauce"/>
                <a:ea typeface="Open Sauce"/>
                <a:cs typeface="Open Sauce"/>
                <a:sym typeface="Open Sauce"/>
              </a:rPr>
              <a:t>Purpose of EDA</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Understand gene expression behavior</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Explore biological patterns</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Identify possible disease-related genes</a:t>
            </a:r>
          </a:p>
          <a:p>
            <a:pPr algn="l" marL="0" indent="0" lvl="0">
              <a:lnSpc>
                <a:spcPts val="3226"/>
              </a:lnSpc>
            </a:pPr>
            <a:r>
              <a:rPr lang="en-US" sz="2304">
                <a:solidFill>
                  <a:srgbClr val="363E52"/>
                </a:solidFill>
                <a:latin typeface="Open Sauce"/>
                <a:ea typeface="Open Sauce"/>
                <a:cs typeface="Open Sauce"/>
                <a:sym typeface="Open Sauce"/>
              </a:rPr>
              <a:t>Selected Genes</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SGIP1</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ERI3-IT1</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IDH2</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ACOX1</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CLIC4</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CAMTA1</a:t>
            </a:r>
          </a:p>
          <a:p>
            <a:pPr algn="l" marL="0" indent="0" lvl="0">
              <a:lnSpc>
                <a:spcPts val="3226"/>
              </a:lnSpc>
            </a:pPr>
            <a:r>
              <a:rPr lang="en-US" sz="2304">
                <a:solidFill>
                  <a:srgbClr val="363E52"/>
                </a:solidFill>
                <a:latin typeface="Open Sauce"/>
                <a:ea typeface="Open Sauce"/>
                <a:cs typeface="Open Sauce"/>
                <a:sym typeface="Open Sauce"/>
              </a:rPr>
              <a:t>Analysis Types</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Univariate analysis</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Bivariate analysis</a:t>
            </a:r>
          </a:p>
          <a:p>
            <a:pPr algn="l" marL="497506" indent="-248753" lvl="1">
              <a:lnSpc>
                <a:spcPts val="3226"/>
              </a:lnSpc>
              <a:buFont typeface="Arial"/>
              <a:buChar char="•"/>
            </a:pPr>
            <a:r>
              <a:rPr lang="en-US" sz="2304">
                <a:solidFill>
                  <a:srgbClr val="363E52"/>
                </a:solidFill>
                <a:latin typeface="Open Sauce"/>
                <a:ea typeface="Open Sauce"/>
                <a:cs typeface="Open Sauce"/>
                <a:sym typeface="Open Sauce"/>
              </a:rPr>
              <a:t>Correlation analysis</a:t>
            </a:r>
          </a:p>
          <a:p>
            <a:pPr algn="l" marL="0" indent="0" lvl="0">
              <a:lnSpc>
                <a:spcPts val="3226"/>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929399" y="-8389905"/>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9275291">
            <a:off x="14294035" y="750072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2"/>
            <a:stretch>
              <a:fillRect l="0" t="0" r="0" b="0"/>
            </a:stretch>
          </a:blipFill>
        </p:spPr>
      </p:sp>
      <p:sp>
        <p:nvSpPr>
          <p:cNvPr name="Freeform 6" id="6"/>
          <p:cNvSpPr/>
          <p:nvPr/>
        </p:nvSpPr>
        <p:spPr>
          <a:xfrm flipH="true" flipV="false" rot="-9144663">
            <a:off x="-1936565" y="7454662"/>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2"/>
            <a:stretch>
              <a:fillRect l="0" t="0" r="0" b="0"/>
            </a:stretch>
          </a:blipFill>
        </p:spPr>
      </p:sp>
      <p:sp>
        <p:nvSpPr>
          <p:cNvPr name="Freeform 7" id="7"/>
          <p:cNvSpPr/>
          <p:nvPr/>
        </p:nvSpPr>
        <p:spPr>
          <a:xfrm flipH="false" flipV="false" rot="0">
            <a:off x="376429" y="508257"/>
            <a:ext cx="8322890" cy="5867478"/>
          </a:xfrm>
          <a:custGeom>
            <a:avLst/>
            <a:gdLst/>
            <a:ahLst/>
            <a:cxnLst/>
            <a:rect r="r" b="b" t="t" l="l"/>
            <a:pathLst>
              <a:path h="5867478" w="8322890">
                <a:moveTo>
                  <a:pt x="0" y="0"/>
                </a:moveTo>
                <a:lnTo>
                  <a:pt x="8322890" y="0"/>
                </a:lnTo>
                <a:lnTo>
                  <a:pt x="8322890" y="5867478"/>
                </a:lnTo>
                <a:lnTo>
                  <a:pt x="0" y="5867478"/>
                </a:lnTo>
                <a:lnTo>
                  <a:pt x="0" y="0"/>
                </a:lnTo>
                <a:close/>
              </a:path>
            </a:pathLst>
          </a:custGeom>
          <a:blipFill>
            <a:blip r:embed="rId3"/>
            <a:stretch>
              <a:fillRect l="0" t="0" r="0" b="0"/>
            </a:stretch>
          </a:blipFill>
        </p:spPr>
      </p:sp>
      <p:sp>
        <p:nvSpPr>
          <p:cNvPr name="Freeform 8" id="8"/>
          <p:cNvSpPr/>
          <p:nvPr/>
        </p:nvSpPr>
        <p:spPr>
          <a:xfrm flipH="false" flipV="false" rot="0">
            <a:off x="9365909" y="508257"/>
            <a:ext cx="7893391" cy="5917470"/>
          </a:xfrm>
          <a:custGeom>
            <a:avLst/>
            <a:gdLst/>
            <a:ahLst/>
            <a:cxnLst/>
            <a:rect r="r" b="b" t="t" l="l"/>
            <a:pathLst>
              <a:path h="5917470" w="7893391">
                <a:moveTo>
                  <a:pt x="0" y="0"/>
                </a:moveTo>
                <a:lnTo>
                  <a:pt x="7893391" y="0"/>
                </a:lnTo>
                <a:lnTo>
                  <a:pt x="7893391" y="5917470"/>
                </a:lnTo>
                <a:lnTo>
                  <a:pt x="0" y="5917470"/>
                </a:lnTo>
                <a:lnTo>
                  <a:pt x="0" y="0"/>
                </a:lnTo>
                <a:close/>
              </a:path>
            </a:pathLst>
          </a:custGeom>
          <a:blipFill>
            <a:blip r:embed="rId4"/>
            <a:stretch>
              <a:fillRect l="0" t="0" r="0" b="0"/>
            </a:stretch>
          </a:blipFill>
        </p:spPr>
      </p:sp>
      <p:sp>
        <p:nvSpPr>
          <p:cNvPr name="TextBox 9" id="9"/>
          <p:cNvSpPr txBox="true"/>
          <p:nvPr/>
        </p:nvSpPr>
        <p:spPr>
          <a:xfrm rot="0">
            <a:off x="496284" y="6849759"/>
            <a:ext cx="7738643" cy="1513986"/>
          </a:xfrm>
          <a:prstGeom prst="rect">
            <a:avLst/>
          </a:prstGeom>
        </p:spPr>
        <p:txBody>
          <a:bodyPr anchor="t" rtlCol="false" tIns="0" lIns="0" bIns="0" rIns="0">
            <a:spAutoFit/>
          </a:bodyPr>
          <a:lstStyle/>
          <a:p>
            <a:pPr algn="ctr">
              <a:lnSpc>
                <a:spcPts val="3008"/>
              </a:lnSpc>
              <a:spcBef>
                <a:spcPct val="0"/>
              </a:spcBef>
            </a:pPr>
            <a:r>
              <a:rPr lang="en-US" b="true" sz="2549">
                <a:solidFill>
                  <a:srgbClr val="000000"/>
                </a:solidFill>
                <a:latin typeface="Montserrat Semi-Bold"/>
                <a:ea typeface="Montserrat Semi-Bold"/>
                <a:cs typeface="Montserrat Semi-Bold"/>
                <a:sym typeface="Montserrat Semi-Bold"/>
              </a:rPr>
              <a:t>Interpretation</a:t>
            </a:r>
          </a:p>
          <a:p>
            <a:pPr algn="ctr">
              <a:lnSpc>
                <a:spcPts val="3008"/>
              </a:lnSpc>
              <a:spcBef>
                <a:spcPct val="0"/>
              </a:spcBef>
            </a:pPr>
            <a:r>
              <a:rPr lang="en-US" b="true" sz="2549">
                <a:solidFill>
                  <a:srgbClr val="000000"/>
                </a:solidFill>
                <a:latin typeface="Montserrat Semi-Bold"/>
                <a:ea typeface="Montserrat Semi-Bold"/>
                <a:cs typeface="Montserrat Semi-Bold"/>
                <a:sym typeface="Montserrat Semi-Bold"/>
              </a:rPr>
              <a:t>Distribution is strongly right-skewed.</a:t>
            </a:r>
          </a:p>
          <a:p>
            <a:pPr algn="ctr">
              <a:lnSpc>
                <a:spcPts val="3008"/>
              </a:lnSpc>
              <a:spcBef>
                <a:spcPct val="0"/>
              </a:spcBef>
            </a:pPr>
            <a:r>
              <a:rPr lang="en-US" b="true" sz="2549">
                <a:solidFill>
                  <a:srgbClr val="000000"/>
                </a:solidFill>
                <a:latin typeface="Montserrat Semi-Bold"/>
                <a:ea typeface="Montserrat Semi-Bold"/>
                <a:cs typeface="Montserrat Semi-Bold"/>
                <a:sym typeface="Montserrat Semi-Bold"/>
              </a:rPr>
              <a:t>Most samples show low expression values.</a:t>
            </a:r>
          </a:p>
          <a:p>
            <a:pPr algn="ctr">
              <a:lnSpc>
                <a:spcPts val="3008"/>
              </a:lnSpc>
              <a:spcBef>
                <a:spcPct val="0"/>
              </a:spcBef>
            </a:pPr>
            <a:r>
              <a:rPr lang="en-US" b="true" sz="2549">
                <a:solidFill>
                  <a:srgbClr val="000000"/>
                </a:solidFill>
                <a:latin typeface="Montserrat Semi-Bold"/>
                <a:ea typeface="Montserrat Semi-Bold"/>
                <a:cs typeface="Montserrat Semi-Bold"/>
                <a:sym typeface="Montserrat Semi-Bold"/>
              </a:rPr>
              <a:t>Few samples show extremely high expression.</a:t>
            </a:r>
          </a:p>
        </p:txBody>
      </p:sp>
      <p:sp>
        <p:nvSpPr>
          <p:cNvPr name="TextBox 10" id="10"/>
          <p:cNvSpPr txBox="true"/>
          <p:nvPr/>
        </p:nvSpPr>
        <p:spPr>
          <a:xfrm rot="0">
            <a:off x="10980150" y="6425727"/>
            <a:ext cx="5591228" cy="2979545"/>
          </a:xfrm>
          <a:prstGeom prst="rect">
            <a:avLst/>
          </a:prstGeom>
        </p:spPr>
        <p:txBody>
          <a:bodyPr anchor="t" rtlCol="false" tIns="0" lIns="0" bIns="0" rIns="0">
            <a:spAutoFit/>
          </a:bodyPr>
          <a:lstStyle/>
          <a:p>
            <a:pPr algn="ctr">
              <a:lnSpc>
                <a:spcPts val="2637"/>
              </a:lnSpc>
              <a:spcBef>
                <a:spcPct val="0"/>
              </a:spcBef>
            </a:pPr>
            <a:r>
              <a:rPr lang="en-US" b="true" sz="2235">
                <a:solidFill>
                  <a:srgbClr val="000000"/>
                </a:solidFill>
                <a:latin typeface="Montserrat Semi-Bold"/>
                <a:ea typeface="Montserrat Semi-Bold"/>
                <a:cs typeface="Montserrat Semi-Bold"/>
                <a:sym typeface="Montserrat Semi-Bold"/>
              </a:rPr>
              <a:t>After applying:</a:t>
            </a:r>
          </a:p>
          <a:p>
            <a:pPr algn="ctr">
              <a:lnSpc>
                <a:spcPts val="2637"/>
              </a:lnSpc>
              <a:spcBef>
                <a:spcPct val="0"/>
              </a:spcBef>
            </a:pPr>
            <a:r>
              <a:rPr lang="en-US" b="true" sz="2235">
                <a:solidFill>
                  <a:srgbClr val="000000"/>
                </a:solidFill>
                <a:latin typeface="Montserrat Semi-Bold"/>
                <a:ea typeface="Montserrat Semi-Bold"/>
                <a:cs typeface="Montserrat Semi-Bold"/>
                <a:sym typeface="Montserrat Semi-Bold"/>
              </a:rPr>
              <a:t> log⁡2(x+1)\log_2(x+1)log2​(x+1)</a:t>
            </a:r>
          </a:p>
          <a:p>
            <a:pPr algn="ctr">
              <a:lnSpc>
                <a:spcPts val="2637"/>
              </a:lnSpc>
              <a:spcBef>
                <a:spcPct val="0"/>
              </a:spcBef>
            </a:pPr>
            <a:r>
              <a:rPr lang="en-US" b="true" sz="2235">
                <a:solidFill>
                  <a:srgbClr val="000000"/>
                </a:solidFill>
                <a:latin typeface="Montserrat Semi-Bold"/>
                <a:ea typeface="Montserrat Semi-Bold"/>
                <a:cs typeface="Montserrat Semi-Bold"/>
                <a:sym typeface="Montserrat Semi-Bold"/>
              </a:rPr>
              <a:t>Distribution became more symmetric.</a:t>
            </a:r>
          </a:p>
          <a:p>
            <a:pPr algn="ctr">
              <a:lnSpc>
                <a:spcPts val="2637"/>
              </a:lnSpc>
              <a:spcBef>
                <a:spcPct val="0"/>
              </a:spcBef>
            </a:pPr>
            <a:r>
              <a:rPr lang="en-US" b="true" sz="2235">
                <a:solidFill>
                  <a:srgbClr val="000000"/>
                </a:solidFill>
                <a:latin typeface="Montserrat Semi-Bold"/>
                <a:ea typeface="Montserrat Semi-Bold"/>
                <a:cs typeface="Montserrat Semi-Bold"/>
                <a:sym typeface="Montserrat Semi-Bold"/>
              </a:rPr>
              <a:t>Skewness was reduced.</a:t>
            </a:r>
          </a:p>
          <a:p>
            <a:pPr algn="ctr">
              <a:lnSpc>
                <a:spcPts val="2637"/>
              </a:lnSpc>
              <a:spcBef>
                <a:spcPct val="0"/>
              </a:spcBef>
            </a:pPr>
            <a:r>
              <a:rPr lang="en-US" b="true" sz="2235">
                <a:solidFill>
                  <a:srgbClr val="000000"/>
                </a:solidFill>
                <a:latin typeface="Montserrat Semi-Bold"/>
                <a:ea typeface="Montserrat Semi-Bold"/>
                <a:cs typeface="Montserrat Semi-Bold"/>
                <a:sym typeface="Montserrat Semi-Bold"/>
              </a:rPr>
              <a:t>Visualization improved significantly.</a:t>
            </a:r>
          </a:p>
          <a:p>
            <a:pPr algn="ctr">
              <a:lnSpc>
                <a:spcPts val="2637"/>
              </a:lnSpc>
              <a:spcBef>
                <a:spcPct val="0"/>
              </a:spcBef>
            </a:pPr>
            <a:r>
              <a:rPr lang="en-US" b="true" sz="2235">
                <a:solidFill>
                  <a:srgbClr val="000000"/>
                </a:solidFill>
                <a:latin typeface="Montserrat Semi-Bold"/>
                <a:ea typeface="Montserrat Semi-Bold"/>
                <a:cs typeface="Montserrat Semi-Bold"/>
                <a:sym typeface="Montserrat Semi-Bold"/>
              </a:rPr>
              <a:t>Benefits</a:t>
            </a:r>
          </a:p>
          <a:p>
            <a:pPr algn="ctr">
              <a:lnSpc>
                <a:spcPts val="2637"/>
              </a:lnSpc>
              <a:spcBef>
                <a:spcPct val="0"/>
              </a:spcBef>
            </a:pPr>
            <a:r>
              <a:rPr lang="en-US" b="true" sz="2235">
                <a:solidFill>
                  <a:srgbClr val="000000"/>
                </a:solidFill>
                <a:latin typeface="Montserrat Semi-Bold"/>
                <a:ea typeface="Montserrat Semi-Bold"/>
                <a:cs typeface="Montserrat Semi-Bold"/>
                <a:sym typeface="Montserrat Semi-Bold"/>
              </a:rPr>
              <a:t>Better statistical interpretation</a:t>
            </a:r>
          </a:p>
          <a:p>
            <a:pPr algn="ctr">
              <a:lnSpc>
                <a:spcPts val="2637"/>
              </a:lnSpc>
              <a:spcBef>
                <a:spcPct val="0"/>
              </a:spcBef>
            </a:pPr>
            <a:r>
              <a:rPr lang="en-US" b="true" sz="2235">
                <a:solidFill>
                  <a:srgbClr val="000000"/>
                </a:solidFill>
                <a:latin typeface="Montserrat Semi-Bold"/>
                <a:ea typeface="Montserrat Semi-Bold"/>
                <a:cs typeface="Montserrat Semi-Bold"/>
                <a:sym typeface="Montserrat Semi-Bold"/>
              </a:rPr>
              <a:t>Better ML compatibility</a:t>
            </a:r>
          </a:p>
          <a:p>
            <a:pPr algn="ctr">
              <a:lnSpc>
                <a:spcPts val="2637"/>
              </a:lnSpc>
              <a:spcBef>
                <a:spcPct val="0"/>
              </a:spcBef>
            </a:pPr>
            <a:r>
              <a:rPr lang="en-US" b="true" sz="2235">
                <a:solidFill>
                  <a:srgbClr val="000000"/>
                </a:solidFill>
                <a:latin typeface="Montserrat Semi-Bold"/>
                <a:ea typeface="Montserrat Semi-Bold"/>
                <a:cs typeface="Montserrat Semi-Bold"/>
                <a:sym typeface="Montserrat Semi-Bold"/>
              </a:rPr>
              <a:t>Reduced influence of extreme values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929399" y="-8389905"/>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9275291">
            <a:off x="14294035" y="750072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2"/>
            <a:stretch>
              <a:fillRect l="0" t="0" r="0" b="0"/>
            </a:stretch>
          </a:blipFill>
        </p:spPr>
      </p:sp>
      <p:sp>
        <p:nvSpPr>
          <p:cNvPr name="Freeform 6" id="6"/>
          <p:cNvSpPr/>
          <p:nvPr/>
        </p:nvSpPr>
        <p:spPr>
          <a:xfrm flipH="true" flipV="false" rot="-9144663">
            <a:off x="-1936565" y="7454662"/>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2"/>
            <a:stretch>
              <a:fillRect l="0" t="0" r="0" b="0"/>
            </a:stretch>
          </a:blipFill>
        </p:spPr>
      </p:sp>
      <p:sp>
        <p:nvSpPr>
          <p:cNvPr name="Freeform 7" id="7"/>
          <p:cNvSpPr/>
          <p:nvPr/>
        </p:nvSpPr>
        <p:spPr>
          <a:xfrm flipH="false" flipV="false" rot="0">
            <a:off x="269174" y="313229"/>
            <a:ext cx="6218345" cy="4399148"/>
          </a:xfrm>
          <a:custGeom>
            <a:avLst/>
            <a:gdLst/>
            <a:ahLst/>
            <a:cxnLst/>
            <a:rect r="r" b="b" t="t" l="l"/>
            <a:pathLst>
              <a:path h="4399148" w="6218345">
                <a:moveTo>
                  <a:pt x="0" y="0"/>
                </a:moveTo>
                <a:lnTo>
                  <a:pt x="6218345" y="0"/>
                </a:lnTo>
                <a:lnTo>
                  <a:pt x="6218345" y="4399149"/>
                </a:lnTo>
                <a:lnTo>
                  <a:pt x="0" y="4399149"/>
                </a:lnTo>
                <a:lnTo>
                  <a:pt x="0" y="0"/>
                </a:lnTo>
                <a:close/>
              </a:path>
            </a:pathLst>
          </a:custGeom>
          <a:blipFill>
            <a:blip r:embed="rId3"/>
            <a:stretch>
              <a:fillRect l="0" t="0" r="0" b="0"/>
            </a:stretch>
          </a:blipFill>
        </p:spPr>
      </p:sp>
      <p:sp>
        <p:nvSpPr>
          <p:cNvPr name="Freeform 8" id="8"/>
          <p:cNvSpPr/>
          <p:nvPr/>
        </p:nvSpPr>
        <p:spPr>
          <a:xfrm flipH="false" flipV="false" rot="0">
            <a:off x="10024030" y="431550"/>
            <a:ext cx="6208678" cy="4590073"/>
          </a:xfrm>
          <a:custGeom>
            <a:avLst/>
            <a:gdLst/>
            <a:ahLst/>
            <a:cxnLst/>
            <a:rect r="r" b="b" t="t" l="l"/>
            <a:pathLst>
              <a:path h="4590073" w="6208678">
                <a:moveTo>
                  <a:pt x="0" y="0"/>
                </a:moveTo>
                <a:lnTo>
                  <a:pt x="6208678" y="0"/>
                </a:lnTo>
                <a:lnTo>
                  <a:pt x="6208678" y="4590073"/>
                </a:lnTo>
                <a:lnTo>
                  <a:pt x="0" y="4590073"/>
                </a:lnTo>
                <a:lnTo>
                  <a:pt x="0" y="0"/>
                </a:lnTo>
                <a:close/>
              </a:path>
            </a:pathLst>
          </a:custGeom>
          <a:blipFill>
            <a:blip r:embed="rId4"/>
            <a:stretch>
              <a:fillRect l="0" t="0" r="0" b="0"/>
            </a:stretch>
          </a:blipFill>
        </p:spPr>
      </p:sp>
      <p:sp>
        <p:nvSpPr>
          <p:cNvPr name="Freeform 9" id="9"/>
          <p:cNvSpPr/>
          <p:nvPr/>
        </p:nvSpPr>
        <p:spPr>
          <a:xfrm flipH="false" flipV="false" rot="0">
            <a:off x="455102" y="5574640"/>
            <a:ext cx="6468328" cy="4548429"/>
          </a:xfrm>
          <a:custGeom>
            <a:avLst/>
            <a:gdLst/>
            <a:ahLst/>
            <a:cxnLst/>
            <a:rect r="r" b="b" t="t" l="l"/>
            <a:pathLst>
              <a:path h="4548429" w="6468328">
                <a:moveTo>
                  <a:pt x="0" y="0"/>
                </a:moveTo>
                <a:lnTo>
                  <a:pt x="6468328" y="0"/>
                </a:lnTo>
                <a:lnTo>
                  <a:pt x="6468328" y="4548430"/>
                </a:lnTo>
                <a:lnTo>
                  <a:pt x="0" y="4548430"/>
                </a:lnTo>
                <a:lnTo>
                  <a:pt x="0" y="0"/>
                </a:lnTo>
                <a:close/>
              </a:path>
            </a:pathLst>
          </a:custGeom>
          <a:blipFill>
            <a:blip r:embed="rId5"/>
            <a:stretch>
              <a:fillRect l="0" t="0" r="0" b="0"/>
            </a:stretch>
          </a:blipFill>
        </p:spPr>
      </p:sp>
      <p:sp>
        <p:nvSpPr>
          <p:cNvPr name="TextBox 10" id="10"/>
          <p:cNvSpPr txBox="true"/>
          <p:nvPr/>
        </p:nvSpPr>
        <p:spPr>
          <a:xfrm rot="0">
            <a:off x="702621" y="4758341"/>
            <a:ext cx="5593125" cy="732235"/>
          </a:xfrm>
          <a:prstGeom prst="rect">
            <a:avLst/>
          </a:prstGeom>
        </p:spPr>
        <p:txBody>
          <a:bodyPr anchor="t" rtlCol="false" tIns="0" lIns="0" bIns="0" rIns="0">
            <a:spAutoFit/>
          </a:bodyPr>
          <a:lstStyle/>
          <a:p>
            <a:pPr algn="ctr">
              <a:lnSpc>
                <a:spcPts val="2985"/>
              </a:lnSpc>
              <a:spcBef>
                <a:spcPct val="0"/>
              </a:spcBef>
            </a:pPr>
            <a:r>
              <a:rPr lang="en-US" sz="2132">
                <a:solidFill>
                  <a:srgbClr val="000000"/>
                </a:solidFill>
                <a:latin typeface="Montserrat"/>
                <a:ea typeface="Montserrat"/>
                <a:cs typeface="Montserrat"/>
                <a:sym typeface="Montserrat"/>
              </a:rPr>
              <a:t>Most samples show near-zero expression.</a:t>
            </a:r>
          </a:p>
          <a:p>
            <a:pPr algn="ctr">
              <a:lnSpc>
                <a:spcPts val="2985"/>
              </a:lnSpc>
              <a:spcBef>
                <a:spcPct val="0"/>
              </a:spcBef>
            </a:pPr>
            <a:r>
              <a:rPr lang="en-US" sz="2132">
                <a:solidFill>
                  <a:srgbClr val="000000"/>
                </a:solidFill>
                <a:latin typeface="Montserrat"/>
                <a:ea typeface="Montserrat"/>
                <a:cs typeface="Montserrat"/>
                <a:sym typeface="Montserrat"/>
              </a:rPr>
              <a:t>Few samples exhibit elevated values.</a:t>
            </a:r>
          </a:p>
        </p:txBody>
      </p:sp>
      <p:sp>
        <p:nvSpPr>
          <p:cNvPr name="TextBox 11" id="11"/>
          <p:cNvSpPr txBox="true"/>
          <p:nvPr/>
        </p:nvSpPr>
        <p:spPr>
          <a:xfrm rot="0">
            <a:off x="10748168" y="5292768"/>
            <a:ext cx="5072604" cy="828457"/>
          </a:xfrm>
          <a:prstGeom prst="rect">
            <a:avLst/>
          </a:prstGeom>
        </p:spPr>
        <p:txBody>
          <a:bodyPr anchor="t" rtlCol="false" tIns="0" lIns="0" bIns="0" rIns="0">
            <a:spAutoFit/>
          </a:bodyPr>
          <a:lstStyle/>
          <a:p>
            <a:pPr algn="ctr">
              <a:lnSpc>
                <a:spcPts val="3399"/>
              </a:lnSpc>
              <a:spcBef>
                <a:spcPct val="0"/>
              </a:spcBef>
            </a:pPr>
            <a:r>
              <a:rPr lang="en-US" sz="2427">
                <a:solidFill>
                  <a:srgbClr val="000000"/>
                </a:solidFill>
                <a:latin typeface="Montserrat"/>
                <a:ea typeface="Montserrat"/>
                <a:cs typeface="Montserrat"/>
                <a:sym typeface="Montserrat"/>
              </a:rPr>
              <a:t>Moderate spread across samples</a:t>
            </a:r>
          </a:p>
          <a:p>
            <a:pPr algn="ctr">
              <a:lnSpc>
                <a:spcPts val="3399"/>
              </a:lnSpc>
              <a:spcBef>
                <a:spcPct val="0"/>
              </a:spcBef>
            </a:pPr>
            <a:r>
              <a:rPr lang="en-US" sz="2427">
                <a:solidFill>
                  <a:srgbClr val="000000"/>
                </a:solidFill>
                <a:latin typeface="Montserrat"/>
                <a:ea typeface="Montserrat"/>
                <a:cs typeface="Montserrat"/>
                <a:sym typeface="Montserrat"/>
              </a:rPr>
              <a:t>Some variability between groups</a:t>
            </a:r>
          </a:p>
        </p:txBody>
      </p:sp>
      <p:sp>
        <p:nvSpPr>
          <p:cNvPr name="TextBox 12" id="12"/>
          <p:cNvSpPr txBox="true"/>
          <p:nvPr/>
        </p:nvSpPr>
        <p:spPr>
          <a:xfrm rot="0">
            <a:off x="7173926" y="7264054"/>
            <a:ext cx="5917509" cy="894047"/>
          </a:xfrm>
          <a:prstGeom prst="rect">
            <a:avLst/>
          </a:prstGeom>
        </p:spPr>
        <p:txBody>
          <a:bodyPr anchor="t" rtlCol="false" tIns="0" lIns="0" bIns="0" rIns="0">
            <a:spAutoFit/>
          </a:bodyPr>
          <a:lstStyle/>
          <a:p>
            <a:pPr algn="ctr">
              <a:lnSpc>
                <a:spcPts val="3640"/>
              </a:lnSpc>
              <a:spcBef>
                <a:spcPct val="0"/>
              </a:spcBef>
            </a:pPr>
            <a:r>
              <a:rPr lang="en-US" sz="2600">
                <a:solidFill>
                  <a:srgbClr val="000000"/>
                </a:solidFill>
                <a:latin typeface="Montserrat"/>
                <a:ea typeface="Montserrat"/>
                <a:cs typeface="Montserrat"/>
                <a:sym typeface="Montserrat"/>
              </a:rPr>
              <a:t>Right-skewed distribution observed</a:t>
            </a:r>
          </a:p>
          <a:p>
            <a:pPr algn="ctr">
              <a:lnSpc>
                <a:spcPts val="3640"/>
              </a:lnSpc>
              <a:spcBef>
                <a:spcPct val="0"/>
              </a:spcBef>
            </a:pPr>
            <a:r>
              <a:rPr lang="en-US" sz="2600">
                <a:solidFill>
                  <a:srgbClr val="000000"/>
                </a:solidFill>
                <a:latin typeface="Montserrat"/>
                <a:ea typeface="Montserrat"/>
                <a:cs typeface="Montserrat"/>
                <a:sym typeface="Montserrat"/>
              </a:rPr>
              <a:t>Strong variability across samples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9909220" y="0"/>
            <a:ext cx="8512492" cy="10287000"/>
          </a:xfrm>
          <a:custGeom>
            <a:avLst/>
            <a:gdLst/>
            <a:ahLst/>
            <a:cxnLst/>
            <a:rect r="r" b="b" t="t" l="l"/>
            <a:pathLst>
              <a:path h="10287000" w="8512492">
                <a:moveTo>
                  <a:pt x="8512493" y="0"/>
                </a:moveTo>
                <a:lnTo>
                  <a:pt x="0" y="0"/>
                </a:lnTo>
                <a:lnTo>
                  <a:pt x="0" y="10287000"/>
                </a:lnTo>
                <a:lnTo>
                  <a:pt x="8512493" y="10287000"/>
                </a:lnTo>
                <a:lnTo>
                  <a:pt x="8512493" y="0"/>
                </a:lnTo>
                <a:close/>
              </a:path>
            </a:pathLst>
          </a:custGeom>
          <a:blipFill>
            <a:blip r:embed="rId2"/>
            <a:stretch>
              <a:fillRect l="0" t="0" r="0" b="0"/>
            </a:stretch>
          </a:blipFill>
        </p:spPr>
      </p:sp>
      <p:sp>
        <p:nvSpPr>
          <p:cNvPr name="TextBox 3" id="3"/>
          <p:cNvSpPr txBox="true"/>
          <p:nvPr/>
        </p:nvSpPr>
        <p:spPr>
          <a:xfrm rot="0">
            <a:off x="1484321" y="1493645"/>
            <a:ext cx="7537864" cy="1736725"/>
          </a:xfrm>
          <a:prstGeom prst="rect">
            <a:avLst/>
          </a:prstGeom>
        </p:spPr>
        <p:txBody>
          <a:bodyPr anchor="t" rtlCol="false" tIns="0" lIns="0" bIns="0" rIns="0">
            <a:spAutoFit/>
          </a:bodyPr>
          <a:lstStyle/>
          <a:p>
            <a:pPr algn="l">
              <a:lnSpc>
                <a:spcPts val="3500"/>
              </a:lnSpc>
            </a:pPr>
            <a:r>
              <a:rPr lang="en-US" sz="2500">
                <a:solidFill>
                  <a:srgbClr val="363E52"/>
                </a:solidFill>
                <a:latin typeface="Open Sauce"/>
                <a:ea typeface="Open Sauce"/>
                <a:cs typeface="Open Sauce"/>
                <a:sym typeface="Open Sauce"/>
              </a:rPr>
              <a:t>S</a:t>
            </a:r>
            <a:r>
              <a:rPr lang="en-US" sz="2500">
                <a:solidFill>
                  <a:srgbClr val="363E52"/>
                </a:solidFill>
                <a:latin typeface="Open Sauce"/>
                <a:ea typeface="Open Sauce"/>
                <a:cs typeface="Open Sauce"/>
                <a:sym typeface="Open Sauce"/>
              </a:rPr>
              <a:t>tudy relationships between:</a:t>
            </a:r>
          </a:p>
          <a:p>
            <a:pPr algn="l" marL="539751" indent="-269876" lvl="1">
              <a:lnSpc>
                <a:spcPts val="3500"/>
              </a:lnSpc>
              <a:buFont typeface="Arial"/>
              <a:buChar char="•"/>
            </a:pPr>
            <a:r>
              <a:rPr lang="en-US" sz="2500">
                <a:solidFill>
                  <a:srgbClr val="363E52"/>
                </a:solidFill>
                <a:latin typeface="Open Sauce"/>
                <a:ea typeface="Open Sauce"/>
                <a:cs typeface="Open Sauce"/>
                <a:sym typeface="Open Sauce"/>
              </a:rPr>
              <a:t>G</a:t>
            </a:r>
            <a:r>
              <a:rPr lang="en-US" sz="2500">
                <a:solidFill>
                  <a:srgbClr val="363E52"/>
                </a:solidFill>
                <a:latin typeface="Open Sauce"/>
                <a:ea typeface="Open Sauce"/>
                <a:cs typeface="Open Sauce"/>
                <a:sym typeface="Open Sauce"/>
              </a:rPr>
              <a:t>ene expression levels</a:t>
            </a:r>
          </a:p>
          <a:p>
            <a:pPr algn="l" marL="539751" indent="-269876" lvl="1">
              <a:lnSpc>
                <a:spcPts val="3500"/>
              </a:lnSpc>
              <a:buFont typeface="Arial"/>
              <a:buChar char="•"/>
            </a:pPr>
            <a:r>
              <a:rPr lang="en-US" sz="2500">
                <a:solidFill>
                  <a:srgbClr val="363E52"/>
                </a:solidFill>
                <a:latin typeface="Open Sauce"/>
                <a:ea typeface="Open Sauce"/>
                <a:cs typeface="Open Sauce"/>
                <a:sym typeface="Open Sauce"/>
              </a:rPr>
              <a:t>Disease classes</a:t>
            </a:r>
          </a:p>
          <a:p>
            <a:pPr algn="l" marL="0" indent="0" lvl="0">
              <a:lnSpc>
                <a:spcPts val="3500"/>
              </a:lnSpc>
            </a:pPr>
          </a:p>
        </p:txBody>
      </p:sp>
      <p:sp>
        <p:nvSpPr>
          <p:cNvPr name="Freeform 4" id="4"/>
          <p:cNvSpPr/>
          <p:nvPr/>
        </p:nvSpPr>
        <p:spPr>
          <a:xfrm flipH="false" flipV="false" rot="-1866251">
            <a:off x="-2491577" y="1102658"/>
            <a:ext cx="4983154" cy="2566324"/>
          </a:xfrm>
          <a:custGeom>
            <a:avLst/>
            <a:gdLst/>
            <a:ahLst/>
            <a:cxnLst/>
            <a:rect r="r" b="b" t="t" l="l"/>
            <a:pathLst>
              <a:path h="2566324" w="4983154">
                <a:moveTo>
                  <a:pt x="0" y="0"/>
                </a:moveTo>
                <a:lnTo>
                  <a:pt x="4983154" y="0"/>
                </a:lnTo>
                <a:lnTo>
                  <a:pt x="4983154" y="2566324"/>
                </a:lnTo>
                <a:lnTo>
                  <a:pt x="0" y="2566324"/>
                </a:lnTo>
                <a:lnTo>
                  <a:pt x="0" y="0"/>
                </a:lnTo>
                <a:close/>
              </a:path>
            </a:pathLst>
          </a:custGeom>
          <a:blipFill>
            <a:blip r:embed="rId3"/>
            <a:stretch>
              <a:fillRect l="0" t="0" r="0" b="0"/>
            </a:stretch>
          </a:blipFill>
        </p:spPr>
      </p:sp>
      <p:sp>
        <p:nvSpPr>
          <p:cNvPr name="Freeform 5" id="5"/>
          <p:cNvSpPr/>
          <p:nvPr/>
        </p:nvSpPr>
        <p:spPr>
          <a:xfrm flipH="false" flipV="false" rot="3849890">
            <a:off x="8279261" y="8755360"/>
            <a:ext cx="4983154" cy="2566324"/>
          </a:xfrm>
          <a:custGeom>
            <a:avLst/>
            <a:gdLst/>
            <a:ahLst/>
            <a:cxnLst/>
            <a:rect r="r" b="b" t="t" l="l"/>
            <a:pathLst>
              <a:path h="2566324" w="4983154">
                <a:moveTo>
                  <a:pt x="0" y="0"/>
                </a:moveTo>
                <a:lnTo>
                  <a:pt x="4983154" y="0"/>
                </a:lnTo>
                <a:lnTo>
                  <a:pt x="4983154" y="2566325"/>
                </a:lnTo>
                <a:lnTo>
                  <a:pt x="0" y="2566325"/>
                </a:lnTo>
                <a:lnTo>
                  <a:pt x="0" y="0"/>
                </a:lnTo>
                <a:close/>
              </a:path>
            </a:pathLst>
          </a:custGeom>
          <a:blipFill>
            <a:blip r:embed="rId3"/>
            <a:stretch>
              <a:fillRect l="0" t="0" r="0" b="0"/>
            </a:stretch>
          </a:blipFill>
        </p:spPr>
      </p:sp>
      <p:sp>
        <p:nvSpPr>
          <p:cNvPr name="Freeform 6" id="6"/>
          <p:cNvSpPr/>
          <p:nvPr/>
        </p:nvSpPr>
        <p:spPr>
          <a:xfrm flipH="false" flipV="false" rot="0">
            <a:off x="872990" y="3067463"/>
            <a:ext cx="8404532" cy="5840987"/>
          </a:xfrm>
          <a:custGeom>
            <a:avLst/>
            <a:gdLst/>
            <a:ahLst/>
            <a:cxnLst/>
            <a:rect r="r" b="b" t="t" l="l"/>
            <a:pathLst>
              <a:path h="5840987" w="8404532">
                <a:moveTo>
                  <a:pt x="0" y="0"/>
                </a:moveTo>
                <a:lnTo>
                  <a:pt x="8404531" y="0"/>
                </a:lnTo>
                <a:lnTo>
                  <a:pt x="8404531" y="5840987"/>
                </a:lnTo>
                <a:lnTo>
                  <a:pt x="0" y="5840987"/>
                </a:lnTo>
                <a:lnTo>
                  <a:pt x="0" y="0"/>
                </a:lnTo>
                <a:close/>
              </a:path>
            </a:pathLst>
          </a:custGeom>
          <a:blipFill>
            <a:blip r:embed="rId4"/>
            <a:stretch>
              <a:fillRect l="0" t="0" r="0" b="0"/>
            </a:stretch>
          </a:blipFill>
        </p:spPr>
      </p:sp>
      <p:sp>
        <p:nvSpPr>
          <p:cNvPr name="Freeform 7" id="7"/>
          <p:cNvSpPr/>
          <p:nvPr/>
        </p:nvSpPr>
        <p:spPr>
          <a:xfrm flipH="false" flipV="false" rot="0">
            <a:off x="9783662" y="2920971"/>
            <a:ext cx="7763768" cy="5347295"/>
          </a:xfrm>
          <a:custGeom>
            <a:avLst/>
            <a:gdLst/>
            <a:ahLst/>
            <a:cxnLst/>
            <a:rect r="r" b="b" t="t" l="l"/>
            <a:pathLst>
              <a:path h="5347295" w="7763768">
                <a:moveTo>
                  <a:pt x="0" y="0"/>
                </a:moveTo>
                <a:lnTo>
                  <a:pt x="7763769" y="0"/>
                </a:lnTo>
                <a:lnTo>
                  <a:pt x="7763769" y="5347295"/>
                </a:lnTo>
                <a:lnTo>
                  <a:pt x="0" y="5347295"/>
                </a:lnTo>
                <a:lnTo>
                  <a:pt x="0" y="0"/>
                </a:lnTo>
                <a:close/>
              </a:path>
            </a:pathLst>
          </a:custGeom>
          <a:blipFill>
            <a:blip r:embed="rId5"/>
            <a:stretch>
              <a:fillRect l="0" t="0" r="0" b="0"/>
            </a:stretch>
          </a:blipFill>
        </p:spPr>
      </p:sp>
      <p:sp>
        <p:nvSpPr>
          <p:cNvPr name="TextBox 8" id="8"/>
          <p:cNvSpPr txBox="true"/>
          <p:nvPr/>
        </p:nvSpPr>
        <p:spPr>
          <a:xfrm rot="0">
            <a:off x="2578276" y="424075"/>
            <a:ext cx="10169357" cy="755862"/>
          </a:xfrm>
          <a:prstGeom prst="rect">
            <a:avLst/>
          </a:prstGeom>
        </p:spPr>
        <p:txBody>
          <a:bodyPr anchor="t" rtlCol="false" tIns="0" lIns="0" bIns="0" rIns="0">
            <a:spAutoFit/>
          </a:bodyPr>
          <a:lstStyle/>
          <a:p>
            <a:pPr algn="l" marL="0" indent="0" lvl="0">
              <a:lnSpc>
                <a:spcPts val="5998"/>
              </a:lnSpc>
            </a:pPr>
            <a:r>
              <a:rPr lang="en-US" b="true" sz="5083">
                <a:solidFill>
                  <a:srgbClr val="363E52"/>
                </a:solidFill>
                <a:latin typeface="Baron Bold"/>
                <a:ea typeface="Baron Bold"/>
                <a:cs typeface="Baron Bold"/>
                <a:sym typeface="Baron Bold"/>
              </a:rPr>
              <a:t>Biv</a:t>
            </a:r>
            <a:r>
              <a:rPr lang="en-US" b="true" sz="5083">
                <a:solidFill>
                  <a:srgbClr val="363E52"/>
                </a:solidFill>
                <a:latin typeface="Baron Bold"/>
                <a:ea typeface="Baron Bold"/>
                <a:cs typeface="Baron Bold"/>
                <a:sym typeface="Baron Bold"/>
              </a:rPr>
              <a:t>ariate Analysis</a:t>
            </a:r>
          </a:p>
        </p:txBody>
      </p:sp>
      <p:sp>
        <p:nvSpPr>
          <p:cNvPr name="TextBox 9" id="9"/>
          <p:cNvSpPr txBox="true"/>
          <p:nvPr/>
        </p:nvSpPr>
        <p:spPr>
          <a:xfrm rot="0">
            <a:off x="1484321" y="9222775"/>
            <a:ext cx="6299478" cy="422275"/>
          </a:xfrm>
          <a:prstGeom prst="rect">
            <a:avLst/>
          </a:prstGeom>
        </p:spPr>
        <p:txBody>
          <a:bodyPr anchor="t" rtlCol="false" tIns="0" lIns="0" bIns="0" rIns="0">
            <a:spAutoFit/>
          </a:bodyPr>
          <a:lstStyle/>
          <a:p>
            <a:pPr algn="ctr">
              <a:lnSpc>
                <a:spcPts val="3500"/>
              </a:lnSpc>
              <a:spcBef>
                <a:spcPct val="0"/>
              </a:spcBef>
            </a:pPr>
            <a:r>
              <a:rPr lang="en-US" sz="2500">
                <a:solidFill>
                  <a:srgbClr val="363E52"/>
                </a:solidFill>
                <a:latin typeface="Open Sauce"/>
                <a:ea typeface="Open Sauce"/>
                <a:cs typeface="Open Sauce"/>
                <a:sym typeface="Open Sauce"/>
              </a:rPr>
              <a:t>Distribution shift between AD and control</a:t>
            </a:r>
          </a:p>
        </p:txBody>
      </p:sp>
      <p:sp>
        <p:nvSpPr>
          <p:cNvPr name="TextBox 10" id="10"/>
          <p:cNvSpPr txBox="true"/>
          <p:nvPr/>
        </p:nvSpPr>
        <p:spPr>
          <a:xfrm rot="0">
            <a:off x="9783662" y="8454425"/>
            <a:ext cx="7763768" cy="860425"/>
          </a:xfrm>
          <a:prstGeom prst="rect">
            <a:avLst/>
          </a:prstGeom>
        </p:spPr>
        <p:txBody>
          <a:bodyPr anchor="t" rtlCol="false" tIns="0" lIns="0" bIns="0" rIns="0">
            <a:spAutoFit/>
          </a:bodyPr>
          <a:lstStyle/>
          <a:p>
            <a:pPr algn="ctr">
              <a:lnSpc>
                <a:spcPts val="3500"/>
              </a:lnSpc>
              <a:spcBef>
                <a:spcPct val="0"/>
              </a:spcBef>
            </a:pPr>
            <a:r>
              <a:rPr lang="en-US" sz="2500">
                <a:solidFill>
                  <a:srgbClr val="363E52"/>
                </a:solidFill>
                <a:latin typeface="Open Sauce"/>
                <a:ea typeface="Open Sauce"/>
                <a:cs typeface="Open Sauce"/>
                <a:sym typeface="Open Sauce"/>
              </a:rPr>
              <a:t>Stronger separation between classes</a:t>
            </a:r>
          </a:p>
          <a:p>
            <a:pPr algn="ctr">
              <a:lnSpc>
                <a:spcPts val="3500"/>
              </a:lnSpc>
              <a:spcBef>
                <a:spcPct val="0"/>
              </a:spcBef>
            </a:pPr>
            <a:r>
              <a:rPr lang="en-US" sz="2500">
                <a:solidFill>
                  <a:srgbClr val="363E52"/>
                </a:solidFill>
                <a:latin typeface="Open Sauce"/>
                <a:ea typeface="Open Sauce"/>
                <a:cs typeface="Open Sauce"/>
                <a:sym typeface="Open Sauce"/>
              </a:rPr>
              <a:t>Possible upregulation in AD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9909220" y="0"/>
            <a:ext cx="8512492" cy="10287000"/>
          </a:xfrm>
          <a:custGeom>
            <a:avLst/>
            <a:gdLst/>
            <a:ahLst/>
            <a:cxnLst/>
            <a:rect r="r" b="b" t="t" l="l"/>
            <a:pathLst>
              <a:path h="10287000" w="8512492">
                <a:moveTo>
                  <a:pt x="8512493" y="0"/>
                </a:moveTo>
                <a:lnTo>
                  <a:pt x="0" y="0"/>
                </a:lnTo>
                <a:lnTo>
                  <a:pt x="0" y="10287000"/>
                </a:lnTo>
                <a:lnTo>
                  <a:pt x="8512493" y="10287000"/>
                </a:lnTo>
                <a:lnTo>
                  <a:pt x="8512493" y="0"/>
                </a:lnTo>
                <a:close/>
              </a:path>
            </a:pathLst>
          </a:custGeom>
          <a:blipFill>
            <a:blip r:embed="rId2"/>
            <a:stretch>
              <a:fillRect l="0" t="0" r="0" b="0"/>
            </a:stretch>
          </a:blipFill>
        </p:spPr>
      </p:sp>
      <p:sp>
        <p:nvSpPr>
          <p:cNvPr name="Freeform 3" id="3"/>
          <p:cNvSpPr/>
          <p:nvPr/>
        </p:nvSpPr>
        <p:spPr>
          <a:xfrm flipH="false" flipV="false" rot="-1866251">
            <a:off x="-2491577" y="1102658"/>
            <a:ext cx="4983154" cy="2566324"/>
          </a:xfrm>
          <a:custGeom>
            <a:avLst/>
            <a:gdLst/>
            <a:ahLst/>
            <a:cxnLst/>
            <a:rect r="r" b="b" t="t" l="l"/>
            <a:pathLst>
              <a:path h="2566324" w="4983154">
                <a:moveTo>
                  <a:pt x="0" y="0"/>
                </a:moveTo>
                <a:lnTo>
                  <a:pt x="4983154" y="0"/>
                </a:lnTo>
                <a:lnTo>
                  <a:pt x="4983154" y="2566324"/>
                </a:lnTo>
                <a:lnTo>
                  <a:pt x="0" y="2566324"/>
                </a:lnTo>
                <a:lnTo>
                  <a:pt x="0" y="0"/>
                </a:lnTo>
                <a:close/>
              </a:path>
            </a:pathLst>
          </a:custGeom>
          <a:blipFill>
            <a:blip r:embed="rId3"/>
            <a:stretch>
              <a:fillRect l="0" t="0" r="0" b="0"/>
            </a:stretch>
          </a:blipFill>
        </p:spPr>
      </p:sp>
      <p:sp>
        <p:nvSpPr>
          <p:cNvPr name="Freeform 4" id="4"/>
          <p:cNvSpPr/>
          <p:nvPr/>
        </p:nvSpPr>
        <p:spPr>
          <a:xfrm flipH="false" flipV="false" rot="3849890">
            <a:off x="8279261" y="8755360"/>
            <a:ext cx="4983154" cy="2566324"/>
          </a:xfrm>
          <a:custGeom>
            <a:avLst/>
            <a:gdLst/>
            <a:ahLst/>
            <a:cxnLst/>
            <a:rect r="r" b="b" t="t" l="l"/>
            <a:pathLst>
              <a:path h="2566324" w="4983154">
                <a:moveTo>
                  <a:pt x="0" y="0"/>
                </a:moveTo>
                <a:lnTo>
                  <a:pt x="4983154" y="0"/>
                </a:lnTo>
                <a:lnTo>
                  <a:pt x="4983154" y="2566325"/>
                </a:lnTo>
                <a:lnTo>
                  <a:pt x="0" y="2566325"/>
                </a:lnTo>
                <a:lnTo>
                  <a:pt x="0" y="0"/>
                </a:lnTo>
                <a:close/>
              </a:path>
            </a:pathLst>
          </a:custGeom>
          <a:blipFill>
            <a:blip r:embed="rId3"/>
            <a:stretch>
              <a:fillRect l="0" t="0" r="0" b="0"/>
            </a:stretch>
          </a:blipFill>
        </p:spPr>
      </p:sp>
      <p:sp>
        <p:nvSpPr>
          <p:cNvPr name="Freeform 5" id="5"/>
          <p:cNvSpPr/>
          <p:nvPr/>
        </p:nvSpPr>
        <p:spPr>
          <a:xfrm flipH="false" flipV="false" rot="0">
            <a:off x="1234314" y="1384618"/>
            <a:ext cx="9196895" cy="6115935"/>
          </a:xfrm>
          <a:custGeom>
            <a:avLst/>
            <a:gdLst/>
            <a:ahLst/>
            <a:cxnLst/>
            <a:rect r="r" b="b" t="t" l="l"/>
            <a:pathLst>
              <a:path h="6115935" w="9196895">
                <a:moveTo>
                  <a:pt x="0" y="0"/>
                </a:moveTo>
                <a:lnTo>
                  <a:pt x="9196895" y="0"/>
                </a:lnTo>
                <a:lnTo>
                  <a:pt x="9196895" y="6115936"/>
                </a:lnTo>
                <a:lnTo>
                  <a:pt x="0" y="6115936"/>
                </a:lnTo>
                <a:lnTo>
                  <a:pt x="0" y="0"/>
                </a:lnTo>
                <a:close/>
              </a:path>
            </a:pathLst>
          </a:custGeom>
          <a:blipFill>
            <a:blip r:embed="rId4"/>
            <a:stretch>
              <a:fillRect l="0" t="0" r="0" b="0"/>
            </a:stretch>
          </a:blipFill>
        </p:spPr>
      </p:sp>
      <p:sp>
        <p:nvSpPr>
          <p:cNvPr name="TextBox 6" id="6"/>
          <p:cNvSpPr txBox="true"/>
          <p:nvPr/>
        </p:nvSpPr>
        <p:spPr>
          <a:xfrm rot="0">
            <a:off x="2578276" y="424075"/>
            <a:ext cx="10169357" cy="755862"/>
          </a:xfrm>
          <a:prstGeom prst="rect">
            <a:avLst/>
          </a:prstGeom>
        </p:spPr>
        <p:txBody>
          <a:bodyPr anchor="t" rtlCol="false" tIns="0" lIns="0" bIns="0" rIns="0">
            <a:spAutoFit/>
          </a:bodyPr>
          <a:lstStyle/>
          <a:p>
            <a:pPr algn="l" marL="0" indent="0" lvl="0">
              <a:lnSpc>
                <a:spcPts val="5998"/>
              </a:lnSpc>
            </a:pPr>
            <a:r>
              <a:rPr lang="en-US" b="true" sz="5083">
                <a:solidFill>
                  <a:srgbClr val="363E52"/>
                </a:solidFill>
                <a:latin typeface="Baron Bold"/>
                <a:ea typeface="Baron Bold"/>
                <a:cs typeface="Baron Bold"/>
                <a:sym typeface="Baron Bold"/>
              </a:rPr>
              <a:t>Biv</a:t>
            </a:r>
            <a:r>
              <a:rPr lang="en-US" b="true" sz="5083">
                <a:solidFill>
                  <a:srgbClr val="363E52"/>
                </a:solidFill>
                <a:latin typeface="Baron Bold"/>
                <a:ea typeface="Baron Bold"/>
                <a:cs typeface="Baron Bold"/>
                <a:sym typeface="Baron Bold"/>
              </a:rPr>
              <a:t>ariate Analysis</a:t>
            </a:r>
          </a:p>
        </p:txBody>
      </p:sp>
      <p:sp>
        <p:nvSpPr>
          <p:cNvPr name="TextBox 7" id="7"/>
          <p:cNvSpPr txBox="true"/>
          <p:nvPr/>
        </p:nvSpPr>
        <p:spPr>
          <a:xfrm rot="0">
            <a:off x="1656542" y="7994907"/>
            <a:ext cx="8020749" cy="422275"/>
          </a:xfrm>
          <a:prstGeom prst="rect">
            <a:avLst/>
          </a:prstGeom>
        </p:spPr>
        <p:txBody>
          <a:bodyPr anchor="t" rtlCol="false" tIns="0" lIns="0" bIns="0" rIns="0">
            <a:spAutoFit/>
          </a:bodyPr>
          <a:lstStyle/>
          <a:p>
            <a:pPr algn="ctr">
              <a:lnSpc>
                <a:spcPts val="3500"/>
              </a:lnSpc>
              <a:spcBef>
                <a:spcPct val="0"/>
              </a:spcBef>
            </a:pPr>
            <a:r>
              <a:rPr lang="en-US" sz="2500">
                <a:solidFill>
                  <a:srgbClr val="363E52"/>
                </a:solidFill>
                <a:latin typeface="Open Sauce"/>
                <a:ea typeface="Open Sauce"/>
                <a:cs typeface="Open Sauce"/>
                <a:sym typeface="Open Sauce"/>
              </a:rPr>
              <a:t>g</a:t>
            </a:r>
            <a:r>
              <a:rPr lang="en-US" sz="2500">
                <a:solidFill>
                  <a:srgbClr val="363E52"/>
                </a:solidFill>
                <a:latin typeface="Open Sauce"/>
                <a:ea typeface="Open Sauce"/>
                <a:cs typeface="Open Sauce"/>
                <a:sym typeface="Open Sauce"/>
              </a:rPr>
              <a:t>reater variability in AD samples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66251">
            <a:off x="-2491577" y="1102658"/>
            <a:ext cx="4983154" cy="2566324"/>
          </a:xfrm>
          <a:custGeom>
            <a:avLst/>
            <a:gdLst/>
            <a:ahLst/>
            <a:cxnLst/>
            <a:rect r="r" b="b" t="t" l="l"/>
            <a:pathLst>
              <a:path h="2566324" w="4983154">
                <a:moveTo>
                  <a:pt x="0" y="0"/>
                </a:moveTo>
                <a:lnTo>
                  <a:pt x="4983154" y="0"/>
                </a:lnTo>
                <a:lnTo>
                  <a:pt x="4983154" y="2566324"/>
                </a:lnTo>
                <a:lnTo>
                  <a:pt x="0" y="2566324"/>
                </a:lnTo>
                <a:lnTo>
                  <a:pt x="0" y="0"/>
                </a:lnTo>
                <a:close/>
              </a:path>
            </a:pathLst>
          </a:custGeom>
          <a:blipFill>
            <a:blip r:embed="rId2"/>
            <a:stretch>
              <a:fillRect l="0" t="0" r="0" b="0"/>
            </a:stretch>
          </a:blipFill>
        </p:spPr>
      </p:sp>
      <p:sp>
        <p:nvSpPr>
          <p:cNvPr name="Freeform 3" id="3"/>
          <p:cNvSpPr/>
          <p:nvPr/>
        </p:nvSpPr>
        <p:spPr>
          <a:xfrm flipH="false" flipV="false" rot="3849890">
            <a:off x="8279261" y="8755360"/>
            <a:ext cx="4983154" cy="2566324"/>
          </a:xfrm>
          <a:custGeom>
            <a:avLst/>
            <a:gdLst/>
            <a:ahLst/>
            <a:cxnLst/>
            <a:rect r="r" b="b" t="t" l="l"/>
            <a:pathLst>
              <a:path h="2566324" w="4983154">
                <a:moveTo>
                  <a:pt x="0" y="0"/>
                </a:moveTo>
                <a:lnTo>
                  <a:pt x="4983154" y="0"/>
                </a:lnTo>
                <a:lnTo>
                  <a:pt x="4983154" y="2566325"/>
                </a:lnTo>
                <a:lnTo>
                  <a:pt x="0" y="2566325"/>
                </a:lnTo>
                <a:lnTo>
                  <a:pt x="0" y="0"/>
                </a:lnTo>
                <a:close/>
              </a:path>
            </a:pathLst>
          </a:custGeom>
          <a:blipFill>
            <a:blip r:embed="rId2"/>
            <a:stretch>
              <a:fillRect l="0" t="0" r="0" b="0"/>
            </a:stretch>
          </a:blipFill>
        </p:spPr>
      </p:sp>
      <p:sp>
        <p:nvSpPr>
          <p:cNvPr name="Freeform 4" id="4"/>
          <p:cNvSpPr/>
          <p:nvPr/>
        </p:nvSpPr>
        <p:spPr>
          <a:xfrm flipH="false" flipV="false" rot="0">
            <a:off x="436927" y="671706"/>
            <a:ext cx="7099974" cy="4608755"/>
          </a:xfrm>
          <a:custGeom>
            <a:avLst/>
            <a:gdLst/>
            <a:ahLst/>
            <a:cxnLst/>
            <a:rect r="r" b="b" t="t" l="l"/>
            <a:pathLst>
              <a:path h="4608755" w="7099974">
                <a:moveTo>
                  <a:pt x="0" y="0"/>
                </a:moveTo>
                <a:lnTo>
                  <a:pt x="7099974" y="0"/>
                </a:lnTo>
                <a:lnTo>
                  <a:pt x="7099974" y="4608755"/>
                </a:lnTo>
                <a:lnTo>
                  <a:pt x="0" y="4608755"/>
                </a:lnTo>
                <a:lnTo>
                  <a:pt x="0" y="0"/>
                </a:lnTo>
                <a:close/>
              </a:path>
            </a:pathLst>
          </a:custGeom>
          <a:blipFill>
            <a:blip r:embed="rId3"/>
            <a:stretch>
              <a:fillRect l="0" t="0" r="0" b="0"/>
            </a:stretch>
          </a:blipFill>
        </p:spPr>
      </p:sp>
      <p:sp>
        <p:nvSpPr>
          <p:cNvPr name="Freeform 5" id="5"/>
          <p:cNvSpPr/>
          <p:nvPr/>
        </p:nvSpPr>
        <p:spPr>
          <a:xfrm flipH="false" flipV="false" rot="0">
            <a:off x="8872964" y="1535893"/>
            <a:ext cx="6466820" cy="4548330"/>
          </a:xfrm>
          <a:custGeom>
            <a:avLst/>
            <a:gdLst/>
            <a:ahLst/>
            <a:cxnLst/>
            <a:rect r="r" b="b" t="t" l="l"/>
            <a:pathLst>
              <a:path h="4548330" w="6466820">
                <a:moveTo>
                  <a:pt x="0" y="0"/>
                </a:moveTo>
                <a:lnTo>
                  <a:pt x="6466820" y="0"/>
                </a:lnTo>
                <a:lnTo>
                  <a:pt x="6466820" y="4548331"/>
                </a:lnTo>
                <a:lnTo>
                  <a:pt x="0" y="4548331"/>
                </a:lnTo>
                <a:lnTo>
                  <a:pt x="0" y="0"/>
                </a:lnTo>
                <a:close/>
              </a:path>
            </a:pathLst>
          </a:custGeom>
          <a:blipFill>
            <a:blip r:embed="rId4"/>
            <a:stretch>
              <a:fillRect l="0" t="0" r="0" b="0"/>
            </a:stretch>
          </a:blipFill>
        </p:spPr>
      </p:sp>
      <p:sp>
        <p:nvSpPr>
          <p:cNvPr name="Freeform 6" id="6"/>
          <p:cNvSpPr/>
          <p:nvPr/>
        </p:nvSpPr>
        <p:spPr>
          <a:xfrm flipH="false" flipV="false" rot="0">
            <a:off x="436927" y="5497943"/>
            <a:ext cx="7036993" cy="4540579"/>
          </a:xfrm>
          <a:custGeom>
            <a:avLst/>
            <a:gdLst/>
            <a:ahLst/>
            <a:cxnLst/>
            <a:rect r="r" b="b" t="t" l="l"/>
            <a:pathLst>
              <a:path h="4540579" w="7036993">
                <a:moveTo>
                  <a:pt x="0" y="0"/>
                </a:moveTo>
                <a:lnTo>
                  <a:pt x="7036993" y="0"/>
                </a:lnTo>
                <a:lnTo>
                  <a:pt x="7036993" y="4540579"/>
                </a:lnTo>
                <a:lnTo>
                  <a:pt x="0" y="4540579"/>
                </a:lnTo>
                <a:lnTo>
                  <a:pt x="0" y="0"/>
                </a:lnTo>
                <a:close/>
              </a:path>
            </a:pathLst>
          </a:custGeom>
          <a:blipFill>
            <a:blip r:embed="rId5"/>
            <a:stretch>
              <a:fillRect l="0" t="0" r="0" b="0"/>
            </a:stretch>
          </a:blipFill>
        </p:spPr>
      </p:sp>
      <p:sp>
        <p:nvSpPr>
          <p:cNvPr name="TextBox 7" id="7"/>
          <p:cNvSpPr txBox="true"/>
          <p:nvPr/>
        </p:nvSpPr>
        <p:spPr>
          <a:xfrm rot="0">
            <a:off x="7323739" y="7014410"/>
            <a:ext cx="10477593" cy="1460021"/>
          </a:xfrm>
          <a:prstGeom prst="rect">
            <a:avLst/>
          </a:prstGeom>
        </p:spPr>
        <p:txBody>
          <a:bodyPr anchor="t" rtlCol="false" tIns="0" lIns="0" bIns="0" rIns="0">
            <a:spAutoFit/>
          </a:bodyPr>
          <a:lstStyle/>
          <a:p>
            <a:pPr algn="ctr">
              <a:lnSpc>
                <a:spcPts val="2926"/>
              </a:lnSpc>
              <a:spcBef>
                <a:spcPct val="0"/>
              </a:spcBef>
            </a:pPr>
            <a:r>
              <a:rPr lang="en-US" sz="2090">
                <a:solidFill>
                  <a:srgbClr val="000000"/>
                </a:solidFill>
                <a:latin typeface="Open Sauce"/>
                <a:ea typeface="Open Sauce"/>
                <a:cs typeface="Open Sauce"/>
                <a:sym typeface="Open Sauce"/>
              </a:rPr>
              <a:t>These boxplots show the spread and outliers for each gene across all samples. Genes with wide interquartile ranges (IQR) and many outlier points contain high variability — which is informative for classification. Genes with a tight IQR and few outliers are more uniformly expressed and may be less useful as features.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65145" y="6351359"/>
            <a:ext cx="5333727" cy="848441"/>
          </a:xfrm>
          <a:custGeom>
            <a:avLst/>
            <a:gdLst/>
            <a:ahLst/>
            <a:cxnLst/>
            <a:rect r="r" b="b" t="t" l="l"/>
            <a:pathLst>
              <a:path h="848441" w="5333727">
                <a:moveTo>
                  <a:pt x="0" y="0"/>
                </a:moveTo>
                <a:lnTo>
                  <a:pt x="5333727" y="0"/>
                </a:lnTo>
                <a:lnTo>
                  <a:pt x="5333727" y="848440"/>
                </a:lnTo>
                <a:lnTo>
                  <a:pt x="0" y="848440"/>
                </a:lnTo>
                <a:lnTo>
                  <a:pt x="0" y="0"/>
                </a:lnTo>
                <a:close/>
              </a:path>
            </a:pathLst>
          </a:custGeom>
          <a:blipFill>
            <a:blip r:embed="rId2"/>
            <a:stretch>
              <a:fillRect l="0" t="0" r="0" b="0"/>
            </a:stretch>
          </a:blipFill>
        </p:spPr>
      </p:sp>
      <p:sp>
        <p:nvSpPr>
          <p:cNvPr name="Freeform 3" id="3"/>
          <p:cNvSpPr/>
          <p:nvPr/>
        </p:nvSpPr>
        <p:spPr>
          <a:xfrm flipH="false" flipV="false" rot="0">
            <a:off x="15362734" y="-1942303"/>
            <a:ext cx="3608927" cy="5595235"/>
          </a:xfrm>
          <a:custGeom>
            <a:avLst/>
            <a:gdLst/>
            <a:ahLst/>
            <a:cxnLst/>
            <a:rect r="r" b="b" t="t" l="l"/>
            <a:pathLst>
              <a:path h="5595235" w="3608927">
                <a:moveTo>
                  <a:pt x="0" y="0"/>
                </a:moveTo>
                <a:lnTo>
                  <a:pt x="3608927" y="0"/>
                </a:lnTo>
                <a:lnTo>
                  <a:pt x="3608927" y="5595235"/>
                </a:lnTo>
                <a:lnTo>
                  <a:pt x="0" y="5595235"/>
                </a:lnTo>
                <a:lnTo>
                  <a:pt x="0" y="0"/>
                </a:lnTo>
                <a:close/>
              </a:path>
            </a:pathLst>
          </a:custGeom>
          <a:blipFill>
            <a:blip r:embed="rId3"/>
            <a:stretch>
              <a:fillRect l="0" t="0" r="0" b="0"/>
            </a:stretch>
          </a:blipFill>
        </p:spPr>
      </p:sp>
      <p:sp>
        <p:nvSpPr>
          <p:cNvPr name="Freeform 4" id="4"/>
          <p:cNvSpPr/>
          <p:nvPr/>
        </p:nvSpPr>
        <p:spPr>
          <a:xfrm flipH="false" flipV="false" rot="0">
            <a:off x="2766366" y="1455220"/>
            <a:ext cx="11397557" cy="6838534"/>
          </a:xfrm>
          <a:custGeom>
            <a:avLst/>
            <a:gdLst/>
            <a:ahLst/>
            <a:cxnLst/>
            <a:rect r="r" b="b" t="t" l="l"/>
            <a:pathLst>
              <a:path h="6838534" w="11397557">
                <a:moveTo>
                  <a:pt x="0" y="0"/>
                </a:moveTo>
                <a:lnTo>
                  <a:pt x="11397557" y="0"/>
                </a:lnTo>
                <a:lnTo>
                  <a:pt x="11397557" y="6838534"/>
                </a:lnTo>
                <a:lnTo>
                  <a:pt x="0" y="6838534"/>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3194937"/>
            <a:ext cx="7302503" cy="15293200"/>
          </a:xfrm>
          <a:custGeom>
            <a:avLst/>
            <a:gdLst/>
            <a:ahLst/>
            <a:cxnLst/>
            <a:rect r="r" b="b" t="t" l="l"/>
            <a:pathLst>
              <a:path h="15293200" w="7302503">
                <a:moveTo>
                  <a:pt x="0" y="0"/>
                </a:moveTo>
                <a:lnTo>
                  <a:pt x="7302503" y="0"/>
                </a:lnTo>
                <a:lnTo>
                  <a:pt x="7302503" y="15293200"/>
                </a:lnTo>
                <a:lnTo>
                  <a:pt x="0" y="15293200"/>
                </a:lnTo>
                <a:lnTo>
                  <a:pt x="0" y="0"/>
                </a:lnTo>
                <a:close/>
              </a:path>
            </a:pathLst>
          </a:custGeom>
          <a:blipFill>
            <a:blip r:embed="rId2"/>
            <a:stretch>
              <a:fillRect l="0" t="0" r="0" b="0"/>
            </a:stretch>
          </a:blipFill>
        </p:spPr>
      </p:sp>
      <p:sp>
        <p:nvSpPr>
          <p:cNvPr name="Freeform 3" id="3"/>
          <p:cNvSpPr/>
          <p:nvPr/>
        </p:nvSpPr>
        <p:spPr>
          <a:xfrm flipH="false" flipV="false" rot="0">
            <a:off x="15369556" y="-785113"/>
            <a:ext cx="4202131" cy="3463575"/>
          </a:xfrm>
          <a:custGeom>
            <a:avLst/>
            <a:gdLst/>
            <a:ahLst/>
            <a:cxnLst/>
            <a:rect r="r" b="b" t="t" l="l"/>
            <a:pathLst>
              <a:path h="3463575" w="4202131">
                <a:moveTo>
                  <a:pt x="0" y="0"/>
                </a:moveTo>
                <a:lnTo>
                  <a:pt x="4202131" y="0"/>
                </a:lnTo>
                <a:lnTo>
                  <a:pt x="4202131" y="3463575"/>
                </a:lnTo>
                <a:lnTo>
                  <a:pt x="0" y="3463575"/>
                </a:lnTo>
                <a:lnTo>
                  <a:pt x="0" y="0"/>
                </a:lnTo>
                <a:close/>
              </a:path>
            </a:pathLst>
          </a:custGeom>
          <a:blipFill>
            <a:blip r:embed="rId3"/>
            <a:stretch>
              <a:fillRect l="0" t="0" r="0" b="0"/>
            </a:stretch>
          </a:blipFill>
        </p:spPr>
      </p:sp>
      <p:sp>
        <p:nvSpPr>
          <p:cNvPr name="Freeform 4" id="4"/>
          <p:cNvSpPr/>
          <p:nvPr/>
        </p:nvSpPr>
        <p:spPr>
          <a:xfrm flipH="false" flipV="false" rot="0">
            <a:off x="1568600" y="1831402"/>
            <a:ext cx="8127848" cy="6624196"/>
          </a:xfrm>
          <a:custGeom>
            <a:avLst/>
            <a:gdLst/>
            <a:ahLst/>
            <a:cxnLst/>
            <a:rect r="r" b="b" t="t" l="l"/>
            <a:pathLst>
              <a:path h="6624196" w="8127848">
                <a:moveTo>
                  <a:pt x="0" y="0"/>
                </a:moveTo>
                <a:lnTo>
                  <a:pt x="8127848" y="0"/>
                </a:lnTo>
                <a:lnTo>
                  <a:pt x="8127848" y="6624196"/>
                </a:lnTo>
                <a:lnTo>
                  <a:pt x="0" y="6624196"/>
                </a:lnTo>
                <a:lnTo>
                  <a:pt x="0" y="0"/>
                </a:lnTo>
                <a:close/>
              </a:path>
            </a:pathLst>
          </a:custGeom>
          <a:blipFill>
            <a:blip r:embed="rId4"/>
            <a:stretch>
              <a:fillRect l="0" t="0" r="0" b="0"/>
            </a:stretch>
          </a:blipFill>
        </p:spPr>
      </p:sp>
      <p:sp>
        <p:nvSpPr>
          <p:cNvPr name="TextBox 5" id="5"/>
          <p:cNvSpPr txBox="true"/>
          <p:nvPr/>
        </p:nvSpPr>
        <p:spPr>
          <a:xfrm rot="0">
            <a:off x="4012654" y="781035"/>
            <a:ext cx="10917360" cy="687751"/>
          </a:xfrm>
          <a:prstGeom prst="rect">
            <a:avLst/>
          </a:prstGeom>
        </p:spPr>
        <p:txBody>
          <a:bodyPr anchor="t" rtlCol="false" tIns="0" lIns="0" bIns="0" rIns="0">
            <a:spAutoFit/>
          </a:bodyPr>
          <a:lstStyle/>
          <a:p>
            <a:pPr algn="l" marL="0" indent="0" lvl="0">
              <a:lnSpc>
                <a:spcPts val="5331"/>
              </a:lnSpc>
            </a:pPr>
            <a:r>
              <a:rPr lang="en-US" b="true" sz="4518">
                <a:solidFill>
                  <a:srgbClr val="363E52"/>
                </a:solidFill>
                <a:latin typeface="Baron Bold"/>
                <a:ea typeface="Baron Bold"/>
                <a:cs typeface="Baron Bold"/>
                <a:sym typeface="Baron Bold"/>
              </a:rPr>
              <a:t>Correlation &amp; Scatterplot Analysis</a:t>
            </a:r>
          </a:p>
        </p:txBody>
      </p:sp>
      <p:sp>
        <p:nvSpPr>
          <p:cNvPr name="TextBox 6" id="6"/>
          <p:cNvSpPr txBox="true"/>
          <p:nvPr/>
        </p:nvSpPr>
        <p:spPr>
          <a:xfrm rot="0">
            <a:off x="10168929" y="2640362"/>
            <a:ext cx="7689204" cy="2291373"/>
          </a:xfrm>
          <a:prstGeom prst="rect">
            <a:avLst/>
          </a:prstGeom>
        </p:spPr>
        <p:txBody>
          <a:bodyPr anchor="t" rtlCol="false" tIns="0" lIns="0" bIns="0" rIns="0">
            <a:spAutoFit/>
          </a:bodyPr>
          <a:lstStyle/>
          <a:p>
            <a:pPr algn="l" marL="567861" indent="-283930" lvl="1">
              <a:lnSpc>
                <a:spcPts val="3682"/>
              </a:lnSpc>
              <a:buFont typeface="Arial"/>
              <a:buChar char="•"/>
            </a:pPr>
            <a:r>
              <a:rPr lang="en-US" sz="2630">
                <a:solidFill>
                  <a:srgbClr val="363E52"/>
                </a:solidFill>
                <a:latin typeface="Open Sauce"/>
                <a:ea typeface="Open Sauce"/>
                <a:cs typeface="Open Sauce"/>
                <a:sym typeface="Open Sauce"/>
              </a:rPr>
              <a:t>M</a:t>
            </a:r>
            <a:r>
              <a:rPr lang="en-US" sz="2630">
                <a:solidFill>
                  <a:srgbClr val="363E52"/>
                </a:solidFill>
                <a:latin typeface="Open Sauce"/>
                <a:ea typeface="Open Sauce"/>
                <a:cs typeface="Open Sauce"/>
                <a:sym typeface="Open Sauce"/>
              </a:rPr>
              <a:t>ost genes showed weak to moderate correlation</a:t>
            </a:r>
          </a:p>
          <a:p>
            <a:pPr algn="l" marL="567861" indent="-283930" lvl="1">
              <a:lnSpc>
                <a:spcPts val="3682"/>
              </a:lnSpc>
              <a:buFont typeface="Arial"/>
              <a:buChar char="•"/>
            </a:pPr>
            <a:r>
              <a:rPr lang="en-US" sz="2630">
                <a:solidFill>
                  <a:srgbClr val="363E52"/>
                </a:solidFill>
                <a:latin typeface="Open Sauce"/>
                <a:ea typeface="Open Sauce"/>
                <a:cs typeface="Open Sauce"/>
                <a:sym typeface="Open Sauce"/>
              </a:rPr>
              <a:t>Indicates diverse biological signals</a:t>
            </a:r>
          </a:p>
          <a:p>
            <a:pPr algn="l" marL="567861" indent="-283930" lvl="1">
              <a:lnSpc>
                <a:spcPts val="3682"/>
              </a:lnSpc>
              <a:buFont typeface="Arial"/>
              <a:buChar char="•"/>
            </a:pPr>
            <a:r>
              <a:rPr lang="en-US" sz="2630">
                <a:solidFill>
                  <a:srgbClr val="363E52"/>
                </a:solidFill>
                <a:latin typeface="Open Sauce"/>
                <a:ea typeface="Open Sauce"/>
                <a:cs typeface="Open Sauce"/>
                <a:sym typeface="Open Sauce"/>
              </a:rPr>
              <a:t>Reduces redundancy in features</a:t>
            </a:r>
          </a:p>
          <a:p>
            <a:pPr algn="l" marL="0" indent="0" lvl="0">
              <a:lnSpc>
                <a:spcPts val="3682"/>
              </a:lnSpc>
            </a:pPr>
          </a:p>
        </p:txBody>
      </p:sp>
      <p:sp>
        <p:nvSpPr>
          <p:cNvPr name="TextBox 7" id="7"/>
          <p:cNvSpPr txBox="true"/>
          <p:nvPr/>
        </p:nvSpPr>
        <p:spPr>
          <a:xfrm rot="0">
            <a:off x="10168929" y="2057046"/>
            <a:ext cx="6914182" cy="428074"/>
          </a:xfrm>
          <a:prstGeom prst="rect">
            <a:avLst/>
          </a:prstGeom>
        </p:spPr>
        <p:txBody>
          <a:bodyPr anchor="t" rtlCol="false" tIns="0" lIns="0" bIns="0" rIns="0">
            <a:spAutoFit/>
          </a:bodyPr>
          <a:lstStyle/>
          <a:p>
            <a:pPr algn="ctr" marL="0" indent="0" lvl="0">
              <a:lnSpc>
                <a:spcPts val="3530"/>
              </a:lnSpc>
            </a:pPr>
            <a:r>
              <a:rPr lang="en-US" b="true" sz="2521">
                <a:solidFill>
                  <a:srgbClr val="363E52"/>
                </a:solidFill>
                <a:latin typeface="Open Sauce Bold"/>
                <a:ea typeface="Open Sauce Bold"/>
                <a:cs typeface="Open Sauce Bold"/>
                <a:sym typeface="Open Sauce Bold"/>
              </a:rPr>
              <a:t>CORRELATION HEATMAP</a:t>
            </a:r>
          </a:p>
        </p:txBody>
      </p:sp>
      <p:sp>
        <p:nvSpPr>
          <p:cNvPr name="TextBox 8" id="8"/>
          <p:cNvSpPr txBox="true"/>
          <p:nvPr/>
        </p:nvSpPr>
        <p:spPr>
          <a:xfrm rot="0">
            <a:off x="10424519" y="4931735"/>
            <a:ext cx="6403001" cy="4681022"/>
          </a:xfrm>
          <a:prstGeom prst="rect">
            <a:avLst/>
          </a:prstGeom>
        </p:spPr>
        <p:txBody>
          <a:bodyPr anchor="t" rtlCol="false" tIns="0" lIns="0" bIns="0" rIns="0">
            <a:spAutoFit/>
          </a:bodyPr>
          <a:lstStyle/>
          <a:p>
            <a:pPr algn="l">
              <a:lnSpc>
                <a:spcPts val="3368"/>
              </a:lnSpc>
              <a:spcBef>
                <a:spcPct val="0"/>
              </a:spcBef>
            </a:pPr>
            <a:r>
              <a:rPr lang="en-US" b="true" sz="2854">
                <a:solidFill>
                  <a:srgbClr val="000000"/>
                </a:solidFill>
                <a:latin typeface="Open Sauce Bold"/>
                <a:ea typeface="Open Sauce Bold"/>
                <a:cs typeface="Open Sauce Bold"/>
                <a:sym typeface="Open Sauce Bold"/>
              </a:rPr>
              <a:t>Scatterplot Findings</a:t>
            </a:r>
          </a:p>
          <a:p>
            <a:pPr algn="l">
              <a:lnSpc>
                <a:spcPts val="3368"/>
              </a:lnSpc>
              <a:spcBef>
                <a:spcPct val="0"/>
              </a:spcBef>
            </a:pPr>
            <a:r>
              <a:rPr lang="en-US" sz="2854">
                <a:solidFill>
                  <a:srgbClr val="000000"/>
                </a:solidFill>
                <a:latin typeface="Open Sauce"/>
                <a:ea typeface="Open Sauce"/>
                <a:cs typeface="Open Sauce"/>
                <a:sym typeface="Open Sauce"/>
              </a:rPr>
              <a:t>Gene pairs:</a:t>
            </a:r>
          </a:p>
          <a:p>
            <a:pPr algn="l">
              <a:lnSpc>
                <a:spcPts val="3368"/>
              </a:lnSpc>
              <a:spcBef>
                <a:spcPct val="0"/>
              </a:spcBef>
            </a:pPr>
            <a:r>
              <a:rPr lang="en-US" sz="2854">
                <a:solidFill>
                  <a:srgbClr val="000000"/>
                </a:solidFill>
                <a:latin typeface="Open Sauce"/>
                <a:ea typeface="Open Sauce"/>
                <a:cs typeface="Open Sauce"/>
                <a:sym typeface="Open Sauce"/>
              </a:rPr>
              <a:t>SGIP1 vs CLIC4</a:t>
            </a:r>
          </a:p>
          <a:p>
            <a:pPr algn="l">
              <a:lnSpc>
                <a:spcPts val="3368"/>
              </a:lnSpc>
              <a:spcBef>
                <a:spcPct val="0"/>
              </a:spcBef>
            </a:pPr>
            <a:r>
              <a:rPr lang="en-US" sz="2854">
                <a:solidFill>
                  <a:srgbClr val="000000"/>
                </a:solidFill>
                <a:latin typeface="Open Sauce"/>
                <a:ea typeface="Open Sauce"/>
                <a:cs typeface="Open Sauce"/>
                <a:sym typeface="Open Sauce"/>
              </a:rPr>
              <a:t>ERI3-IT1 vs IDH2</a:t>
            </a:r>
          </a:p>
          <a:p>
            <a:pPr algn="l">
              <a:lnSpc>
                <a:spcPts val="3368"/>
              </a:lnSpc>
              <a:spcBef>
                <a:spcPct val="0"/>
              </a:spcBef>
            </a:pPr>
            <a:r>
              <a:rPr lang="en-US" sz="2854">
                <a:solidFill>
                  <a:srgbClr val="000000"/>
                </a:solidFill>
                <a:latin typeface="Open Sauce"/>
                <a:ea typeface="Open Sauce"/>
                <a:cs typeface="Open Sauce"/>
                <a:sym typeface="Open Sauce"/>
              </a:rPr>
              <a:t>ACOX1 vs SGIP1</a:t>
            </a:r>
          </a:p>
          <a:p>
            <a:pPr algn="l">
              <a:lnSpc>
                <a:spcPts val="3368"/>
              </a:lnSpc>
              <a:spcBef>
                <a:spcPct val="0"/>
              </a:spcBef>
            </a:pPr>
          </a:p>
          <a:p>
            <a:pPr algn="l">
              <a:lnSpc>
                <a:spcPts val="3368"/>
              </a:lnSpc>
              <a:spcBef>
                <a:spcPct val="0"/>
              </a:spcBef>
            </a:pPr>
            <a:r>
              <a:rPr lang="en-US" b="true" sz="2854">
                <a:solidFill>
                  <a:srgbClr val="000000"/>
                </a:solidFill>
                <a:latin typeface="Open Sauce Bold"/>
                <a:ea typeface="Open Sauce Bold"/>
                <a:cs typeface="Open Sauce Bold"/>
                <a:sym typeface="Open Sauce Bold"/>
              </a:rPr>
              <a:t>showed partial class separation.</a:t>
            </a:r>
          </a:p>
          <a:p>
            <a:pPr algn="l">
              <a:lnSpc>
                <a:spcPts val="3368"/>
              </a:lnSpc>
              <a:spcBef>
                <a:spcPct val="0"/>
              </a:spcBef>
            </a:pPr>
          </a:p>
          <a:p>
            <a:pPr algn="l">
              <a:lnSpc>
                <a:spcPts val="3368"/>
              </a:lnSpc>
              <a:spcBef>
                <a:spcPct val="0"/>
              </a:spcBef>
            </a:pPr>
            <a:r>
              <a:rPr lang="en-US" b="true" sz="2854">
                <a:solidFill>
                  <a:srgbClr val="000000"/>
                </a:solidFill>
                <a:latin typeface="Open Sauce Bold"/>
                <a:ea typeface="Open Sauce Bold"/>
                <a:cs typeface="Open Sauce Bold"/>
                <a:sym typeface="Open Sauce Bold"/>
              </a:rPr>
              <a:t>Conclusion</a:t>
            </a:r>
          </a:p>
          <a:p>
            <a:pPr algn="l">
              <a:lnSpc>
                <a:spcPts val="3368"/>
              </a:lnSpc>
              <a:spcBef>
                <a:spcPct val="0"/>
              </a:spcBef>
            </a:pPr>
            <a:r>
              <a:rPr lang="en-US" sz="2854">
                <a:solidFill>
                  <a:srgbClr val="000000"/>
                </a:solidFill>
                <a:latin typeface="Open Sauce"/>
                <a:ea typeface="Open Sauce"/>
                <a:cs typeface="Open Sauce"/>
                <a:sym typeface="Open Sauce"/>
              </a:rPr>
              <a:t>Single genes alone are insufficient.</a:t>
            </a:r>
          </a:p>
          <a:p>
            <a:pPr algn="l">
              <a:lnSpc>
                <a:spcPts val="3368"/>
              </a:lnSpc>
              <a:spcBef>
                <a:spcPct val="0"/>
              </a:spcBef>
            </a:pPr>
            <a:r>
              <a:rPr lang="en-US" sz="2854">
                <a:solidFill>
                  <a:srgbClr val="000000"/>
                </a:solidFill>
                <a:latin typeface="Open Sauce"/>
                <a:ea typeface="Open Sauce"/>
                <a:cs typeface="Open Sauce"/>
                <a:sym typeface="Open Sauce"/>
              </a:rPr>
              <a:t> Multi-feature models are necessary.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62734" y="-1942303"/>
            <a:ext cx="3608927" cy="5595235"/>
          </a:xfrm>
          <a:custGeom>
            <a:avLst/>
            <a:gdLst/>
            <a:ahLst/>
            <a:cxnLst/>
            <a:rect r="r" b="b" t="t" l="l"/>
            <a:pathLst>
              <a:path h="5595235" w="3608927">
                <a:moveTo>
                  <a:pt x="0" y="0"/>
                </a:moveTo>
                <a:lnTo>
                  <a:pt x="3608927" y="0"/>
                </a:lnTo>
                <a:lnTo>
                  <a:pt x="3608927" y="5595235"/>
                </a:lnTo>
                <a:lnTo>
                  <a:pt x="0" y="5595235"/>
                </a:lnTo>
                <a:lnTo>
                  <a:pt x="0" y="0"/>
                </a:lnTo>
                <a:close/>
              </a:path>
            </a:pathLst>
          </a:custGeom>
          <a:blipFill>
            <a:blip r:embed="rId2"/>
            <a:stretch>
              <a:fillRect l="0" t="0" r="0" b="0"/>
            </a:stretch>
          </a:blipFill>
        </p:spPr>
      </p:sp>
      <p:sp>
        <p:nvSpPr>
          <p:cNvPr name="Freeform 3" id="3"/>
          <p:cNvSpPr/>
          <p:nvPr/>
        </p:nvSpPr>
        <p:spPr>
          <a:xfrm flipH="false" flipV="false" rot="0">
            <a:off x="395885" y="1681920"/>
            <a:ext cx="9125794" cy="6262576"/>
          </a:xfrm>
          <a:custGeom>
            <a:avLst/>
            <a:gdLst/>
            <a:ahLst/>
            <a:cxnLst/>
            <a:rect r="r" b="b" t="t" l="l"/>
            <a:pathLst>
              <a:path h="6262576" w="9125794">
                <a:moveTo>
                  <a:pt x="0" y="0"/>
                </a:moveTo>
                <a:lnTo>
                  <a:pt x="9125794" y="0"/>
                </a:lnTo>
                <a:lnTo>
                  <a:pt x="9125794" y="6262576"/>
                </a:lnTo>
                <a:lnTo>
                  <a:pt x="0" y="6262576"/>
                </a:lnTo>
                <a:lnTo>
                  <a:pt x="0" y="0"/>
                </a:lnTo>
                <a:close/>
              </a:path>
            </a:pathLst>
          </a:custGeom>
          <a:blipFill>
            <a:blip r:embed="rId3"/>
            <a:stretch>
              <a:fillRect l="0" t="0" r="0" b="0"/>
            </a:stretch>
          </a:blipFill>
        </p:spPr>
      </p:sp>
      <p:sp>
        <p:nvSpPr>
          <p:cNvPr name="Freeform 4" id="4"/>
          <p:cNvSpPr/>
          <p:nvPr/>
        </p:nvSpPr>
        <p:spPr>
          <a:xfrm flipH="false" flipV="false" rot="0">
            <a:off x="9521679" y="2114066"/>
            <a:ext cx="8409691" cy="5830430"/>
          </a:xfrm>
          <a:custGeom>
            <a:avLst/>
            <a:gdLst/>
            <a:ahLst/>
            <a:cxnLst/>
            <a:rect r="r" b="b" t="t" l="l"/>
            <a:pathLst>
              <a:path h="5830430" w="8409691">
                <a:moveTo>
                  <a:pt x="0" y="0"/>
                </a:moveTo>
                <a:lnTo>
                  <a:pt x="8409691" y="0"/>
                </a:lnTo>
                <a:lnTo>
                  <a:pt x="8409691" y="5830430"/>
                </a:lnTo>
                <a:lnTo>
                  <a:pt x="0" y="5830430"/>
                </a:lnTo>
                <a:lnTo>
                  <a:pt x="0" y="0"/>
                </a:lnTo>
                <a:close/>
              </a:path>
            </a:pathLst>
          </a:custGeom>
          <a:blipFill>
            <a:blip r:embed="rId4"/>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62734" y="-1942303"/>
            <a:ext cx="3608927" cy="5595235"/>
          </a:xfrm>
          <a:custGeom>
            <a:avLst/>
            <a:gdLst/>
            <a:ahLst/>
            <a:cxnLst/>
            <a:rect r="r" b="b" t="t" l="l"/>
            <a:pathLst>
              <a:path h="5595235" w="3608927">
                <a:moveTo>
                  <a:pt x="0" y="0"/>
                </a:moveTo>
                <a:lnTo>
                  <a:pt x="3608927" y="0"/>
                </a:lnTo>
                <a:lnTo>
                  <a:pt x="3608927" y="5595235"/>
                </a:lnTo>
                <a:lnTo>
                  <a:pt x="0" y="5595235"/>
                </a:lnTo>
                <a:lnTo>
                  <a:pt x="0" y="0"/>
                </a:lnTo>
                <a:close/>
              </a:path>
            </a:pathLst>
          </a:custGeom>
          <a:blipFill>
            <a:blip r:embed="rId2"/>
            <a:stretch>
              <a:fillRect l="0" t="0" r="0" b="0"/>
            </a:stretch>
          </a:blipFill>
        </p:spPr>
      </p:sp>
      <p:sp>
        <p:nvSpPr>
          <p:cNvPr name="Freeform 3" id="3"/>
          <p:cNvSpPr/>
          <p:nvPr/>
        </p:nvSpPr>
        <p:spPr>
          <a:xfrm flipH="false" flipV="false" rot="0">
            <a:off x="454626" y="1028700"/>
            <a:ext cx="8281649" cy="5865281"/>
          </a:xfrm>
          <a:custGeom>
            <a:avLst/>
            <a:gdLst/>
            <a:ahLst/>
            <a:cxnLst/>
            <a:rect r="r" b="b" t="t" l="l"/>
            <a:pathLst>
              <a:path h="5865281" w="8281649">
                <a:moveTo>
                  <a:pt x="0" y="0"/>
                </a:moveTo>
                <a:lnTo>
                  <a:pt x="8281649" y="0"/>
                </a:lnTo>
                <a:lnTo>
                  <a:pt x="8281649" y="5865281"/>
                </a:lnTo>
                <a:lnTo>
                  <a:pt x="0" y="5865281"/>
                </a:lnTo>
                <a:lnTo>
                  <a:pt x="0" y="0"/>
                </a:lnTo>
                <a:close/>
              </a:path>
            </a:pathLst>
          </a:custGeom>
          <a:blipFill>
            <a:blip r:embed="rId3"/>
            <a:stretch>
              <a:fillRect l="0" t="0" r="0" b="0"/>
            </a:stretch>
          </a:blipFill>
        </p:spPr>
      </p:sp>
      <p:sp>
        <p:nvSpPr>
          <p:cNvPr name="Freeform 4" id="4"/>
          <p:cNvSpPr/>
          <p:nvPr/>
        </p:nvSpPr>
        <p:spPr>
          <a:xfrm flipH="false" flipV="false" rot="0">
            <a:off x="9596168" y="1352717"/>
            <a:ext cx="8384684" cy="5854268"/>
          </a:xfrm>
          <a:custGeom>
            <a:avLst/>
            <a:gdLst/>
            <a:ahLst/>
            <a:cxnLst/>
            <a:rect r="r" b="b" t="t" l="l"/>
            <a:pathLst>
              <a:path h="5854268" w="8384684">
                <a:moveTo>
                  <a:pt x="0" y="0"/>
                </a:moveTo>
                <a:lnTo>
                  <a:pt x="8384684" y="0"/>
                </a:lnTo>
                <a:lnTo>
                  <a:pt x="8384684" y="5854268"/>
                </a:lnTo>
                <a:lnTo>
                  <a:pt x="0" y="5854268"/>
                </a:lnTo>
                <a:lnTo>
                  <a:pt x="0" y="0"/>
                </a:lnTo>
                <a:close/>
              </a:path>
            </a:pathLst>
          </a:custGeom>
          <a:blipFill>
            <a:blip r:embed="rId4"/>
            <a:stretch>
              <a:fillRect l="0" t="0" r="0" b="0"/>
            </a:stretch>
          </a:blipFill>
        </p:spPr>
      </p:sp>
      <p:sp>
        <p:nvSpPr>
          <p:cNvPr name="TextBox 5" id="5"/>
          <p:cNvSpPr txBox="true"/>
          <p:nvPr/>
        </p:nvSpPr>
        <p:spPr>
          <a:xfrm rot="0">
            <a:off x="1028700" y="7590829"/>
            <a:ext cx="9910746" cy="1142169"/>
          </a:xfrm>
          <a:prstGeom prst="rect">
            <a:avLst/>
          </a:prstGeom>
        </p:spPr>
        <p:txBody>
          <a:bodyPr anchor="t" rtlCol="false" tIns="0" lIns="0" bIns="0" rIns="0">
            <a:spAutoFit/>
          </a:bodyPr>
          <a:lstStyle/>
          <a:p>
            <a:pPr algn="ctr">
              <a:lnSpc>
                <a:spcPts val="2257"/>
              </a:lnSpc>
              <a:spcBef>
                <a:spcPct val="0"/>
              </a:spcBef>
            </a:pPr>
            <a:r>
              <a:rPr lang="en-US" b="true" sz="1913">
                <a:solidFill>
                  <a:srgbClr val="000000"/>
                </a:solidFill>
                <a:latin typeface="Montserrat Semi-Bold"/>
                <a:ea typeface="Montserrat Semi-Bold"/>
                <a:cs typeface="Montserrat Semi-Bold"/>
                <a:sym typeface="Montserrat Semi-Bold"/>
              </a:rPr>
              <a:t>The pairwise scatter plots show how effectively gene pairs distinguish between the two classes. Gene pairs forming clear separate clusters are strong features for classification, while overlapping patterns indicate weaker discrimination and the need for additional features or more complex models.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62734" y="-1942303"/>
            <a:ext cx="3608927" cy="5595235"/>
          </a:xfrm>
          <a:custGeom>
            <a:avLst/>
            <a:gdLst/>
            <a:ahLst/>
            <a:cxnLst/>
            <a:rect r="r" b="b" t="t" l="l"/>
            <a:pathLst>
              <a:path h="5595235" w="3608927">
                <a:moveTo>
                  <a:pt x="0" y="0"/>
                </a:moveTo>
                <a:lnTo>
                  <a:pt x="3608927" y="0"/>
                </a:lnTo>
                <a:lnTo>
                  <a:pt x="3608927" y="5595235"/>
                </a:lnTo>
                <a:lnTo>
                  <a:pt x="0" y="5595235"/>
                </a:lnTo>
                <a:lnTo>
                  <a:pt x="0" y="0"/>
                </a:lnTo>
                <a:close/>
              </a:path>
            </a:pathLst>
          </a:custGeom>
          <a:blipFill>
            <a:blip r:embed="rId2"/>
            <a:stretch>
              <a:fillRect l="0" t="0" r="0" b="0"/>
            </a:stretch>
          </a:blipFill>
        </p:spPr>
      </p:sp>
      <p:sp>
        <p:nvSpPr>
          <p:cNvPr name="Freeform 3" id="3"/>
          <p:cNvSpPr/>
          <p:nvPr/>
        </p:nvSpPr>
        <p:spPr>
          <a:xfrm flipH="false" flipV="false" rot="0">
            <a:off x="1028700" y="1760176"/>
            <a:ext cx="8142608" cy="5845422"/>
          </a:xfrm>
          <a:custGeom>
            <a:avLst/>
            <a:gdLst/>
            <a:ahLst/>
            <a:cxnLst/>
            <a:rect r="r" b="b" t="t" l="l"/>
            <a:pathLst>
              <a:path h="5845422" w="8142608">
                <a:moveTo>
                  <a:pt x="0" y="0"/>
                </a:moveTo>
                <a:lnTo>
                  <a:pt x="8142608" y="0"/>
                </a:lnTo>
                <a:lnTo>
                  <a:pt x="8142608" y="5845422"/>
                </a:lnTo>
                <a:lnTo>
                  <a:pt x="0" y="5845422"/>
                </a:lnTo>
                <a:lnTo>
                  <a:pt x="0" y="0"/>
                </a:lnTo>
                <a:close/>
              </a:path>
            </a:pathLst>
          </a:custGeom>
          <a:blipFill>
            <a:blip r:embed="rId3"/>
            <a:stretch>
              <a:fillRect l="0" t="0" r="0" b="0"/>
            </a:stretch>
          </a:blipFill>
        </p:spPr>
      </p:sp>
      <p:sp>
        <p:nvSpPr>
          <p:cNvPr name="TextBox 4" id="4"/>
          <p:cNvSpPr txBox="true"/>
          <p:nvPr/>
        </p:nvSpPr>
        <p:spPr>
          <a:xfrm rot="0">
            <a:off x="1241947" y="734603"/>
            <a:ext cx="9022941" cy="691807"/>
          </a:xfrm>
          <a:prstGeom prst="rect">
            <a:avLst/>
          </a:prstGeom>
        </p:spPr>
        <p:txBody>
          <a:bodyPr anchor="t" rtlCol="false" tIns="0" lIns="0" bIns="0" rIns="0">
            <a:spAutoFit/>
          </a:bodyPr>
          <a:lstStyle/>
          <a:p>
            <a:pPr algn="ctr">
              <a:lnSpc>
                <a:spcPts val="5475"/>
              </a:lnSpc>
              <a:spcBef>
                <a:spcPct val="0"/>
              </a:spcBef>
            </a:pPr>
            <a:r>
              <a:rPr lang="en-US" b="true" sz="4639">
                <a:solidFill>
                  <a:srgbClr val="000000"/>
                </a:solidFill>
                <a:latin typeface="Montserrat Semi-Bold"/>
                <a:ea typeface="Montserrat Semi-Bold"/>
                <a:cs typeface="Montserrat Semi-Bold"/>
                <a:sym typeface="Montserrat Semi-Bold"/>
              </a:rPr>
              <a:t>Violin plot — CAMTA1 by Class</a:t>
            </a:r>
          </a:p>
        </p:txBody>
      </p:sp>
      <p:sp>
        <p:nvSpPr>
          <p:cNvPr name="TextBox 5" id="5"/>
          <p:cNvSpPr txBox="true"/>
          <p:nvPr/>
        </p:nvSpPr>
        <p:spPr>
          <a:xfrm rot="0">
            <a:off x="10394490" y="4397757"/>
            <a:ext cx="7555503" cy="3678308"/>
          </a:xfrm>
          <a:prstGeom prst="rect">
            <a:avLst/>
          </a:prstGeom>
        </p:spPr>
        <p:txBody>
          <a:bodyPr anchor="t" rtlCol="false" tIns="0" lIns="0" bIns="0" rIns="0">
            <a:spAutoFit/>
          </a:bodyPr>
          <a:lstStyle/>
          <a:p>
            <a:pPr algn="ctr">
              <a:lnSpc>
                <a:spcPts val="3238"/>
              </a:lnSpc>
              <a:spcBef>
                <a:spcPct val="0"/>
              </a:spcBef>
            </a:pPr>
            <a:r>
              <a:rPr lang="en-US" b="true" sz="2744">
                <a:solidFill>
                  <a:srgbClr val="000000"/>
                </a:solidFill>
                <a:latin typeface="Montserrat Semi-Bold"/>
                <a:ea typeface="Montserrat Semi-Bold"/>
                <a:cs typeface="Montserrat Semi-Bold"/>
                <a:sym typeface="Montserrat Semi-Bold"/>
              </a:rPr>
              <a:t>The violin plot shows the distribution of CAMTA1 expression across both classes. Wider sections represent higher sample density at specific expression levels, helping visualize distribution patterns and variability. Differences in distribution shape or shifts between class 0 and class 1 support CAMTA1 as an important predictive feature.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75507" y="0"/>
            <a:ext cx="8512493" cy="10287000"/>
          </a:xfrm>
          <a:custGeom>
            <a:avLst/>
            <a:gdLst/>
            <a:ahLst/>
            <a:cxnLst/>
            <a:rect r="r" b="b" t="t" l="l"/>
            <a:pathLst>
              <a:path h="10287000" w="8512493">
                <a:moveTo>
                  <a:pt x="0" y="0"/>
                </a:moveTo>
                <a:lnTo>
                  <a:pt x="8512493" y="0"/>
                </a:lnTo>
                <a:lnTo>
                  <a:pt x="8512493" y="10287000"/>
                </a:lnTo>
                <a:lnTo>
                  <a:pt x="0" y="10287000"/>
                </a:lnTo>
                <a:lnTo>
                  <a:pt x="0" y="0"/>
                </a:lnTo>
                <a:close/>
              </a:path>
            </a:pathLst>
          </a:custGeom>
          <a:blipFill>
            <a:blip r:embed="rId2"/>
            <a:stretch>
              <a:fillRect l="0" t="-1159" r="0" b="-1159"/>
            </a:stretch>
          </a:blipFill>
        </p:spPr>
      </p:sp>
      <p:sp>
        <p:nvSpPr>
          <p:cNvPr name="TextBox 3" id="3"/>
          <p:cNvSpPr txBox="true"/>
          <p:nvPr/>
        </p:nvSpPr>
        <p:spPr>
          <a:xfrm rot="0">
            <a:off x="3224634" y="873877"/>
            <a:ext cx="8115300" cy="901011"/>
          </a:xfrm>
          <a:prstGeom prst="rect">
            <a:avLst/>
          </a:prstGeom>
        </p:spPr>
        <p:txBody>
          <a:bodyPr anchor="t" rtlCol="false" tIns="0" lIns="0" bIns="0" rIns="0">
            <a:spAutoFit/>
          </a:bodyPr>
          <a:lstStyle/>
          <a:p>
            <a:pPr algn="l" marL="0" indent="0" lvl="0">
              <a:lnSpc>
                <a:spcPts val="7054"/>
              </a:lnSpc>
            </a:pPr>
            <a:r>
              <a:rPr lang="en-US" b="true" sz="5978">
                <a:solidFill>
                  <a:srgbClr val="363E52"/>
                </a:solidFill>
                <a:latin typeface="Montserrat Semi-Bold"/>
                <a:ea typeface="Montserrat Semi-Bold"/>
                <a:cs typeface="Montserrat Semi-Bold"/>
                <a:sym typeface="Montserrat Semi-Bold"/>
              </a:rPr>
              <a:t>Feature Engineering</a:t>
            </a:r>
          </a:p>
        </p:txBody>
      </p:sp>
      <p:sp>
        <p:nvSpPr>
          <p:cNvPr name="Freeform 4" id="4"/>
          <p:cNvSpPr/>
          <p:nvPr/>
        </p:nvSpPr>
        <p:spPr>
          <a:xfrm flipH="false" flipV="false" rot="0">
            <a:off x="-1300550" y="-1861662"/>
            <a:ext cx="4525184" cy="5452029"/>
          </a:xfrm>
          <a:custGeom>
            <a:avLst/>
            <a:gdLst/>
            <a:ahLst/>
            <a:cxnLst/>
            <a:rect r="r" b="b" t="t" l="l"/>
            <a:pathLst>
              <a:path h="5452029" w="4525184">
                <a:moveTo>
                  <a:pt x="0" y="0"/>
                </a:moveTo>
                <a:lnTo>
                  <a:pt x="4525184" y="0"/>
                </a:lnTo>
                <a:lnTo>
                  <a:pt x="4525184" y="5452028"/>
                </a:lnTo>
                <a:lnTo>
                  <a:pt x="0" y="5452028"/>
                </a:lnTo>
                <a:lnTo>
                  <a:pt x="0" y="0"/>
                </a:lnTo>
                <a:close/>
              </a:path>
            </a:pathLst>
          </a:custGeom>
          <a:blipFill>
            <a:blip r:embed="rId3"/>
            <a:stretch>
              <a:fillRect l="0" t="0" r="0" b="0"/>
            </a:stretch>
          </a:blipFill>
        </p:spPr>
      </p:sp>
      <p:sp>
        <p:nvSpPr>
          <p:cNvPr name="Freeform 5" id="5"/>
          <p:cNvSpPr/>
          <p:nvPr/>
        </p:nvSpPr>
        <p:spPr>
          <a:xfrm flipH="false" flipV="false" rot="0">
            <a:off x="6778944" y="2695421"/>
            <a:ext cx="10833228" cy="5203232"/>
          </a:xfrm>
          <a:custGeom>
            <a:avLst/>
            <a:gdLst/>
            <a:ahLst/>
            <a:cxnLst/>
            <a:rect r="r" b="b" t="t" l="l"/>
            <a:pathLst>
              <a:path h="5203232" w="10833228">
                <a:moveTo>
                  <a:pt x="0" y="0"/>
                </a:moveTo>
                <a:lnTo>
                  <a:pt x="10833229" y="0"/>
                </a:lnTo>
                <a:lnTo>
                  <a:pt x="10833229" y="5203233"/>
                </a:lnTo>
                <a:lnTo>
                  <a:pt x="0" y="5203233"/>
                </a:lnTo>
                <a:lnTo>
                  <a:pt x="0" y="0"/>
                </a:lnTo>
                <a:close/>
              </a:path>
            </a:pathLst>
          </a:custGeom>
          <a:blipFill>
            <a:blip r:embed="rId4"/>
            <a:stretch>
              <a:fillRect l="0" t="0" r="0" b="0"/>
            </a:stretch>
          </a:blipFill>
        </p:spPr>
      </p:sp>
      <p:sp>
        <p:nvSpPr>
          <p:cNvPr name="TextBox 6" id="6"/>
          <p:cNvSpPr txBox="true"/>
          <p:nvPr/>
        </p:nvSpPr>
        <p:spPr>
          <a:xfrm rot="0">
            <a:off x="962042" y="2063487"/>
            <a:ext cx="5816902" cy="6531501"/>
          </a:xfrm>
          <a:prstGeom prst="rect">
            <a:avLst/>
          </a:prstGeom>
        </p:spPr>
        <p:txBody>
          <a:bodyPr anchor="t" rtlCol="false" tIns="0" lIns="0" bIns="0" rIns="0">
            <a:spAutoFit/>
          </a:bodyPr>
          <a:lstStyle/>
          <a:p>
            <a:pPr algn="l">
              <a:lnSpc>
                <a:spcPts val="3296"/>
              </a:lnSpc>
            </a:pPr>
            <a:r>
              <a:rPr lang="en-US" sz="2354">
                <a:solidFill>
                  <a:srgbClr val="363E52"/>
                </a:solidFill>
                <a:latin typeface="Open Sauce"/>
                <a:ea typeface="Open Sauce"/>
                <a:cs typeface="Open Sauce"/>
                <a:sym typeface="Open Sauce"/>
              </a:rPr>
              <a:t>Feature Engineering</a:t>
            </a:r>
          </a:p>
          <a:p>
            <a:pPr algn="l">
              <a:lnSpc>
                <a:spcPts val="3296"/>
              </a:lnSpc>
            </a:pPr>
            <a:r>
              <a:rPr lang="en-US" sz="2354">
                <a:solidFill>
                  <a:srgbClr val="363E52"/>
                </a:solidFill>
                <a:latin typeface="Open Sauce"/>
                <a:ea typeface="Open Sauce"/>
                <a:cs typeface="Open Sauce"/>
                <a:sym typeface="Open Sauce"/>
              </a:rPr>
              <a:t>Created Feature:</a:t>
            </a:r>
          </a:p>
          <a:p>
            <a:pPr algn="l" marL="0" indent="0" lvl="0">
              <a:lnSpc>
                <a:spcPts val="3296"/>
              </a:lnSpc>
            </a:pPr>
            <a:r>
              <a:rPr lang="en-US" sz="2354">
                <a:solidFill>
                  <a:srgbClr val="363E52"/>
                </a:solidFill>
                <a:latin typeface="Open Sauce"/>
                <a:ea typeface="Open Sauce"/>
                <a:cs typeface="Open Sauce"/>
                <a:sym typeface="Open Sauce"/>
              </a:rPr>
              <a:t>Neuro Activity Index</a:t>
            </a:r>
          </a:p>
          <a:p>
            <a:pPr algn="l" marL="0" indent="0" lvl="0">
              <a:lnSpc>
                <a:spcPts val="3296"/>
              </a:lnSpc>
            </a:pPr>
            <a:r>
              <a:rPr lang="en-US" sz="2354">
                <a:solidFill>
                  <a:srgbClr val="363E52"/>
                </a:solidFill>
                <a:latin typeface="Open Sauce"/>
                <a:ea typeface="Open Sauce"/>
                <a:cs typeface="Open Sauce"/>
                <a:sym typeface="Open Sauce"/>
              </a:rPr>
              <a:t>Formula</a:t>
            </a:r>
          </a:p>
          <a:p>
            <a:pPr algn="l" marL="0" indent="0" lvl="0">
              <a:lnSpc>
                <a:spcPts val="3296"/>
              </a:lnSpc>
            </a:pPr>
            <a:r>
              <a:rPr lang="en-US" sz="2354">
                <a:solidFill>
                  <a:srgbClr val="363E52"/>
                </a:solidFill>
                <a:latin typeface="Open Sauce"/>
                <a:ea typeface="Open Sauce"/>
                <a:cs typeface="Open Sauce"/>
                <a:sym typeface="Open Sauce"/>
              </a:rPr>
              <a:t>Average expression of:</a:t>
            </a:r>
          </a:p>
          <a:p>
            <a:pPr algn="l" marL="508294" indent="-254147" lvl="1">
              <a:lnSpc>
                <a:spcPts val="3296"/>
              </a:lnSpc>
              <a:buFont typeface="Arial"/>
              <a:buChar char="•"/>
            </a:pPr>
            <a:r>
              <a:rPr lang="en-US" sz="2354">
                <a:solidFill>
                  <a:srgbClr val="363E52"/>
                </a:solidFill>
                <a:latin typeface="Open Sauce"/>
                <a:ea typeface="Open Sauce"/>
                <a:cs typeface="Open Sauce"/>
                <a:sym typeface="Open Sauce"/>
              </a:rPr>
              <a:t>SGIP1</a:t>
            </a:r>
          </a:p>
          <a:p>
            <a:pPr algn="l" marL="508294" indent="-254147" lvl="1">
              <a:lnSpc>
                <a:spcPts val="3296"/>
              </a:lnSpc>
              <a:buFont typeface="Arial"/>
              <a:buChar char="•"/>
            </a:pPr>
            <a:r>
              <a:rPr lang="en-US" sz="2354">
                <a:solidFill>
                  <a:srgbClr val="363E52"/>
                </a:solidFill>
                <a:latin typeface="Open Sauce"/>
                <a:ea typeface="Open Sauce"/>
                <a:cs typeface="Open Sauce"/>
                <a:sym typeface="Open Sauce"/>
              </a:rPr>
              <a:t>CLIC4</a:t>
            </a:r>
          </a:p>
          <a:p>
            <a:pPr algn="l" marL="508294" indent="-254147" lvl="1">
              <a:lnSpc>
                <a:spcPts val="3296"/>
              </a:lnSpc>
              <a:buFont typeface="Arial"/>
              <a:buChar char="•"/>
            </a:pPr>
            <a:r>
              <a:rPr lang="en-US" sz="2354">
                <a:solidFill>
                  <a:srgbClr val="363E52"/>
                </a:solidFill>
                <a:latin typeface="Open Sauce"/>
                <a:ea typeface="Open Sauce"/>
                <a:cs typeface="Open Sauce"/>
                <a:sym typeface="Open Sauce"/>
              </a:rPr>
              <a:t>CAMTA1</a:t>
            </a:r>
          </a:p>
          <a:p>
            <a:pPr algn="l" marL="0" indent="0" lvl="0">
              <a:lnSpc>
                <a:spcPts val="3296"/>
              </a:lnSpc>
            </a:pPr>
            <a:r>
              <a:rPr lang="en-US" sz="2354">
                <a:solidFill>
                  <a:srgbClr val="363E52"/>
                </a:solidFill>
                <a:latin typeface="Open Sauce"/>
                <a:ea typeface="Open Sauce"/>
                <a:cs typeface="Open Sauce"/>
                <a:sym typeface="Open Sauce"/>
              </a:rPr>
              <a:t>Purpose</a:t>
            </a:r>
          </a:p>
          <a:p>
            <a:pPr algn="l" marL="0" indent="0" lvl="0">
              <a:lnSpc>
                <a:spcPts val="3296"/>
              </a:lnSpc>
            </a:pPr>
            <a:r>
              <a:rPr lang="en-US" sz="2354">
                <a:solidFill>
                  <a:srgbClr val="363E52"/>
                </a:solidFill>
                <a:latin typeface="Open Sauce"/>
                <a:ea typeface="Open Sauce"/>
                <a:cs typeface="Open Sauce"/>
                <a:sym typeface="Open Sauce"/>
              </a:rPr>
              <a:t>Combine multiple biological signals into one feature to:</a:t>
            </a:r>
          </a:p>
          <a:p>
            <a:pPr algn="l" marL="508294" indent="-254147" lvl="1">
              <a:lnSpc>
                <a:spcPts val="3296"/>
              </a:lnSpc>
              <a:buFont typeface="Arial"/>
              <a:buChar char="•"/>
            </a:pPr>
            <a:r>
              <a:rPr lang="en-US" sz="2354">
                <a:solidFill>
                  <a:srgbClr val="363E52"/>
                </a:solidFill>
                <a:latin typeface="Open Sauce"/>
                <a:ea typeface="Open Sauce"/>
                <a:cs typeface="Open Sauce"/>
                <a:sym typeface="Open Sauce"/>
              </a:rPr>
              <a:t>Capture neurological activity patterns</a:t>
            </a:r>
          </a:p>
          <a:p>
            <a:pPr algn="l" marL="508294" indent="-254147" lvl="1">
              <a:lnSpc>
                <a:spcPts val="3296"/>
              </a:lnSpc>
              <a:buFont typeface="Arial"/>
              <a:buChar char="•"/>
            </a:pPr>
            <a:r>
              <a:rPr lang="en-US" sz="2354">
                <a:solidFill>
                  <a:srgbClr val="363E52"/>
                </a:solidFill>
                <a:latin typeface="Open Sauce"/>
                <a:ea typeface="Open Sauce"/>
                <a:cs typeface="Open Sauce"/>
                <a:sym typeface="Open Sauce"/>
              </a:rPr>
              <a:t>Improve disease discrimination</a:t>
            </a:r>
          </a:p>
          <a:p>
            <a:pPr algn="l" marL="0" indent="0" lvl="0">
              <a:lnSpc>
                <a:spcPts val="3296"/>
              </a:lnSpc>
            </a:pPr>
          </a:p>
          <a:p>
            <a:pPr algn="l" marL="0" indent="0" lvl="0">
              <a:lnSpc>
                <a:spcPts val="3296"/>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4640889" y="-8264348"/>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9275291">
            <a:off x="14294035" y="750072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2"/>
            <a:stretch>
              <a:fillRect l="0" t="0" r="0" b="0"/>
            </a:stretch>
          </a:blipFill>
        </p:spPr>
      </p:sp>
      <p:sp>
        <p:nvSpPr>
          <p:cNvPr name="Freeform 6" id="6"/>
          <p:cNvSpPr/>
          <p:nvPr/>
        </p:nvSpPr>
        <p:spPr>
          <a:xfrm flipH="true" flipV="false" rot="-9144663">
            <a:off x="-1936565" y="7454662"/>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2"/>
            <a:stretch>
              <a:fillRect l="0" t="0" r="0" b="0"/>
            </a:stretch>
          </a:blipFill>
        </p:spPr>
      </p:sp>
      <p:sp>
        <p:nvSpPr>
          <p:cNvPr name="TextBox 7" id="7"/>
          <p:cNvSpPr txBox="true"/>
          <p:nvPr/>
        </p:nvSpPr>
        <p:spPr>
          <a:xfrm rot="0">
            <a:off x="2687391" y="650188"/>
            <a:ext cx="12913218" cy="1346819"/>
          </a:xfrm>
          <a:prstGeom prst="rect">
            <a:avLst/>
          </a:prstGeom>
        </p:spPr>
        <p:txBody>
          <a:bodyPr anchor="t" rtlCol="false" tIns="0" lIns="0" bIns="0" rIns="0">
            <a:spAutoFit/>
          </a:bodyPr>
          <a:lstStyle/>
          <a:p>
            <a:pPr algn="ctr" marL="0" indent="0" lvl="0">
              <a:lnSpc>
                <a:spcPts val="10612"/>
              </a:lnSpc>
            </a:pPr>
            <a:r>
              <a:rPr lang="en-US" b="true" sz="8993">
                <a:solidFill>
                  <a:srgbClr val="363E52"/>
                </a:solidFill>
                <a:latin typeface="Montserrat Semi-Bold"/>
                <a:ea typeface="Montserrat Semi-Bold"/>
                <a:cs typeface="Montserrat Semi-Bold"/>
                <a:sym typeface="Montserrat Semi-Bold"/>
              </a:rPr>
              <a:t>Feature Selection</a:t>
            </a:r>
          </a:p>
        </p:txBody>
      </p:sp>
      <p:sp>
        <p:nvSpPr>
          <p:cNvPr name="TextBox 8" id="8"/>
          <p:cNvSpPr txBox="true"/>
          <p:nvPr/>
        </p:nvSpPr>
        <p:spPr>
          <a:xfrm rot="0">
            <a:off x="2687391" y="2444918"/>
            <a:ext cx="12548286" cy="7176401"/>
          </a:xfrm>
          <a:prstGeom prst="rect">
            <a:avLst/>
          </a:prstGeom>
        </p:spPr>
        <p:txBody>
          <a:bodyPr anchor="t" rtlCol="false" tIns="0" lIns="0" bIns="0" rIns="0">
            <a:spAutoFit/>
          </a:bodyPr>
          <a:lstStyle/>
          <a:p>
            <a:pPr algn="l">
              <a:lnSpc>
                <a:spcPts val="3772"/>
              </a:lnSpc>
              <a:spcBef>
                <a:spcPct val="0"/>
              </a:spcBef>
            </a:pPr>
            <a:r>
              <a:rPr lang="en-US" sz="3197">
                <a:solidFill>
                  <a:srgbClr val="363E52"/>
                </a:solidFill>
                <a:latin typeface="Open Sauce"/>
                <a:ea typeface="Open Sauce"/>
                <a:cs typeface="Open Sauce"/>
                <a:sym typeface="Open Sauce"/>
              </a:rPr>
              <a:t>Feature Selection</a:t>
            </a:r>
          </a:p>
          <a:p>
            <a:pPr algn="l">
              <a:lnSpc>
                <a:spcPts val="3772"/>
              </a:lnSpc>
              <a:spcBef>
                <a:spcPct val="0"/>
              </a:spcBef>
            </a:pPr>
            <a:r>
              <a:rPr lang="en-US" sz="3197">
                <a:solidFill>
                  <a:srgbClr val="363E52"/>
                </a:solidFill>
                <a:latin typeface="Open Sauce"/>
                <a:ea typeface="Open Sauce"/>
                <a:cs typeface="Open Sauce"/>
                <a:sym typeface="Open Sauce"/>
              </a:rPr>
              <a:t>Why Feature Selection?</a:t>
            </a:r>
          </a:p>
          <a:p>
            <a:pPr algn="l">
              <a:lnSpc>
                <a:spcPts val="3772"/>
              </a:lnSpc>
              <a:spcBef>
                <a:spcPct val="0"/>
              </a:spcBef>
            </a:pPr>
            <a:r>
              <a:rPr lang="en-US" sz="3197">
                <a:solidFill>
                  <a:srgbClr val="363E52"/>
                </a:solidFill>
                <a:latin typeface="Open Sauce"/>
                <a:ea typeface="Open Sauce"/>
                <a:cs typeface="Open Sauce"/>
                <a:sym typeface="Open Sauce"/>
              </a:rPr>
              <a:t>Using all 25,000+ genes may cause:</a:t>
            </a:r>
          </a:p>
          <a:p>
            <a:pPr algn="l">
              <a:lnSpc>
                <a:spcPts val="3772"/>
              </a:lnSpc>
              <a:spcBef>
                <a:spcPct val="0"/>
              </a:spcBef>
            </a:pPr>
          </a:p>
          <a:p>
            <a:pPr algn="l">
              <a:lnSpc>
                <a:spcPts val="3772"/>
              </a:lnSpc>
              <a:spcBef>
                <a:spcPct val="0"/>
              </a:spcBef>
            </a:pPr>
            <a:r>
              <a:rPr lang="en-US" sz="3197">
                <a:solidFill>
                  <a:srgbClr val="363E52"/>
                </a:solidFill>
                <a:latin typeface="Open Sauce"/>
                <a:ea typeface="Open Sauce"/>
                <a:cs typeface="Open Sauce"/>
                <a:sym typeface="Open Sauce"/>
              </a:rPr>
              <a:t>Overfitting</a:t>
            </a:r>
          </a:p>
          <a:p>
            <a:pPr algn="l">
              <a:lnSpc>
                <a:spcPts val="3772"/>
              </a:lnSpc>
              <a:spcBef>
                <a:spcPct val="0"/>
              </a:spcBef>
            </a:pPr>
            <a:r>
              <a:rPr lang="en-US" sz="3197">
                <a:solidFill>
                  <a:srgbClr val="363E52"/>
                </a:solidFill>
                <a:latin typeface="Open Sauce"/>
                <a:ea typeface="Open Sauce"/>
                <a:cs typeface="Open Sauce"/>
                <a:sym typeface="Open Sauce"/>
              </a:rPr>
              <a:t>High computational cost</a:t>
            </a:r>
          </a:p>
          <a:p>
            <a:pPr algn="l">
              <a:lnSpc>
                <a:spcPts val="3772"/>
              </a:lnSpc>
              <a:spcBef>
                <a:spcPct val="0"/>
              </a:spcBef>
            </a:pPr>
            <a:r>
              <a:rPr lang="en-US" sz="3197">
                <a:solidFill>
                  <a:srgbClr val="363E52"/>
                </a:solidFill>
                <a:latin typeface="Open Sauce"/>
                <a:ea typeface="Open Sauce"/>
                <a:cs typeface="Open Sauce"/>
                <a:sym typeface="Open Sauce"/>
              </a:rPr>
              <a:t>Reduced interpretability</a:t>
            </a:r>
          </a:p>
          <a:p>
            <a:pPr algn="l">
              <a:lnSpc>
                <a:spcPts val="3772"/>
              </a:lnSpc>
              <a:spcBef>
                <a:spcPct val="0"/>
              </a:spcBef>
            </a:pPr>
          </a:p>
          <a:p>
            <a:pPr algn="l">
              <a:lnSpc>
                <a:spcPts val="3772"/>
              </a:lnSpc>
              <a:spcBef>
                <a:spcPct val="0"/>
              </a:spcBef>
            </a:pPr>
            <a:r>
              <a:rPr lang="en-US" sz="3197">
                <a:solidFill>
                  <a:srgbClr val="363E52"/>
                </a:solidFill>
                <a:latin typeface="Open Sauce"/>
                <a:ea typeface="Open Sauce"/>
                <a:cs typeface="Open Sauce"/>
                <a:sym typeface="Open Sauce"/>
              </a:rPr>
              <a:t>Method Used</a:t>
            </a:r>
          </a:p>
          <a:p>
            <a:pPr algn="l">
              <a:lnSpc>
                <a:spcPts val="3772"/>
              </a:lnSpc>
              <a:spcBef>
                <a:spcPct val="0"/>
              </a:spcBef>
            </a:pPr>
            <a:r>
              <a:rPr lang="en-US" sz="3197">
                <a:solidFill>
                  <a:srgbClr val="363E52"/>
                </a:solidFill>
                <a:latin typeface="Open Sauce"/>
                <a:ea typeface="Open Sauce"/>
                <a:cs typeface="Open Sauce"/>
                <a:sym typeface="Open Sauce"/>
              </a:rPr>
              <a:t>SelectKBest</a:t>
            </a:r>
          </a:p>
          <a:p>
            <a:pPr algn="l">
              <a:lnSpc>
                <a:spcPts val="3772"/>
              </a:lnSpc>
              <a:spcBef>
                <a:spcPct val="0"/>
              </a:spcBef>
            </a:pPr>
            <a:r>
              <a:rPr lang="en-US" sz="3197">
                <a:solidFill>
                  <a:srgbClr val="363E52"/>
                </a:solidFill>
                <a:latin typeface="Open Sauce"/>
                <a:ea typeface="Open Sauce"/>
                <a:cs typeface="Open Sauce"/>
                <a:sym typeface="Open Sauce"/>
              </a:rPr>
              <a:t>ANOVA F-test</a:t>
            </a:r>
          </a:p>
          <a:p>
            <a:pPr algn="l">
              <a:lnSpc>
                <a:spcPts val="3772"/>
              </a:lnSpc>
              <a:spcBef>
                <a:spcPct val="0"/>
              </a:spcBef>
            </a:pPr>
          </a:p>
          <a:p>
            <a:pPr algn="l">
              <a:lnSpc>
                <a:spcPts val="3772"/>
              </a:lnSpc>
              <a:spcBef>
                <a:spcPct val="0"/>
              </a:spcBef>
            </a:pPr>
            <a:r>
              <a:rPr lang="en-US" sz="3197">
                <a:solidFill>
                  <a:srgbClr val="363E52"/>
                </a:solidFill>
                <a:latin typeface="Open Sauce"/>
                <a:ea typeface="Open Sauce"/>
                <a:cs typeface="Open Sauce"/>
                <a:sym typeface="Open Sauce"/>
              </a:rPr>
              <a:t>Goal</a:t>
            </a:r>
          </a:p>
          <a:p>
            <a:pPr algn="l">
              <a:lnSpc>
                <a:spcPts val="3772"/>
              </a:lnSpc>
              <a:spcBef>
                <a:spcPct val="0"/>
              </a:spcBef>
            </a:pPr>
            <a:r>
              <a:rPr lang="en-US" sz="3197">
                <a:solidFill>
                  <a:srgbClr val="363E52"/>
                </a:solidFill>
                <a:latin typeface="Open Sauce"/>
                <a:ea typeface="Open Sauce"/>
                <a:cs typeface="Open Sauce"/>
                <a:sym typeface="Open Sauce"/>
              </a:rPr>
              <a:t>Select the most informative genes associated with Alzheimer’s disease.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278052" cy="10287000"/>
          </a:xfrm>
          <a:custGeom>
            <a:avLst/>
            <a:gdLst/>
            <a:ahLst/>
            <a:cxnLst/>
            <a:rect r="r" b="b" t="t" l="l"/>
            <a:pathLst>
              <a:path h="10287000" w="7278052">
                <a:moveTo>
                  <a:pt x="0" y="0"/>
                </a:moveTo>
                <a:lnTo>
                  <a:pt x="7278052" y="0"/>
                </a:lnTo>
                <a:lnTo>
                  <a:pt x="7278052"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227585" y="781862"/>
            <a:ext cx="2718324" cy="1712544"/>
          </a:xfrm>
          <a:custGeom>
            <a:avLst/>
            <a:gdLst/>
            <a:ahLst/>
            <a:cxnLst/>
            <a:rect r="r" b="b" t="t" l="l"/>
            <a:pathLst>
              <a:path h="1712544" w="2718324">
                <a:moveTo>
                  <a:pt x="0" y="0"/>
                </a:moveTo>
                <a:lnTo>
                  <a:pt x="2718324" y="0"/>
                </a:lnTo>
                <a:lnTo>
                  <a:pt x="2718324" y="1712544"/>
                </a:lnTo>
                <a:lnTo>
                  <a:pt x="0" y="1712544"/>
                </a:lnTo>
                <a:lnTo>
                  <a:pt x="0" y="0"/>
                </a:lnTo>
                <a:close/>
              </a:path>
            </a:pathLst>
          </a:custGeom>
          <a:blipFill>
            <a:blip r:embed="rId3"/>
            <a:stretch>
              <a:fillRect l="0" t="0" r="0" b="0"/>
            </a:stretch>
          </a:blipFill>
        </p:spPr>
      </p:sp>
      <p:sp>
        <p:nvSpPr>
          <p:cNvPr name="TextBox 4" id="4"/>
          <p:cNvSpPr txBox="true"/>
          <p:nvPr/>
        </p:nvSpPr>
        <p:spPr>
          <a:xfrm rot="0">
            <a:off x="4051038" y="795230"/>
            <a:ext cx="8115300" cy="842904"/>
          </a:xfrm>
          <a:prstGeom prst="rect">
            <a:avLst/>
          </a:prstGeom>
        </p:spPr>
        <p:txBody>
          <a:bodyPr anchor="t" rtlCol="false" tIns="0" lIns="0" bIns="0" rIns="0">
            <a:spAutoFit/>
          </a:bodyPr>
          <a:lstStyle/>
          <a:p>
            <a:pPr algn="l" marL="0" indent="0" lvl="0">
              <a:lnSpc>
                <a:spcPts val="6610"/>
              </a:lnSpc>
            </a:pPr>
            <a:r>
              <a:rPr lang="en-US" b="true" sz="5601">
                <a:solidFill>
                  <a:srgbClr val="363E52"/>
                </a:solidFill>
                <a:latin typeface="Montserrat Semi-Bold"/>
                <a:ea typeface="Montserrat Semi-Bold"/>
                <a:cs typeface="Montserrat Semi-Bold"/>
                <a:sym typeface="Montserrat Semi-Bold"/>
              </a:rPr>
              <a:t>Top Selected Features</a:t>
            </a:r>
          </a:p>
        </p:txBody>
      </p:sp>
      <p:sp>
        <p:nvSpPr>
          <p:cNvPr name="TextBox 5" id="5"/>
          <p:cNvSpPr txBox="true"/>
          <p:nvPr/>
        </p:nvSpPr>
        <p:spPr>
          <a:xfrm rot="0">
            <a:off x="7635029" y="1821924"/>
            <a:ext cx="13562428" cy="7847523"/>
          </a:xfrm>
          <a:prstGeom prst="rect">
            <a:avLst/>
          </a:prstGeom>
        </p:spPr>
        <p:txBody>
          <a:bodyPr anchor="t" rtlCol="false" tIns="0" lIns="0" bIns="0" rIns="0">
            <a:spAutoFit/>
          </a:bodyPr>
          <a:lstStyle/>
          <a:p>
            <a:pPr algn="l" marL="0" indent="0" lvl="0">
              <a:lnSpc>
                <a:spcPts val="3292"/>
              </a:lnSpc>
            </a:pPr>
            <a:r>
              <a:rPr lang="en-US" sz="2351">
                <a:solidFill>
                  <a:srgbClr val="363E52"/>
                </a:solidFill>
                <a:latin typeface="Open Sauce"/>
                <a:ea typeface="Open Sauce"/>
                <a:cs typeface="Open Sauce"/>
                <a:sym typeface="Open Sauce"/>
              </a:rPr>
              <a:t>Selected Features</a:t>
            </a:r>
          </a:p>
          <a:p>
            <a:pPr algn="l" marL="0" indent="0" lvl="0">
              <a:lnSpc>
                <a:spcPts val="3292"/>
              </a:lnSpc>
            </a:pPr>
            <a:r>
              <a:rPr lang="en-US" sz="2351">
                <a:solidFill>
                  <a:srgbClr val="363E52"/>
                </a:solidFill>
                <a:latin typeface="Open Sauce"/>
                <a:ea typeface="Open Sauce"/>
                <a:cs typeface="Open Sauce"/>
                <a:sym typeface="Open Sauce"/>
              </a:rPr>
              <a:t>Top 10 Features</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ERI3-IT1</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DPH2</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LHX4-AS1</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MBNL1-AS1</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LOC101926975</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DNAH11</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RABGEF1</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ZNF596</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ZNF449</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CCDC144CP</a:t>
            </a:r>
          </a:p>
          <a:p>
            <a:pPr algn="l" marL="0" indent="0" lvl="0">
              <a:lnSpc>
                <a:spcPts val="3292"/>
              </a:lnSpc>
            </a:pPr>
            <a:r>
              <a:rPr lang="en-US" sz="2351">
                <a:solidFill>
                  <a:srgbClr val="363E52"/>
                </a:solidFill>
                <a:latin typeface="Open Sauce"/>
                <a:ea typeface="Open Sauce"/>
                <a:cs typeface="Open Sauce"/>
                <a:sym typeface="Open Sauce"/>
              </a:rPr>
              <a:t>Top 3 Features</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ERI3-IT1</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DPH2</a:t>
            </a:r>
          </a:p>
          <a:p>
            <a:pPr algn="l" marL="507747" indent="-253874" lvl="1">
              <a:lnSpc>
                <a:spcPts val="3292"/>
              </a:lnSpc>
              <a:buFont typeface="Arial"/>
              <a:buChar char="•"/>
            </a:pPr>
            <a:r>
              <a:rPr lang="en-US" sz="2351">
                <a:solidFill>
                  <a:srgbClr val="363E52"/>
                </a:solidFill>
                <a:latin typeface="Open Sauce"/>
                <a:ea typeface="Open Sauce"/>
                <a:cs typeface="Open Sauce"/>
                <a:sym typeface="Open Sauce"/>
              </a:rPr>
              <a:t>LHX4-AS1</a:t>
            </a:r>
          </a:p>
          <a:p>
            <a:pPr algn="l" marL="0" indent="0" lvl="0">
              <a:lnSpc>
                <a:spcPts val="3292"/>
              </a:lnSpc>
            </a:pPr>
            <a:r>
              <a:rPr lang="en-US" sz="2351">
                <a:solidFill>
                  <a:srgbClr val="363E52"/>
                </a:solidFill>
                <a:latin typeface="Open Sauce"/>
                <a:ea typeface="Open Sauce"/>
                <a:cs typeface="Open Sauce"/>
                <a:sym typeface="Open Sauce"/>
              </a:rPr>
              <a:t>Importance</a:t>
            </a:r>
          </a:p>
          <a:p>
            <a:pPr algn="l" marL="0" indent="0" lvl="0">
              <a:lnSpc>
                <a:spcPts val="3292"/>
              </a:lnSpc>
            </a:pPr>
            <a:r>
              <a:rPr lang="en-US" sz="2351">
                <a:solidFill>
                  <a:srgbClr val="363E52"/>
                </a:solidFill>
                <a:latin typeface="Open Sauce"/>
                <a:ea typeface="Open Sauce"/>
                <a:cs typeface="Open Sauce"/>
                <a:sym typeface="Open Sauce"/>
              </a:rPr>
              <a:t>These genes provided the strongest classification signal.</a:t>
            </a:r>
          </a:p>
          <a:p>
            <a:pPr algn="l" marL="0" indent="0" lvl="0">
              <a:lnSpc>
                <a:spcPts val="3292"/>
              </a:lnSpc>
            </a:pP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5400000">
            <a:off x="4064812" y="-8170723"/>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0" y="1094339"/>
            <a:ext cx="7576594" cy="782349"/>
          </a:xfrm>
          <a:prstGeom prst="rect">
            <a:avLst/>
          </a:prstGeom>
        </p:spPr>
        <p:txBody>
          <a:bodyPr anchor="t" rtlCol="false" tIns="0" lIns="0" bIns="0" rIns="0">
            <a:spAutoFit/>
          </a:bodyPr>
          <a:lstStyle/>
          <a:p>
            <a:pPr algn="ctr" marL="0" indent="0" lvl="0">
              <a:lnSpc>
                <a:spcPts val="6226"/>
              </a:lnSpc>
            </a:pPr>
            <a:r>
              <a:rPr lang="en-US" b="true" sz="5276">
                <a:solidFill>
                  <a:srgbClr val="363E52"/>
                </a:solidFill>
                <a:latin typeface="Montserrat Semi-Bold"/>
                <a:ea typeface="Montserrat Semi-Bold"/>
                <a:cs typeface="Montserrat Semi-Bold"/>
                <a:sym typeface="Montserrat Semi-Bold"/>
              </a:rPr>
              <a:t>Validation Strategy</a:t>
            </a:r>
          </a:p>
        </p:txBody>
      </p:sp>
      <p:sp>
        <p:nvSpPr>
          <p:cNvPr name="TextBox 6" id="6"/>
          <p:cNvSpPr txBox="true"/>
          <p:nvPr/>
        </p:nvSpPr>
        <p:spPr>
          <a:xfrm rot="0">
            <a:off x="339384" y="2322688"/>
            <a:ext cx="8804616" cy="7531240"/>
          </a:xfrm>
          <a:prstGeom prst="rect">
            <a:avLst/>
          </a:prstGeom>
        </p:spPr>
        <p:txBody>
          <a:bodyPr anchor="t" rtlCol="false" tIns="0" lIns="0" bIns="0" rIns="0">
            <a:spAutoFit/>
          </a:bodyPr>
          <a:lstStyle/>
          <a:p>
            <a:pPr algn="just">
              <a:lnSpc>
                <a:spcPts val="3317"/>
              </a:lnSpc>
              <a:spcBef>
                <a:spcPct val="0"/>
              </a:spcBef>
            </a:pPr>
            <a:r>
              <a:rPr lang="en-US" b="true" sz="2369">
                <a:solidFill>
                  <a:srgbClr val="363E52"/>
                </a:solidFill>
                <a:latin typeface="Open Sauce Bold"/>
                <a:ea typeface="Open Sauce Bold"/>
                <a:cs typeface="Open Sauce Bold"/>
                <a:sym typeface="Open Sauce Bold"/>
              </a:rPr>
              <a:t>Validation and Generalization</a:t>
            </a:r>
          </a:p>
          <a:p>
            <a:pPr algn="just">
              <a:lnSpc>
                <a:spcPts val="3317"/>
              </a:lnSpc>
              <a:spcBef>
                <a:spcPct val="0"/>
              </a:spcBef>
            </a:pPr>
            <a:r>
              <a:rPr lang="en-US" sz="2369">
                <a:solidFill>
                  <a:srgbClr val="363E52"/>
                </a:solidFill>
                <a:latin typeface="Open Sauce"/>
                <a:ea typeface="Open Sauce"/>
                <a:cs typeface="Open Sauce"/>
                <a:sym typeface="Open Sauce"/>
              </a:rPr>
              <a:t>Validation Techniques Used</a:t>
            </a:r>
          </a:p>
          <a:p>
            <a:pPr algn="just">
              <a:lnSpc>
                <a:spcPts val="3317"/>
              </a:lnSpc>
              <a:spcBef>
                <a:spcPct val="0"/>
              </a:spcBef>
            </a:pPr>
            <a:r>
              <a:rPr lang="en-US" sz="2369">
                <a:solidFill>
                  <a:srgbClr val="363E52"/>
                </a:solidFill>
                <a:latin typeface="Open Sauce"/>
                <a:ea typeface="Open Sauce"/>
                <a:cs typeface="Open Sauce"/>
                <a:sym typeface="Open Sauce"/>
              </a:rPr>
              <a:t>Train-test split</a:t>
            </a:r>
          </a:p>
          <a:p>
            <a:pPr algn="just">
              <a:lnSpc>
                <a:spcPts val="3317"/>
              </a:lnSpc>
              <a:spcBef>
                <a:spcPct val="0"/>
              </a:spcBef>
            </a:pPr>
            <a:r>
              <a:rPr lang="en-US" sz="2369">
                <a:solidFill>
                  <a:srgbClr val="363E52"/>
                </a:solidFill>
                <a:latin typeface="Open Sauce"/>
                <a:ea typeface="Open Sauce"/>
                <a:cs typeface="Open Sauce"/>
                <a:sym typeface="Open Sauce"/>
              </a:rPr>
              <a:t>Cross-validation</a:t>
            </a:r>
          </a:p>
          <a:p>
            <a:pPr algn="just">
              <a:lnSpc>
                <a:spcPts val="3317"/>
              </a:lnSpc>
              <a:spcBef>
                <a:spcPct val="0"/>
              </a:spcBef>
            </a:pPr>
          </a:p>
          <a:p>
            <a:pPr algn="just">
              <a:lnSpc>
                <a:spcPts val="3317"/>
              </a:lnSpc>
              <a:spcBef>
                <a:spcPct val="0"/>
              </a:spcBef>
            </a:pPr>
            <a:r>
              <a:rPr lang="en-US" b="true" sz="2369">
                <a:solidFill>
                  <a:srgbClr val="363E52"/>
                </a:solidFill>
                <a:latin typeface="Open Sauce Bold"/>
                <a:ea typeface="Open Sauce Bold"/>
                <a:cs typeface="Open Sauce Bold"/>
                <a:sym typeface="Open Sauce Bold"/>
              </a:rPr>
              <a:t>Why Validation Matters</a:t>
            </a:r>
          </a:p>
          <a:p>
            <a:pPr algn="just">
              <a:lnSpc>
                <a:spcPts val="3317"/>
              </a:lnSpc>
              <a:spcBef>
                <a:spcPct val="0"/>
              </a:spcBef>
            </a:pPr>
            <a:r>
              <a:rPr lang="en-US" sz="2369">
                <a:solidFill>
                  <a:srgbClr val="363E52"/>
                </a:solidFill>
                <a:latin typeface="Open Sauce"/>
                <a:ea typeface="Open Sauce"/>
                <a:cs typeface="Open Sauce"/>
                <a:sym typeface="Open Sauce"/>
              </a:rPr>
              <a:t>Prevents:</a:t>
            </a:r>
          </a:p>
          <a:p>
            <a:pPr algn="just">
              <a:lnSpc>
                <a:spcPts val="3317"/>
              </a:lnSpc>
              <a:spcBef>
                <a:spcPct val="0"/>
              </a:spcBef>
            </a:pPr>
            <a:r>
              <a:rPr lang="en-US" sz="2369">
                <a:solidFill>
                  <a:srgbClr val="363E52"/>
                </a:solidFill>
                <a:latin typeface="Open Sauce"/>
                <a:ea typeface="Open Sauce"/>
                <a:cs typeface="Open Sauce"/>
                <a:sym typeface="Open Sauce"/>
              </a:rPr>
              <a:t>Overfitting</a:t>
            </a:r>
          </a:p>
          <a:p>
            <a:pPr algn="just">
              <a:lnSpc>
                <a:spcPts val="3317"/>
              </a:lnSpc>
              <a:spcBef>
                <a:spcPct val="0"/>
              </a:spcBef>
            </a:pPr>
            <a:r>
              <a:rPr lang="en-US" sz="2369">
                <a:solidFill>
                  <a:srgbClr val="363E52"/>
                </a:solidFill>
                <a:latin typeface="Open Sauce"/>
                <a:ea typeface="Open Sauce"/>
                <a:cs typeface="Open Sauce"/>
                <a:sym typeface="Open Sauce"/>
              </a:rPr>
              <a:t>Memorization of training data</a:t>
            </a:r>
          </a:p>
          <a:p>
            <a:pPr algn="just">
              <a:lnSpc>
                <a:spcPts val="3317"/>
              </a:lnSpc>
              <a:spcBef>
                <a:spcPct val="0"/>
              </a:spcBef>
            </a:pPr>
          </a:p>
          <a:p>
            <a:pPr algn="just">
              <a:lnSpc>
                <a:spcPts val="3317"/>
              </a:lnSpc>
              <a:spcBef>
                <a:spcPct val="0"/>
              </a:spcBef>
            </a:pPr>
            <a:r>
              <a:rPr lang="en-US" b="true" sz="2369">
                <a:solidFill>
                  <a:srgbClr val="363E52"/>
                </a:solidFill>
                <a:latin typeface="Open Sauce Bold"/>
                <a:ea typeface="Open Sauce Bold"/>
                <a:cs typeface="Open Sauce Bold"/>
                <a:sym typeface="Open Sauce Bold"/>
              </a:rPr>
              <a:t>Ensures:</a:t>
            </a:r>
          </a:p>
          <a:p>
            <a:pPr algn="just">
              <a:lnSpc>
                <a:spcPts val="3317"/>
              </a:lnSpc>
              <a:spcBef>
                <a:spcPct val="0"/>
              </a:spcBef>
            </a:pPr>
            <a:r>
              <a:rPr lang="en-US" sz="2369">
                <a:solidFill>
                  <a:srgbClr val="363E52"/>
                </a:solidFill>
                <a:latin typeface="Open Sauce"/>
                <a:ea typeface="Open Sauce"/>
                <a:cs typeface="Open Sauce"/>
                <a:sym typeface="Open Sauce"/>
              </a:rPr>
              <a:t>Reliable performance</a:t>
            </a:r>
          </a:p>
          <a:p>
            <a:pPr algn="just">
              <a:lnSpc>
                <a:spcPts val="3317"/>
              </a:lnSpc>
              <a:spcBef>
                <a:spcPct val="0"/>
              </a:spcBef>
            </a:pPr>
            <a:r>
              <a:rPr lang="en-US" sz="2369">
                <a:solidFill>
                  <a:srgbClr val="363E52"/>
                </a:solidFill>
                <a:latin typeface="Open Sauce"/>
                <a:ea typeface="Open Sauce"/>
                <a:cs typeface="Open Sauce"/>
                <a:sym typeface="Open Sauce"/>
              </a:rPr>
              <a:t>Better generalization to unseen data</a:t>
            </a:r>
          </a:p>
          <a:p>
            <a:pPr algn="just">
              <a:lnSpc>
                <a:spcPts val="3317"/>
              </a:lnSpc>
              <a:spcBef>
                <a:spcPct val="0"/>
              </a:spcBef>
            </a:pPr>
            <a:r>
              <a:rPr lang="en-US" sz="2369">
                <a:solidFill>
                  <a:srgbClr val="363E52"/>
                </a:solidFill>
                <a:latin typeface="Open Sauce"/>
                <a:ea typeface="Open Sauce"/>
                <a:cs typeface="Open Sauce"/>
                <a:sym typeface="Open Sauce"/>
              </a:rPr>
              <a:t>Importance in Bioinformatics</a:t>
            </a:r>
          </a:p>
          <a:p>
            <a:pPr algn="just">
              <a:lnSpc>
                <a:spcPts val="3317"/>
              </a:lnSpc>
              <a:spcBef>
                <a:spcPct val="0"/>
              </a:spcBef>
            </a:pPr>
          </a:p>
          <a:p>
            <a:pPr algn="just">
              <a:lnSpc>
                <a:spcPts val="3317"/>
              </a:lnSpc>
              <a:spcBef>
                <a:spcPct val="0"/>
              </a:spcBef>
            </a:pPr>
            <a:r>
              <a:rPr lang="en-US" b="true" sz="2369">
                <a:solidFill>
                  <a:srgbClr val="363E52"/>
                </a:solidFill>
                <a:latin typeface="Open Sauce Bold"/>
                <a:ea typeface="Open Sauce Bold"/>
                <a:cs typeface="Open Sauce Bold"/>
                <a:sym typeface="Open Sauce Bold"/>
              </a:rPr>
              <a:t>Especially critical because:</a:t>
            </a:r>
          </a:p>
          <a:p>
            <a:pPr algn="just">
              <a:lnSpc>
                <a:spcPts val="3317"/>
              </a:lnSpc>
              <a:spcBef>
                <a:spcPct val="0"/>
              </a:spcBef>
            </a:pPr>
            <a:r>
              <a:rPr lang="en-US" sz="2369">
                <a:solidFill>
                  <a:srgbClr val="363E52"/>
                </a:solidFill>
                <a:latin typeface="Open Sauce"/>
                <a:ea typeface="Open Sauce"/>
                <a:cs typeface="Open Sauce"/>
                <a:sym typeface="Open Sauce"/>
              </a:rPr>
              <a:t>Feature count is extremely high</a:t>
            </a:r>
          </a:p>
          <a:p>
            <a:pPr algn="just">
              <a:lnSpc>
                <a:spcPts val="3317"/>
              </a:lnSpc>
              <a:spcBef>
                <a:spcPct val="0"/>
              </a:spcBef>
            </a:pPr>
            <a:r>
              <a:rPr lang="en-US" sz="2369">
                <a:solidFill>
                  <a:srgbClr val="363E52"/>
                </a:solidFill>
                <a:latin typeface="Open Sauce"/>
                <a:ea typeface="Open Sauce"/>
                <a:cs typeface="Open Sauce"/>
                <a:sym typeface="Open Sauce"/>
              </a:rPr>
              <a:t>Sample count is limited</a:t>
            </a:r>
          </a:p>
        </p:txBody>
      </p:sp>
      <p:sp>
        <p:nvSpPr>
          <p:cNvPr name="TextBox 7" id="7"/>
          <p:cNvSpPr txBox="true"/>
          <p:nvPr/>
        </p:nvSpPr>
        <p:spPr>
          <a:xfrm rot="0">
            <a:off x="10360270" y="1984141"/>
            <a:ext cx="5321022" cy="7274159"/>
          </a:xfrm>
          <a:prstGeom prst="rect">
            <a:avLst/>
          </a:prstGeom>
        </p:spPr>
        <p:txBody>
          <a:bodyPr anchor="t" rtlCol="false" tIns="0" lIns="0" bIns="0" rIns="0">
            <a:spAutoFit/>
          </a:bodyPr>
          <a:lstStyle/>
          <a:p>
            <a:pPr algn="l">
              <a:lnSpc>
                <a:spcPts val="3837"/>
              </a:lnSpc>
              <a:spcBef>
                <a:spcPct val="0"/>
              </a:spcBef>
            </a:pPr>
          </a:p>
          <a:p>
            <a:pPr algn="l">
              <a:lnSpc>
                <a:spcPts val="3837"/>
              </a:lnSpc>
              <a:spcBef>
                <a:spcPct val="0"/>
              </a:spcBef>
            </a:pPr>
          </a:p>
          <a:p>
            <a:pPr algn="l">
              <a:lnSpc>
                <a:spcPts val="3837"/>
              </a:lnSpc>
              <a:spcBef>
                <a:spcPct val="0"/>
              </a:spcBef>
            </a:pPr>
            <a:r>
              <a:rPr lang="en-US" sz="2740">
                <a:solidFill>
                  <a:srgbClr val="363E52"/>
                </a:solidFill>
                <a:latin typeface="Open Sauce"/>
                <a:ea typeface="Open Sauce"/>
                <a:cs typeface="Open Sauce"/>
                <a:sym typeface="Open Sauce"/>
              </a:rPr>
              <a:t>Models Evaluated</a:t>
            </a:r>
          </a:p>
          <a:p>
            <a:pPr algn="l">
              <a:lnSpc>
                <a:spcPts val="3837"/>
              </a:lnSpc>
              <a:spcBef>
                <a:spcPct val="0"/>
              </a:spcBef>
            </a:pPr>
            <a:r>
              <a:rPr lang="en-US" sz="2740">
                <a:solidFill>
                  <a:srgbClr val="363E52"/>
                </a:solidFill>
                <a:latin typeface="Open Sauce"/>
                <a:ea typeface="Open Sauce"/>
                <a:cs typeface="Open Sauce"/>
                <a:sym typeface="Open Sauce"/>
              </a:rPr>
              <a:t>Logistic Regression</a:t>
            </a:r>
          </a:p>
          <a:p>
            <a:pPr algn="l">
              <a:lnSpc>
                <a:spcPts val="3837"/>
              </a:lnSpc>
              <a:spcBef>
                <a:spcPct val="0"/>
              </a:spcBef>
            </a:pPr>
            <a:r>
              <a:rPr lang="en-US" sz="2740">
                <a:solidFill>
                  <a:srgbClr val="363E52"/>
                </a:solidFill>
                <a:latin typeface="Open Sauce"/>
                <a:ea typeface="Open Sauce"/>
                <a:cs typeface="Open Sauce"/>
                <a:sym typeface="Open Sauce"/>
              </a:rPr>
              <a:t>Decision Tree</a:t>
            </a:r>
          </a:p>
          <a:p>
            <a:pPr algn="l">
              <a:lnSpc>
                <a:spcPts val="3837"/>
              </a:lnSpc>
              <a:spcBef>
                <a:spcPct val="0"/>
              </a:spcBef>
            </a:pPr>
            <a:r>
              <a:rPr lang="en-US" sz="2740">
                <a:solidFill>
                  <a:srgbClr val="363E52"/>
                </a:solidFill>
                <a:latin typeface="Open Sauce"/>
                <a:ea typeface="Open Sauce"/>
                <a:cs typeface="Open Sauce"/>
                <a:sym typeface="Open Sauce"/>
              </a:rPr>
              <a:t>Random Forest</a:t>
            </a:r>
          </a:p>
          <a:p>
            <a:pPr algn="l">
              <a:lnSpc>
                <a:spcPts val="3837"/>
              </a:lnSpc>
              <a:spcBef>
                <a:spcPct val="0"/>
              </a:spcBef>
            </a:pPr>
          </a:p>
          <a:p>
            <a:pPr algn="l">
              <a:lnSpc>
                <a:spcPts val="3837"/>
              </a:lnSpc>
              <a:spcBef>
                <a:spcPct val="0"/>
              </a:spcBef>
            </a:pPr>
            <a:r>
              <a:rPr lang="en-US" sz="2740">
                <a:solidFill>
                  <a:srgbClr val="363E52"/>
                </a:solidFill>
                <a:latin typeface="Open Sauce"/>
                <a:ea typeface="Open Sauce"/>
                <a:cs typeface="Open Sauce"/>
                <a:sym typeface="Open Sauce"/>
              </a:rPr>
              <a:t>Data Splitting</a:t>
            </a:r>
          </a:p>
          <a:p>
            <a:pPr algn="l">
              <a:lnSpc>
                <a:spcPts val="3837"/>
              </a:lnSpc>
              <a:spcBef>
                <a:spcPct val="0"/>
              </a:spcBef>
            </a:pPr>
            <a:r>
              <a:rPr lang="en-US" sz="2740">
                <a:solidFill>
                  <a:srgbClr val="363E52"/>
                </a:solidFill>
                <a:latin typeface="Open Sauce"/>
                <a:ea typeface="Open Sauce"/>
                <a:cs typeface="Open Sauce"/>
                <a:sym typeface="Open Sauce"/>
              </a:rPr>
              <a:t>80% Training</a:t>
            </a:r>
          </a:p>
          <a:p>
            <a:pPr algn="l">
              <a:lnSpc>
                <a:spcPts val="3837"/>
              </a:lnSpc>
              <a:spcBef>
                <a:spcPct val="0"/>
              </a:spcBef>
            </a:pPr>
            <a:r>
              <a:rPr lang="en-US" sz="2740">
                <a:solidFill>
                  <a:srgbClr val="363E52"/>
                </a:solidFill>
                <a:latin typeface="Open Sauce"/>
                <a:ea typeface="Open Sauce"/>
                <a:cs typeface="Open Sauce"/>
                <a:sym typeface="Open Sauce"/>
              </a:rPr>
              <a:t>20% Testing</a:t>
            </a:r>
          </a:p>
          <a:p>
            <a:pPr algn="l">
              <a:lnSpc>
                <a:spcPts val="3837"/>
              </a:lnSpc>
              <a:spcBef>
                <a:spcPct val="0"/>
              </a:spcBef>
            </a:pPr>
          </a:p>
          <a:p>
            <a:pPr algn="l">
              <a:lnSpc>
                <a:spcPts val="3837"/>
              </a:lnSpc>
              <a:spcBef>
                <a:spcPct val="0"/>
              </a:spcBef>
            </a:pPr>
            <a:r>
              <a:rPr lang="en-US" sz="2740">
                <a:solidFill>
                  <a:srgbClr val="363E52"/>
                </a:solidFill>
                <a:latin typeface="Open Sauce"/>
                <a:ea typeface="Open Sauce"/>
                <a:cs typeface="Open Sauce"/>
                <a:sym typeface="Open Sauce"/>
              </a:rPr>
              <a:t>Stratified Splitting</a:t>
            </a:r>
          </a:p>
          <a:p>
            <a:pPr algn="l">
              <a:lnSpc>
                <a:spcPts val="3837"/>
              </a:lnSpc>
              <a:spcBef>
                <a:spcPct val="0"/>
              </a:spcBef>
            </a:pPr>
            <a:r>
              <a:rPr lang="en-US" sz="2740">
                <a:solidFill>
                  <a:srgbClr val="363E52"/>
                </a:solidFill>
                <a:latin typeface="Open Sauce"/>
                <a:ea typeface="Open Sauce"/>
                <a:cs typeface="Open Sauce"/>
                <a:sym typeface="Open Sauce"/>
              </a:rPr>
              <a:t>Maintained class proportions in:</a:t>
            </a:r>
          </a:p>
          <a:p>
            <a:pPr algn="l">
              <a:lnSpc>
                <a:spcPts val="3837"/>
              </a:lnSpc>
              <a:spcBef>
                <a:spcPct val="0"/>
              </a:spcBef>
            </a:pPr>
            <a:r>
              <a:rPr lang="en-US" sz="2740">
                <a:solidFill>
                  <a:srgbClr val="363E52"/>
                </a:solidFill>
                <a:latin typeface="Open Sauce"/>
                <a:ea typeface="Open Sauce"/>
                <a:cs typeface="Open Sauce"/>
                <a:sym typeface="Open Sauce"/>
              </a:rPr>
              <a:t>Training set</a:t>
            </a:r>
          </a:p>
          <a:p>
            <a:pPr algn="l">
              <a:lnSpc>
                <a:spcPts val="3837"/>
              </a:lnSpc>
              <a:spcBef>
                <a:spcPct val="0"/>
              </a:spcBef>
            </a:pPr>
            <a:r>
              <a:rPr lang="en-US" sz="2740">
                <a:solidFill>
                  <a:srgbClr val="363E52"/>
                </a:solidFill>
                <a:latin typeface="Open Sauce"/>
                <a:ea typeface="Open Sauce"/>
                <a:cs typeface="Open Sauce"/>
                <a:sym typeface="Open Sauce"/>
              </a:rPr>
              <a:t>Testing set</a:t>
            </a:r>
          </a:p>
        </p:txBody>
      </p:sp>
      <p:sp>
        <p:nvSpPr>
          <p:cNvPr name="TextBox 8" id="8"/>
          <p:cNvSpPr txBox="true"/>
          <p:nvPr/>
        </p:nvSpPr>
        <p:spPr>
          <a:xfrm rot="0">
            <a:off x="9471334" y="1170716"/>
            <a:ext cx="7098894" cy="705972"/>
          </a:xfrm>
          <a:prstGeom prst="rect">
            <a:avLst/>
          </a:prstGeom>
        </p:spPr>
        <p:txBody>
          <a:bodyPr anchor="t" rtlCol="false" tIns="0" lIns="0" bIns="0" rIns="0">
            <a:spAutoFit/>
          </a:bodyPr>
          <a:lstStyle/>
          <a:p>
            <a:pPr algn="ctr">
              <a:lnSpc>
                <a:spcPts val="5812"/>
              </a:lnSpc>
              <a:spcBef>
                <a:spcPct val="0"/>
              </a:spcBef>
            </a:pPr>
            <a:r>
              <a:rPr lang="en-US" b="true" sz="4151">
                <a:solidFill>
                  <a:srgbClr val="363E52"/>
                </a:solidFill>
                <a:latin typeface="Montserrat Bold"/>
                <a:ea typeface="Montserrat Bold"/>
                <a:cs typeface="Montserrat Bold"/>
                <a:sym typeface="Montserrat Bold"/>
              </a:rPr>
              <a:t>Machine Learning Models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278052" cy="10287000"/>
          </a:xfrm>
          <a:custGeom>
            <a:avLst/>
            <a:gdLst/>
            <a:ahLst/>
            <a:cxnLst/>
            <a:rect r="r" b="b" t="t" l="l"/>
            <a:pathLst>
              <a:path h="10287000" w="7278052">
                <a:moveTo>
                  <a:pt x="0" y="0"/>
                </a:moveTo>
                <a:lnTo>
                  <a:pt x="7278052" y="0"/>
                </a:lnTo>
                <a:lnTo>
                  <a:pt x="7278052"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660392" y="-704971"/>
            <a:ext cx="3635483" cy="3467342"/>
          </a:xfrm>
          <a:custGeom>
            <a:avLst/>
            <a:gdLst/>
            <a:ahLst/>
            <a:cxnLst/>
            <a:rect r="r" b="b" t="t" l="l"/>
            <a:pathLst>
              <a:path h="3467342" w="3635483">
                <a:moveTo>
                  <a:pt x="0" y="0"/>
                </a:moveTo>
                <a:lnTo>
                  <a:pt x="3635483" y="0"/>
                </a:lnTo>
                <a:lnTo>
                  <a:pt x="3635483" y="3467342"/>
                </a:lnTo>
                <a:lnTo>
                  <a:pt x="0" y="3467342"/>
                </a:lnTo>
                <a:lnTo>
                  <a:pt x="0" y="0"/>
                </a:lnTo>
                <a:close/>
              </a:path>
            </a:pathLst>
          </a:custGeom>
          <a:blipFill>
            <a:blip r:embed="rId3"/>
            <a:stretch>
              <a:fillRect l="0" t="0" r="0" b="0"/>
            </a:stretch>
          </a:blipFill>
        </p:spPr>
      </p:sp>
      <p:sp>
        <p:nvSpPr>
          <p:cNvPr name="Freeform 4" id="4"/>
          <p:cNvSpPr/>
          <p:nvPr/>
        </p:nvSpPr>
        <p:spPr>
          <a:xfrm flipH="false" flipV="false" rot="0">
            <a:off x="2389529" y="2396992"/>
            <a:ext cx="13270863" cy="2535834"/>
          </a:xfrm>
          <a:custGeom>
            <a:avLst/>
            <a:gdLst/>
            <a:ahLst/>
            <a:cxnLst/>
            <a:rect r="r" b="b" t="t" l="l"/>
            <a:pathLst>
              <a:path h="2535834" w="13270863">
                <a:moveTo>
                  <a:pt x="0" y="0"/>
                </a:moveTo>
                <a:lnTo>
                  <a:pt x="13270863" y="0"/>
                </a:lnTo>
                <a:lnTo>
                  <a:pt x="13270863" y="2535834"/>
                </a:lnTo>
                <a:lnTo>
                  <a:pt x="0" y="2535834"/>
                </a:lnTo>
                <a:lnTo>
                  <a:pt x="0" y="0"/>
                </a:lnTo>
                <a:close/>
              </a:path>
            </a:pathLst>
          </a:custGeom>
          <a:blipFill>
            <a:blip r:embed="rId4"/>
            <a:stretch>
              <a:fillRect l="0" t="0" r="0" b="0"/>
            </a:stretch>
          </a:blipFill>
        </p:spPr>
      </p:sp>
      <p:sp>
        <p:nvSpPr>
          <p:cNvPr name="TextBox 5" id="5"/>
          <p:cNvSpPr txBox="true"/>
          <p:nvPr/>
        </p:nvSpPr>
        <p:spPr>
          <a:xfrm rot="0">
            <a:off x="3639026" y="691051"/>
            <a:ext cx="9886046" cy="840188"/>
          </a:xfrm>
          <a:prstGeom prst="rect">
            <a:avLst/>
          </a:prstGeom>
        </p:spPr>
        <p:txBody>
          <a:bodyPr anchor="t" rtlCol="false" tIns="0" lIns="0" bIns="0" rIns="0">
            <a:spAutoFit/>
          </a:bodyPr>
          <a:lstStyle/>
          <a:p>
            <a:pPr algn="l" marL="0" indent="0" lvl="0">
              <a:lnSpc>
                <a:spcPts val="6630"/>
              </a:lnSpc>
            </a:pPr>
            <a:r>
              <a:rPr lang="en-US" b="true" sz="5618">
                <a:solidFill>
                  <a:srgbClr val="363E52"/>
                </a:solidFill>
                <a:latin typeface="Montserrat Semi-Bold"/>
                <a:ea typeface="Montserrat Semi-Bold"/>
                <a:cs typeface="Montserrat Semi-Bold"/>
                <a:sym typeface="Montserrat Semi-Bold"/>
              </a:rPr>
              <a:t>Model Comparison Results</a:t>
            </a:r>
          </a:p>
        </p:txBody>
      </p:sp>
      <p:sp>
        <p:nvSpPr>
          <p:cNvPr name="TextBox 6" id="6"/>
          <p:cNvSpPr txBox="true"/>
          <p:nvPr/>
        </p:nvSpPr>
        <p:spPr>
          <a:xfrm rot="0">
            <a:off x="7905400" y="8391692"/>
            <a:ext cx="9115376" cy="1428193"/>
          </a:xfrm>
          <a:prstGeom prst="rect">
            <a:avLst/>
          </a:prstGeom>
        </p:spPr>
        <p:txBody>
          <a:bodyPr anchor="t" rtlCol="false" tIns="0" lIns="0" bIns="0" rIns="0">
            <a:spAutoFit/>
          </a:bodyPr>
          <a:lstStyle/>
          <a:p>
            <a:pPr algn="ctr">
              <a:lnSpc>
                <a:spcPts val="2928"/>
              </a:lnSpc>
              <a:spcBef>
                <a:spcPct val="0"/>
              </a:spcBef>
            </a:pPr>
            <a:r>
              <a:rPr lang="en-US" b="true" sz="2091">
                <a:solidFill>
                  <a:srgbClr val="363E52"/>
                </a:solidFill>
                <a:latin typeface="Montserrat Bold"/>
                <a:ea typeface="Montserrat Bold"/>
                <a:cs typeface="Montserrat Bold"/>
                <a:sym typeface="Montserrat Bold"/>
              </a:rPr>
              <a:t>INTERPRETATION</a:t>
            </a:r>
          </a:p>
          <a:p>
            <a:pPr algn="ctr">
              <a:lnSpc>
                <a:spcPts val="2928"/>
              </a:lnSpc>
              <a:spcBef>
                <a:spcPct val="0"/>
              </a:spcBef>
            </a:pPr>
            <a:r>
              <a:rPr lang="en-US" b="true" sz="2091">
                <a:solidFill>
                  <a:srgbClr val="363E52"/>
                </a:solidFill>
                <a:latin typeface="Montserrat Bold"/>
                <a:ea typeface="Montserrat Bold"/>
                <a:cs typeface="Montserrat Bold"/>
                <a:sym typeface="Montserrat Bold"/>
              </a:rPr>
              <a:t>RANDOM FOREST AND LOGISTIC REGRESSION PERFORMED BEST</a:t>
            </a:r>
          </a:p>
          <a:p>
            <a:pPr algn="ctr">
              <a:lnSpc>
                <a:spcPts val="2928"/>
              </a:lnSpc>
              <a:spcBef>
                <a:spcPct val="0"/>
              </a:spcBef>
            </a:pPr>
            <a:r>
              <a:rPr lang="en-US" b="true" sz="2091">
                <a:solidFill>
                  <a:srgbClr val="363E52"/>
                </a:solidFill>
                <a:latin typeface="Montserrat Bold"/>
                <a:ea typeface="Montserrat Bold"/>
                <a:cs typeface="Montserrat Bold"/>
                <a:sym typeface="Montserrat Bold"/>
              </a:rPr>
              <a:t>DECISION TREE PRODUCED FALSE POSITIVES</a:t>
            </a:r>
          </a:p>
          <a:p>
            <a:pPr algn="ctr">
              <a:lnSpc>
                <a:spcPts val="2928"/>
              </a:lnSpc>
              <a:spcBef>
                <a:spcPct val="0"/>
              </a:spcBef>
            </a:pPr>
            <a:r>
              <a:rPr lang="en-US" b="true" sz="2091">
                <a:solidFill>
                  <a:srgbClr val="363E52"/>
                </a:solidFill>
                <a:latin typeface="Montserrat Bold"/>
                <a:ea typeface="Montserrat Bold"/>
                <a:cs typeface="Montserrat Bold"/>
                <a:sym typeface="Montserrat Bold"/>
              </a:rPr>
              <a:t>RANDOM FOREST SELECTED AS FINAL MODEL</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381634" y="0"/>
            <a:ext cx="8512493" cy="10287000"/>
          </a:xfrm>
          <a:custGeom>
            <a:avLst/>
            <a:gdLst/>
            <a:ahLst/>
            <a:cxnLst/>
            <a:rect r="r" b="b" t="t" l="l"/>
            <a:pathLst>
              <a:path h="10287000" w="8512493">
                <a:moveTo>
                  <a:pt x="0" y="0"/>
                </a:moveTo>
                <a:lnTo>
                  <a:pt x="8512492" y="0"/>
                </a:lnTo>
                <a:lnTo>
                  <a:pt x="8512492" y="10287000"/>
                </a:lnTo>
                <a:lnTo>
                  <a:pt x="0" y="10287000"/>
                </a:lnTo>
                <a:lnTo>
                  <a:pt x="0" y="0"/>
                </a:lnTo>
                <a:close/>
              </a:path>
            </a:pathLst>
          </a:custGeom>
          <a:blipFill>
            <a:blip r:embed="rId2"/>
            <a:stretch>
              <a:fillRect l="0" t="-1159" r="0" b="-1159"/>
            </a:stretch>
          </a:blipFill>
        </p:spPr>
      </p:sp>
      <p:sp>
        <p:nvSpPr>
          <p:cNvPr name="TextBox 3" id="3"/>
          <p:cNvSpPr txBox="true"/>
          <p:nvPr/>
        </p:nvSpPr>
        <p:spPr>
          <a:xfrm rot="0">
            <a:off x="3562069" y="688072"/>
            <a:ext cx="8115300" cy="1085217"/>
          </a:xfrm>
          <a:prstGeom prst="rect">
            <a:avLst/>
          </a:prstGeom>
        </p:spPr>
        <p:txBody>
          <a:bodyPr anchor="t" rtlCol="false" tIns="0" lIns="0" bIns="0" rIns="0">
            <a:spAutoFit/>
          </a:bodyPr>
          <a:lstStyle/>
          <a:p>
            <a:pPr algn="l" marL="0" indent="0" lvl="0">
              <a:lnSpc>
                <a:spcPts val="8555"/>
              </a:lnSpc>
            </a:pPr>
            <a:r>
              <a:rPr lang="en-US" b="true" sz="7250">
                <a:solidFill>
                  <a:srgbClr val="363E52"/>
                </a:solidFill>
                <a:latin typeface="Montserrat Semi-Bold"/>
                <a:ea typeface="Montserrat Semi-Bold"/>
                <a:cs typeface="Montserrat Semi-Bold"/>
                <a:sym typeface="Montserrat Semi-Bold"/>
              </a:rPr>
              <a:t>Confusion Matrix</a:t>
            </a:r>
          </a:p>
        </p:txBody>
      </p:sp>
      <p:sp>
        <p:nvSpPr>
          <p:cNvPr name="Freeform 4" id="4"/>
          <p:cNvSpPr/>
          <p:nvPr/>
        </p:nvSpPr>
        <p:spPr>
          <a:xfrm flipH="false" flipV="false" rot="0">
            <a:off x="-1416190" y="-1361042"/>
            <a:ext cx="4329141" cy="5724484"/>
          </a:xfrm>
          <a:custGeom>
            <a:avLst/>
            <a:gdLst/>
            <a:ahLst/>
            <a:cxnLst/>
            <a:rect r="r" b="b" t="t" l="l"/>
            <a:pathLst>
              <a:path h="5724484" w="4329141">
                <a:moveTo>
                  <a:pt x="0" y="0"/>
                </a:moveTo>
                <a:lnTo>
                  <a:pt x="4329141" y="0"/>
                </a:lnTo>
                <a:lnTo>
                  <a:pt x="4329141" y="5724484"/>
                </a:lnTo>
                <a:lnTo>
                  <a:pt x="0" y="5724484"/>
                </a:lnTo>
                <a:lnTo>
                  <a:pt x="0" y="0"/>
                </a:lnTo>
                <a:close/>
              </a:path>
            </a:pathLst>
          </a:custGeom>
          <a:blipFill>
            <a:blip r:embed="rId3"/>
            <a:stretch>
              <a:fillRect l="0" t="0" r="0" b="0"/>
            </a:stretch>
          </a:blipFill>
        </p:spPr>
      </p:sp>
      <p:sp>
        <p:nvSpPr>
          <p:cNvPr name="TextBox 5" id="5"/>
          <p:cNvSpPr txBox="true"/>
          <p:nvPr/>
        </p:nvSpPr>
        <p:spPr>
          <a:xfrm rot="0">
            <a:off x="1969117" y="1861007"/>
            <a:ext cx="12248082" cy="6741706"/>
          </a:xfrm>
          <a:prstGeom prst="rect">
            <a:avLst/>
          </a:prstGeom>
        </p:spPr>
        <p:txBody>
          <a:bodyPr anchor="t" rtlCol="false" tIns="0" lIns="0" bIns="0" rIns="0">
            <a:spAutoFit/>
          </a:bodyPr>
          <a:lstStyle/>
          <a:p>
            <a:pPr algn="l" marL="0" indent="0" lvl="0">
              <a:lnSpc>
                <a:spcPts val="4135"/>
              </a:lnSpc>
            </a:pPr>
            <a:r>
              <a:rPr lang="en-US" sz="2953">
                <a:solidFill>
                  <a:srgbClr val="363E52"/>
                </a:solidFill>
                <a:latin typeface="Open Sauce"/>
                <a:ea typeface="Open Sauce"/>
                <a:cs typeface="Open Sauce"/>
                <a:sym typeface="Open Sauce"/>
              </a:rPr>
              <a:t>C</a:t>
            </a:r>
            <a:r>
              <a:rPr lang="en-US" sz="2953">
                <a:solidFill>
                  <a:srgbClr val="363E52"/>
                </a:solidFill>
                <a:latin typeface="Open Sauce"/>
                <a:ea typeface="Open Sauce"/>
                <a:cs typeface="Open Sauce"/>
                <a:sym typeface="Open Sauce"/>
              </a:rPr>
              <a:t>onfusion Matrix Analysis</a:t>
            </a:r>
          </a:p>
          <a:p>
            <a:pPr algn="l" marL="0" indent="0" lvl="0">
              <a:lnSpc>
                <a:spcPts val="4135"/>
              </a:lnSpc>
            </a:pPr>
            <a:r>
              <a:rPr lang="en-US" b="true" sz="2953">
                <a:solidFill>
                  <a:srgbClr val="363E52"/>
                </a:solidFill>
                <a:latin typeface="Open Sauce Bold"/>
                <a:ea typeface="Open Sauce Bold"/>
                <a:cs typeface="Open Sauce Bold"/>
                <a:sym typeface="Open Sauce Bold"/>
              </a:rPr>
              <a:t>Confusion Matrix Components</a:t>
            </a:r>
          </a:p>
          <a:p>
            <a:pPr algn="l" marL="637695" indent="-318847" lvl="1">
              <a:lnSpc>
                <a:spcPts val="4135"/>
              </a:lnSpc>
              <a:buFont typeface="Arial"/>
              <a:buChar char="•"/>
            </a:pPr>
            <a:r>
              <a:rPr lang="en-US" sz="2953">
                <a:solidFill>
                  <a:srgbClr val="363E52"/>
                </a:solidFill>
                <a:latin typeface="Open Sauce"/>
                <a:ea typeface="Open Sauce"/>
                <a:cs typeface="Open Sauce"/>
                <a:sym typeface="Open Sauce"/>
              </a:rPr>
              <a:t>True Positives</a:t>
            </a:r>
          </a:p>
          <a:p>
            <a:pPr algn="l" marL="637695" indent="-318847" lvl="1">
              <a:lnSpc>
                <a:spcPts val="4135"/>
              </a:lnSpc>
              <a:buFont typeface="Arial"/>
              <a:buChar char="•"/>
            </a:pPr>
            <a:r>
              <a:rPr lang="en-US" sz="2953">
                <a:solidFill>
                  <a:srgbClr val="363E52"/>
                </a:solidFill>
                <a:latin typeface="Open Sauce"/>
                <a:ea typeface="Open Sauce"/>
                <a:cs typeface="Open Sauce"/>
                <a:sym typeface="Open Sauce"/>
              </a:rPr>
              <a:t>True Negatives</a:t>
            </a:r>
          </a:p>
          <a:p>
            <a:pPr algn="l" marL="637695" indent="-318847" lvl="1">
              <a:lnSpc>
                <a:spcPts val="4135"/>
              </a:lnSpc>
              <a:buFont typeface="Arial"/>
              <a:buChar char="•"/>
            </a:pPr>
            <a:r>
              <a:rPr lang="en-US" sz="2953">
                <a:solidFill>
                  <a:srgbClr val="363E52"/>
                </a:solidFill>
                <a:latin typeface="Open Sauce"/>
                <a:ea typeface="Open Sauce"/>
                <a:cs typeface="Open Sauce"/>
                <a:sym typeface="Open Sauce"/>
              </a:rPr>
              <a:t>False Positives</a:t>
            </a:r>
          </a:p>
          <a:p>
            <a:pPr algn="l" marL="637695" indent="-318847" lvl="1">
              <a:lnSpc>
                <a:spcPts val="4135"/>
              </a:lnSpc>
              <a:buFont typeface="Arial"/>
              <a:buChar char="•"/>
            </a:pPr>
            <a:r>
              <a:rPr lang="en-US" sz="2953">
                <a:solidFill>
                  <a:srgbClr val="363E52"/>
                </a:solidFill>
                <a:latin typeface="Open Sauce"/>
                <a:ea typeface="Open Sauce"/>
                <a:cs typeface="Open Sauce"/>
                <a:sym typeface="Open Sauce"/>
              </a:rPr>
              <a:t>False Negatives</a:t>
            </a:r>
          </a:p>
          <a:p>
            <a:pPr algn="l" marL="0" indent="0" lvl="0">
              <a:lnSpc>
                <a:spcPts val="4135"/>
              </a:lnSpc>
            </a:pPr>
            <a:r>
              <a:rPr lang="en-US" b="true" sz="2953">
                <a:solidFill>
                  <a:srgbClr val="363E52"/>
                </a:solidFill>
                <a:latin typeface="Open Sauce Bold"/>
                <a:ea typeface="Open Sauce Bold"/>
                <a:cs typeface="Open Sauce Bold"/>
                <a:sym typeface="Open Sauce Bold"/>
              </a:rPr>
              <a:t>Observation</a:t>
            </a:r>
          </a:p>
          <a:p>
            <a:pPr algn="l" marL="0" indent="0" lvl="0">
              <a:lnSpc>
                <a:spcPts val="4135"/>
              </a:lnSpc>
            </a:pPr>
            <a:r>
              <a:rPr lang="en-US" sz="2953">
                <a:solidFill>
                  <a:srgbClr val="363E52"/>
                </a:solidFill>
                <a:latin typeface="Open Sauce"/>
                <a:ea typeface="Open Sauce"/>
                <a:cs typeface="Open Sauce"/>
                <a:sym typeface="Open Sauce"/>
              </a:rPr>
              <a:t>The final Random Forest model showed:</a:t>
            </a:r>
          </a:p>
          <a:p>
            <a:pPr algn="l" marL="637695" indent="-318847" lvl="1">
              <a:lnSpc>
                <a:spcPts val="4135"/>
              </a:lnSpc>
              <a:buFont typeface="Arial"/>
              <a:buChar char="•"/>
            </a:pPr>
            <a:r>
              <a:rPr lang="en-US" sz="2953">
                <a:solidFill>
                  <a:srgbClr val="363E52"/>
                </a:solidFill>
                <a:latin typeface="Open Sauce"/>
                <a:ea typeface="Open Sauce"/>
                <a:cs typeface="Open Sauce"/>
                <a:sym typeface="Open Sauce"/>
              </a:rPr>
              <a:t>Perfect diagonal classification</a:t>
            </a:r>
          </a:p>
          <a:p>
            <a:pPr algn="l" marL="637695" indent="-318847" lvl="1">
              <a:lnSpc>
                <a:spcPts val="4135"/>
              </a:lnSpc>
              <a:buFont typeface="Arial"/>
              <a:buChar char="•"/>
            </a:pPr>
            <a:r>
              <a:rPr lang="en-US" sz="2953">
                <a:solidFill>
                  <a:srgbClr val="363E52"/>
                </a:solidFill>
                <a:latin typeface="Open Sauce"/>
                <a:ea typeface="Open Sauce"/>
                <a:cs typeface="Open Sauce"/>
                <a:sym typeface="Open Sauce"/>
              </a:rPr>
              <a:t>Zero off-diagonal errors</a:t>
            </a:r>
          </a:p>
          <a:p>
            <a:pPr algn="l" marL="0" indent="0" lvl="0">
              <a:lnSpc>
                <a:spcPts val="4135"/>
              </a:lnSpc>
            </a:pPr>
            <a:r>
              <a:rPr lang="en-US" b="true" sz="2953">
                <a:solidFill>
                  <a:srgbClr val="363E52"/>
                </a:solidFill>
                <a:latin typeface="Open Sauce Bold"/>
                <a:ea typeface="Open Sauce Bold"/>
                <a:cs typeface="Open Sauce Bold"/>
                <a:sym typeface="Open Sauce Bold"/>
              </a:rPr>
              <a:t>Conclusion</a:t>
            </a:r>
          </a:p>
          <a:p>
            <a:pPr algn="l" marL="0" indent="0" lvl="0">
              <a:lnSpc>
                <a:spcPts val="4135"/>
              </a:lnSpc>
            </a:pPr>
            <a:r>
              <a:rPr lang="en-US" sz="2953">
                <a:solidFill>
                  <a:srgbClr val="363E52"/>
                </a:solidFill>
                <a:latin typeface="Open Sauce"/>
                <a:ea typeface="Open Sauce"/>
                <a:cs typeface="Open Sauce"/>
                <a:sym typeface="Open Sauce"/>
              </a:rPr>
              <a:t>Excellent separation between AD and control samples.</a:t>
            </a:r>
          </a:p>
          <a:p>
            <a:pPr algn="l" marL="0" indent="0" lvl="0">
              <a:lnSpc>
                <a:spcPts val="4135"/>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381634" y="0"/>
            <a:ext cx="8512493" cy="10287000"/>
          </a:xfrm>
          <a:custGeom>
            <a:avLst/>
            <a:gdLst/>
            <a:ahLst/>
            <a:cxnLst/>
            <a:rect r="r" b="b" t="t" l="l"/>
            <a:pathLst>
              <a:path h="10287000" w="8512493">
                <a:moveTo>
                  <a:pt x="0" y="0"/>
                </a:moveTo>
                <a:lnTo>
                  <a:pt x="8512492" y="0"/>
                </a:lnTo>
                <a:lnTo>
                  <a:pt x="8512492" y="10287000"/>
                </a:lnTo>
                <a:lnTo>
                  <a:pt x="0" y="10287000"/>
                </a:lnTo>
                <a:lnTo>
                  <a:pt x="0" y="0"/>
                </a:lnTo>
                <a:close/>
              </a:path>
            </a:pathLst>
          </a:custGeom>
          <a:blipFill>
            <a:blip r:embed="rId2"/>
            <a:stretch>
              <a:fillRect l="0" t="-1159" r="0" b="-1159"/>
            </a:stretch>
          </a:blipFill>
        </p:spPr>
      </p:sp>
      <p:sp>
        <p:nvSpPr>
          <p:cNvPr name="Freeform 3" id="3"/>
          <p:cNvSpPr/>
          <p:nvPr/>
        </p:nvSpPr>
        <p:spPr>
          <a:xfrm flipH="false" flipV="false" rot="0">
            <a:off x="-1416190" y="-1361042"/>
            <a:ext cx="4329141" cy="5724484"/>
          </a:xfrm>
          <a:custGeom>
            <a:avLst/>
            <a:gdLst/>
            <a:ahLst/>
            <a:cxnLst/>
            <a:rect r="r" b="b" t="t" l="l"/>
            <a:pathLst>
              <a:path h="5724484" w="4329141">
                <a:moveTo>
                  <a:pt x="0" y="0"/>
                </a:moveTo>
                <a:lnTo>
                  <a:pt x="4329141" y="0"/>
                </a:lnTo>
                <a:lnTo>
                  <a:pt x="4329141" y="5724484"/>
                </a:lnTo>
                <a:lnTo>
                  <a:pt x="0" y="5724484"/>
                </a:lnTo>
                <a:lnTo>
                  <a:pt x="0" y="0"/>
                </a:lnTo>
                <a:close/>
              </a:path>
            </a:pathLst>
          </a:custGeom>
          <a:blipFill>
            <a:blip r:embed="rId3"/>
            <a:stretch>
              <a:fillRect l="0" t="0" r="0" b="0"/>
            </a:stretch>
          </a:blipFill>
        </p:spPr>
      </p:sp>
      <p:sp>
        <p:nvSpPr>
          <p:cNvPr name="Freeform 4" id="4"/>
          <p:cNvSpPr/>
          <p:nvPr/>
        </p:nvSpPr>
        <p:spPr>
          <a:xfrm flipH="false" flipV="false" rot="0">
            <a:off x="3748169" y="545015"/>
            <a:ext cx="8644111" cy="6318141"/>
          </a:xfrm>
          <a:custGeom>
            <a:avLst/>
            <a:gdLst/>
            <a:ahLst/>
            <a:cxnLst/>
            <a:rect r="r" b="b" t="t" l="l"/>
            <a:pathLst>
              <a:path h="6318141" w="8644111">
                <a:moveTo>
                  <a:pt x="0" y="0"/>
                </a:moveTo>
                <a:lnTo>
                  <a:pt x="8644111" y="0"/>
                </a:lnTo>
                <a:lnTo>
                  <a:pt x="8644111" y="6318141"/>
                </a:lnTo>
                <a:lnTo>
                  <a:pt x="0" y="6318141"/>
                </a:lnTo>
                <a:lnTo>
                  <a:pt x="0" y="0"/>
                </a:lnTo>
                <a:close/>
              </a:path>
            </a:pathLst>
          </a:custGeom>
          <a:blipFill>
            <a:blip r:embed="rId4"/>
            <a:stretch>
              <a:fillRect l="0" t="0" r="0" b="0"/>
            </a:stretch>
          </a:blipFill>
        </p:spPr>
      </p:sp>
      <p:sp>
        <p:nvSpPr>
          <p:cNvPr name="TextBox 5" id="5"/>
          <p:cNvSpPr txBox="true"/>
          <p:nvPr/>
        </p:nvSpPr>
        <p:spPr>
          <a:xfrm rot="0">
            <a:off x="830846" y="7157891"/>
            <a:ext cx="13087596" cy="1979678"/>
          </a:xfrm>
          <a:prstGeom prst="rect">
            <a:avLst/>
          </a:prstGeom>
        </p:spPr>
        <p:txBody>
          <a:bodyPr anchor="t" rtlCol="false" tIns="0" lIns="0" bIns="0" rIns="0">
            <a:spAutoFit/>
          </a:bodyPr>
          <a:lstStyle/>
          <a:p>
            <a:pPr algn="ctr">
              <a:lnSpc>
                <a:spcPts val="3150"/>
              </a:lnSpc>
              <a:spcBef>
                <a:spcPct val="0"/>
              </a:spcBef>
            </a:pPr>
            <a:r>
              <a:rPr lang="en-US" b="true" sz="2669">
                <a:solidFill>
                  <a:srgbClr val="000000"/>
                </a:solidFill>
                <a:latin typeface="Montserrat Semi-Bold"/>
                <a:ea typeface="Montserrat Semi-Bold"/>
                <a:cs typeface="Montserrat Semi-Bold"/>
                <a:sym typeface="Montserrat Semi-Bold"/>
              </a:rPr>
              <a:t>he confusion matrix shows: • </a:t>
            </a:r>
          </a:p>
          <a:p>
            <a:pPr algn="ctr">
              <a:lnSpc>
                <a:spcPts val="3150"/>
              </a:lnSpc>
              <a:spcBef>
                <a:spcPct val="0"/>
              </a:spcBef>
            </a:pPr>
            <a:r>
              <a:rPr lang="en-US" b="true" sz="2669">
                <a:solidFill>
                  <a:srgbClr val="000000"/>
                </a:solidFill>
                <a:latin typeface="Montserrat Semi-Bold"/>
                <a:ea typeface="Montserrat Semi-Bold"/>
                <a:cs typeface="Montserrat Semi-Bold"/>
                <a:sym typeface="Montserrat Semi-Bold"/>
              </a:rPr>
              <a:t>True Negatives (top-left): Control samples correctly predicted as control • </a:t>
            </a:r>
          </a:p>
          <a:p>
            <a:pPr algn="ctr">
              <a:lnSpc>
                <a:spcPts val="3150"/>
              </a:lnSpc>
              <a:spcBef>
                <a:spcPct val="0"/>
              </a:spcBef>
            </a:pPr>
            <a:r>
              <a:rPr lang="en-US" b="true" sz="2669">
                <a:solidFill>
                  <a:srgbClr val="000000"/>
                </a:solidFill>
                <a:latin typeface="Montserrat Semi-Bold"/>
                <a:ea typeface="Montserrat Semi-Bold"/>
                <a:cs typeface="Montserrat Semi-Bold"/>
                <a:sym typeface="Montserrat Semi-Bold"/>
              </a:rPr>
              <a:t>True Positives (bottom-right): AD samples correctly predicted as AD •</a:t>
            </a:r>
          </a:p>
          <a:p>
            <a:pPr algn="ctr">
              <a:lnSpc>
                <a:spcPts val="3150"/>
              </a:lnSpc>
              <a:spcBef>
                <a:spcPct val="0"/>
              </a:spcBef>
            </a:pPr>
            <a:r>
              <a:rPr lang="en-US" b="true" sz="2669">
                <a:solidFill>
                  <a:srgbClr val="000000"/>
                </a:solidFill>
                <a:latin typeface="Montserrat Semi-Bold"/>
                <a:ea typeface="Montserrat Semi-Bold"/>
                <a:cs typeface="Montserrat Semi-Bold"/>
                <a:sym typeface="Montserrat Semi-Bold"/>
              </a:rPr>
              <a:t> False Positives (top-right): Control samples incorrectly predicted as AD •</a:t>
            </a:r>
          </a:p>
          <a:p>
            <a:pPr algn="ctr">
              <a:lnSpc>
                <a:spcPts val="3150"/>
              </a:lnSpc>
              <a:spcBef>
                <a:spcPct val="0"/>
              </a:spcBef>
            </a:pPr>
            <a:r>
              <a:rPr lang="en-US" b="true" sz="2669">
                <a:solidFill>
                  <a:srgbClr val="000000"/>
                </a:solidFill>
                <a:latin typeface="Montserrat Semi-Bold"/>
                <a:ea typeface="Montserrat Semi-Bold"/>
                <a:cs typeface="Montserrat Semi-Bold"/>
                <a:sym typeface="Montserrat Semi-Bold"/>
              </a:rPr>
              <a:t> False Negatives (bottom-left): AD samples incorrectly predicted as control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87769" r="0" b="-63506"/>
            </a:stretch>
          </a:blipFill>
        </p:spPr>
      </p:sp>
      <p:sp>
        <p:nvSpPr>
          <p:cNvPr name="Freeform 3" id="3"/>
          <p:cNvSpPr/>
          <p:nvPr/>
        </p:nvSpPr>
        <p:spPr>
          <a:xfrm flipH="true" flipV="true" rot="-2365843">
            <a:off x="456804" y="95046"/>
            <a:ext cx="1981685" cy="1448155"/>
          </a:xfrm>
          <a:custGeom>
            <a:avLst/>
            <a:gdLst/>
            <a:ahLst/>
            <a:cxnLst/>
            <a:rect r="r" b="b" t="t" l="l"/>
            <a:pathLst>
              <a:path h="1448155" w="1981685">
                <a:moveTo>
                  <a:pt x="1981685" y="1448155"/>
                </a:moveTo>
                <a:lnTo>
                  <a:pt x="0" y="1448155"/>
                </a:lnTo>
                <a:lnTo>
                  <a:pt x="0" y="0"/>
                </a:lnTo>
                <a:lnTo>
                  <a:pt x="1981685" y="0"/>
                </a:lnTo>
                <a:lnTo>
                  <a:pt x="1981685" y="1448155"/>
                </a:lnTo>
                <a:close/>
              </a:path>
            </a:pathLst>
          </a:custGeom>
          <a:blipFill>
            <a:blip r:embed="rId3"/>
            <a:stretch>
              <a:fillRect l="0" t="0" r="0" b="0"/>
            </a:stretch>
          </a:blipFill>
        </p:spPr>
      </p:sp>
      <p:sp>
        <p:nvSpPr>
          <p:cNvPr name="TextBox 4" id="4"/>
          <p:cNvSpPr txBox="true"/>
          <p:nvPr/>
        </p:nvSpPr>
        <p:spPr>
          <a:xfrm rot="0">
            <a:off x="5086350" y="1047750"/>
            <a:ext cx="8115300" cy="746337"/>
          </a:xfrm>
          <a:prstGeom prst="rect">
            <a:avLst/>
          </a:prstGeom>
        </p:spPr>
        <p:txBody>
          <a:bodyPr anchor="t" rtlCol="false" tIns="0" lIns="0" bIns="0" rIns="0">
            <a:spAutoFit/>
          </a:bodyPr>
          <a:lstStyle/>
          <a:p>
            <a:pPr algn="ctr" marL="0" indent="0" lvl="0">
              <a:lnSpc>
                <a:spcPts val="5998"/>
              </a:lnSpc>
            </a:pPr>
            <a:r>
              <a:rPr lang="en-US" b="true" sz="5083">
                <a:solidFill>
                  <a:srgbClr val="363E52"/>
                </a:solidFill>
                <a:latin typeface="Montserrat Semi-Bold"/>
                <a:ea typeface="Montserrat Semi-Bold"/>
                <a:cs typeface="Montserrat Semi-Bold"/>
                <a:sym typeface="Montserrat Semi-Bold"/>
              </a:rPr>
              <a:t>Hyperparameter Tuning</a:t>
            </a:r>
          </a:p>
        </p:txBody>
      </p:sp>
      <p:sp>
        <p:nvSpPr>
          <p:cNvPr name="TextBox 5" id="5"/>
          <p:cNvSpPr txBox="true"/>
          <p:nvPr/>
        </p:nvSpPr>
        <p:spPr>
          <a:xfrm rot="0">
            <a:off x="662773" y="2236143"/>
            <a:ext cx="15318566" cy="7844144"/>
          </a:xfrm>
          <a:prstGeom prst="rect">
            <a:avLst/>
          </a:prstGeom>
        </p:spPr>
        <p:txBody>
          <a:bodyPr anchor="t" rtlCol="false" tIns="0" lIns="0" bIns="0" rIns="0">
            <a:spAutoFit/>
          </a:bodyPr>
          <a:lstStyle/>
          <a:p>
            <a:pPr algn="l">
              <a:lnSpc>
                <a:spcPts val="3335"/>
              </a:lnSpc>
            </a:pPr>
            <a:r>
              <a:rPr lang="en-US" sz="2382" b="true">
                <a:solidFill>
                  <a:srgbClr val="363E52"/>
                </a:solidFill>
                <a:latin typeface="Montserrat Bold"/>
                <a:ea typeface="Montserrat Bold"/>
                <a:cs typeface="Montserrat Bold"/>
                <a:sym typeface="Montserrat Bold"/>
              </a:rPr>
              <a:t>Technique Used</a:t>
            </a:r>
          </a:p>
          <a:p>
            <a:pPr algn="l" marL="0" indent="0" lvl="0">
              <a:lnSpc>
                <a:spcPts val="3335"/>
              </a:lnSpc>
            </a:pPr>
            <a:r>
              <a:rPr lang="en-US" sz="2382">
                <a:solidFill>
                  <a:srgbClr val="363E52"/>
                </a:solidFill>
                <a:latin typeface="Montserrat"/>
                <a:ea typeface="Montserrat"/>
                <a:cs typeface="Montserrat"/>
                <a:sym typeface="Montserrat"/>
              </a:rPr>
              <a:t>GridSearchCV</a:t>
            </a:r>
          </a:p>
          <a:p>
            <a:pPr algn="l" marL="0" indent="0" lvl="0">
              <a:lnSpc>
                <a:spcPts val="3335"/>
              </a:lnSpc>
            </a:pPr>
          </a:p>
          <a:p>
            <a:pPr algn="l" marL="0" indent="0" lvl="0">
              <a:lnSpc>
                <a:spcPts val="3335"/>
              </a:lnSpc>
            </a:pPr>
            <a:r>
              <a:rPr lang="en-US" b="true" sz="2382">
                <a:solidFill>
                  <a:srgbClr val="363E52"/>
                </a:solidFill>
                <a:latin typeface="Montserrat Bold"/>
                <a:ea typeface="Montserrat Bold"/>
                <a:cs typeface="Montserrat Bold"/>
                <a:sym typeface="Montserrat Bold"/>
              </a:rPr>
              <a:t>Purpose</a:t>
            </a:r>
          </a:p>
          <a:p>
            <a:pPr algn="l" marL="0" indent="0" lvl="0">
              <a:lnSpc>
                <a:spcPts val="3335"/>
              </a:lnSpc>
            </a:pPr>
            <a:r>
              <a:rPr lang="en-US" sz="2382">
                <a:solidFill>
                  <a:srgbClr val="363E52"/>
                </a:solidFill>
                <a:latin typeface="Montserrat"/>
                <a:ea typeface="Montserrat"/>
                <a:cs typeface="Montserrat"/>
                <a:sym typeface="Montserrat"/>
              </a:rPr>
              <a:t>Find optimal Random Forest parameters:</a:t>
            </a:r>
          </a:p>
          <a:p>
            <a:pPr algn="l" marL="514333" indent="-257167" lvl="1">
              <a:lnSpc>
                <a:spcPts val="3335"/>
              </a:lnSpc>
              <a:buFont typeface="Arial"/>
              <a:buChar char="•"/>
            </a:pPr>
            <a:r>
              <a:rPr lang="en-US" sz="2382">
                <a:solidFill>
                  <a:srgbClr val="363E52"/>
                </a:solidFill>
                <a:latin typeface="Montserrat"/>
                <a:ea typeface="Montserrat"/>
                <a:cs typeface="Montserrat"/>
                <a:sym typeface="Montserrat"/>
              </a:rPr>
              <a:t>Number of trees</a:t>
            </a:r>
          </a:p>
          <a:p>
            <a:pPr algn="l" marL="514333" indent="-257167" lvl="1">
              <a:lnSpc>
                <a:spcPts val="3335"/>
              </a:lnSpc>
              <a:buFont typeface="Arial"/>
              <a:buChar char="•"/>
            </a:pPr>
            <a:r>
              <a:rPr lang="en-US" sz="2382">
                <a:solidFill>
                  <a:srgbClr val="363E52"/>
                </a:solidFill>
                <a:latin typeface="Montserrat"/>
                <a:ea typeface="Montserrat"/>
                <a:cs typeface="Montserrat"/>
                <a:sym typeface="Montserrat"/>
              </a:rPr>
              <a:t>Tree depth</a:t>
            </a:r>
          </a:p>
          <a:p>
            <a:pPr algn="l" marL="514333" indent="-257167" lvl="1">
              <a:lnSpc>
                <a:spcPts val="3335"/>
              </a:lnSpc>
              <a:buFont typeface="Arial"/>
              <a:buChar char="•"/>
            </a:pPr>
            <a:r>
              <a:rPr lang="en-US" sz="2382">
                <a:solidFill>
                  <a:srgbClr val="363E52"/>
                </a:solidFill>
                <a:latin typeface="Montserrat"/>
                <a:ea typeface="Montserrat"/>
                <a:cs typeface="Montserrat"/>
                <a:sym typeface="Montserrat"/>
              </a:rPr>
              <a:t>Minimum split size</a:t>
            </a:r>
          </a:p>
          <a:p>
            <a:pPr algn="l" marL="514333" indent="-257167" lvl="1">
              <a:lnSpc>
                <a:spcPts val="3335"/>
              </a:lnSpc>
              <a:buFont typeface="Arial"/>
              <a:buChar char="•"/>
            </a:pPr>
          </a:p>
          <a:p>
            <a:pPr algn="l" marL="0" indent="0" lvl="0">
              <a:lnSpc>
                <a:spcPts val="3335"/>
              </a:lnSpc>
            </a:pPr>
            <a:r>
              <a:rPr lang="en-US" b="true" sz="2382">
                <a:solidFill>
                  <a:srgbClr val="363E52"/>
                </a:solidFill>
                <a:latin typeface="Montserrat Bold"/>
                <a:ea typeface="Montserrat Bold"/>
                <a:cs typeface="Montserrat Bold"/>
                <a:sym typeface="Montserrat Bold"/>
              </a:rPr>
              <a:t>Process</a:t>
            </a:r>
          </a:p>
          <a:p>
            <a:pPr algn="l" marL="514333" indent="-257167" lvl="1">
              <a:lnSpc>
                <a:spcPts val="3335"/>
              </a:lnSpc>
              <a:buFont typeface="Arial"/>
              <a:buChar char="•"/>
            </a:pPr>
            <a:r>
              <a:rPr lang="en-US" sz="2382">
                <a:solidFill>
                  <a:srgbClr val="363E52"/>
                </a:solidFill>
                <a:latin typeface="Montserrat"/>
                <a:ea typeface="Montserrat"/>
                <a:cs typeface="Montserrat"/>
                <a:sym typeface="Montserrat"/>
              </a:rPr>
              <a:t>8 parameter combinations tested</a:t>
            </a:r>
          </a:p>
          <a:p>
            <a:pPr algn="l" marL="514333" indent="-257167" lvl="1">
              <a:lnSpc>
                <a:spcPts val="3335"/>
              </a:lnSpc>
              <a:buFont typeface="Arial"/>
              <a:buChar char="•"/>
            </a:pPr>
            <a:r>
              <a:rPr lang="en-US" sz="2382">
                <a:solidFill>
                  <a:srgbClr val="363E52"/>
                </a:solidFill>
                <a:latin typeface="Montserrat"/>
                <a:ea typeface="Montserrat"/>
                <a:cs typeface="Montserrat"/>
                <a:sym typeface="Montserrat"/>
              </a:rPr>
              <a:t>5-fold cross-validation applied</a:t>
            </a:r>
          </a:p>
          <a:p>
            <a:pPr algn="l" marL="514333" indent="-257167" lvl="1">
              <a:lnSpc>
                <a:spcPts val="3335"/>
              </a:lnSpc>
              <a:buFont typeface="Arial"/>
              <a:buChar char="•"/>
            </a:pPr>
          </a:p>
          <a:p>
            <a:pPr algn="l" marL="0" indent="0" lvl="0">
              <a:lnSpc>
                <a:spcPts val="3335"/>
              </a:lnSpc>
            </a:pPr>
            <a:r>
              <a:rPr lang="en-US" b="true" sz="2382">
                <a:solidFill>
                  <a:srgbClr val="363E52"/>
                </a:solidFill>
                <a:latin typeface="Montserrat Bold"/>
                <a:ea typeface="Montserrat Bold"/>
                <a:cs typeface="Montserrat Bold"/>
                <a:sym typeface="Montserrat Bold"/>
              </a:rPr>
              <a:t>Benefit</a:t>
            </a:r>
          </a:p>
          <a:p>
            <a:pPr algn="l" marL="0" indent="0" lvl="0">
              <a:lnSpc>
                <a:spcPts val="3335"/>
              </a:lnSpc>
            </a:pPr>
            <a:r>
              <a:rPr lang="en-US" sz="2382">
                <a:solidFill>
                  <a:srgbClr val="363E52"/>
                </a:solidFill>
                <a:latin typeface="Montserrat"/>
                <a:ea typeface="Montserrat"/>
                <a:cs typeface="Montserrat"/>
                <a:sym typeface="Montserrat"/>
              </a:rPr>
              <a:t>Improved:</a:t>
            </a:r>
          </a:p>
          <a:p>
            <a:pPr algn="l" marL="514333" indent="-257167" lvl="1">
              <a:lnSpc>
                <a:spcPts val="3335"/>
              </a:lnSpc>
              <a:buFont typeface="Arial"/>
              <a:buChar char="•"/>
            </a:pPr>
            <a:r>
              <a:rPr lang="en-US" sz="2382">
                <a:solidFill>
                  <a:srgbClr val="363E52"/>
                </a:solidFill>
                <a:latin typeface="Montserrat"/>
                <a:ea typeface="Montserrat"/>
                <a:cs typeface="Montserrat"/>
                <a:sym typeface="Montserrat"/>
              </a:rPr>
              <a:t>Generalization</a:t>
            </a:r>
          </a:p>
          <a:p>
            <a:pPr algn="l" marL="514333" indent="-257167" lvl="1">
              <a:lnSpc>
                <a:spcPts val="3335"/>
              </a:lnSpc>
              <a:buFont typeface="Arial"/>
              <a:buChar char="•"/>
            </a:pPr>
            <a:r>
              <a:rPr lang="en-US" sz="2382">
                <a:solidFill>
                  <a:srgbClr val="363E52"/>
                </a:solidFill>
                <a:latin typeface="Montserrat"/>
                <a:ea typeface="Montserrat"/>
                <a:cs typeface="Montserrat"/>
                <a:sym typeface="Montserrat"/>
              </a:rPr>
              <a:t>Robustness</a:t>
            </a:r>
          </a:p>
          <a:p>
            <a:pPr algn="l" marL="514333" indent="-257167" lvl="1">
              <a:lnSpc>
                <a:spcPts val="3335"/>
              </a:lnSpc>
              <a:buFont typeface="Arial"/>
              <a:buChar char="•"/>
            </a:pPr>
            <a:r>
              <a:rPr lang="en-US" sz="2382">
                <a:solidFill>
                  <a:srgbClr val="363E52"/>
                </a:solidFill>
                <a:latin typeface="Montserrat"/>
                <a:ea typeface="Montserrat"/>
                <a:cs typeface="Montserrat"/>
                <a:sym typeface="Montserrat"/>
              </a:rPr>
              <a:t>Reliability</a:t>
            </a:r>
          </a:p>
          <a:p>
            <a:pPr algn="l" marL="0" indent="0" lvl="0">
              <a:lnSpc>
                <a:spcPts val="3335"/>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87769" r="0" b="-63506"/>
            </a:stretch>
          </a:blipFill>
        </p:spPr>
      </p:sp>
      <p:sp>
        <p:nvSpPr>
          <p:cNvPr name="Freeform 3" id="3"/>
          <p:cNvSpPr/>
          <p:nvPr/>
        </p:nvSpPr>
        <p:spPr>
          <a:xfrm flipH="true" flipV="true" rot="-2365843">
            <a:off x="456804" y="95046"/>
            <a:ext cx="1981685" cy="1448155"/>
          </a:xfrm>
          <a:custGeom>
            <a:avLst/>
            <a:gdLst/>
            <a:ahLst/>
            <a:cxnLst/>
            <a:rect r="r" b="b" t="t" l="l"/>
            <a:pathLst>
              <a:path h="1448155" w="1981685">
                <a:moveTo>
                  <a:pt x="1981685" y="1448155"/>
                </a:moveTo>
                <a:lnTo>
                  <a:pt x="0" y="1448155"/>
                </a:lnTo>
                <a:lnTo>
                  <a:pt x="0" y="0"/>
                </a:lnTo>
                <a:lnTo>
                  <a:pt x="1981685" y="0"/>
                </a:lnTo>
                <a:lnTo>
                  <a:pt x="1981685" y="1448155"/>
                </a:lnTo>
                <a:close/>
              </a:path>
            </a:pathLst>
          </a:custGeom>
          <a:blipFill>
            <a:blip r:embed="rId3"/>
            <a:stretch>
              <a:fillRect l="0" t="0" r="0" b="0"/>
            </a:stretch>
          </a:blipFill>
        </p:spPr>
      </p:sp>
      <p:sp>
        <p:nvSpPr>
          <p:cNvPr name="Freeform 4" id="4"/>
          <p:cNvSpPr/>
          <p:nvPr/>
        </p:nvSpPr>
        <p:spPr>
          <a:xfrm flipH="false" flipV="false" rot="0">
            <a:off x="2036126" y="2164540"/>
            <a:ext cx="13190683" cy="6754568"/>
          </a:xfrm>
          <a:custGeom>
            <a:avLst/>
            <a:gdLst/>
            <a:ahLst/>
            <a:cxnLst/>
            <a:rect r="r" b="b" t="t" l="l"/>
            <a:pathLst>
              <a:path h="6754568" w="13190683">
                <a:moveTo>
                  <a:pt x="0" y="0"/>
                </a:moveTo>
                <a:lnTo>
                  <a:pt x="13190683" y="0"/>
                </a:lnTo>
                <a:lnTo>
                  <a:pt x="13190683" y="6754568"/>
                </a:lnTo>
                <a:lnTo>
                  <a:pt x="0" y="6754568"/>
                </a:lnTo>
                <a:lnTo>
                  <a:pt x="0" y="0"/>
                </a:lnTo>
                <a:close/>
              </a:path>
            </a:pathLst>
          </a:custGeom>
          <a:blipFill>
            <a:blip r:embed="rId4"/>
            <a:stretch>
              <a:fillRect l="0" t="0" r="0" b="0"/>
            </a:stretch>
          </a:blipFill>
        </p:spPr>
      </p:sp>
      <p:sp>
        <p:nvSpPr>
          <p:cNvPr name="TextBox 5" id="5"/>
          <p:cNvSpPr txBox="true"/>
          <p:nvPr/>
        </p:nvSpPr>
        <p:spPr>
          <a:xfrm rot="0">
            <a:off x="5086350" y="1047750"/>
            <a:ext cx="8115300" cy="746337"/>
          </a:xfrm>
          <a:prstGeom prst="rect">
            <a:avLst/>
          </a:prstGeom>
        </p:spPr>
        <p:txBody>
          <a:bodyPr anchor="t" rtlCol="false" tIns="0" lIns="0" bIns="0" rIns="0">
            <a:spAutoFit/>
          </a:bodyPr>
          <a:lstStyle/>
          <a:p>
            <a:pPr algn="ctr" marL="0" indent="0" lvl="0">
              <a:lnSpc>
                <a:spcPts val="5998"/>
              </a:lnSpc>
            </a:pPr>
            <a:r>
              <a:rPr lang="en-US" b="true" sz="5083">
                <a:solidFill>
                  <a:srgbClr val="363E52"/>
                </a:solidFill>
                <a:latin typeface="Montserrat Semi-Bold"/>
                <a:ea typeface="Montserrat Semi-Bold"/>
                <a:cs typeface="Montserrat Semi-Bold"/>
                <a:sym typeface="Montserrat Semi-Bold"/>
              </a:rPr>
              <a:t>Hyperparameter Tuning</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87769" r="0" b="-63506"/>
            </a:stretch>
          </a:blipFill>
        </p:spPr>
      </p:sp>
      <p:sp>
        <p:nvSpPr>
          <p:cNvPr name="Freeform 3" id="3"/>
          <p:cNvSpPr/>
          <p:nvPr/>
        </p:nvSpPr>
        <p:spPr>
          <a:xfrm flipH="true" flipV="true" rot="-2365843">
            <a:off x="456804" y="95046"/>
            <a:ext cx="1981685" cy="1448155"/>
          </a:xfrm>
          <a:custGeom>
            <a:avLst/>
            <a:gdLst/>
            <a:ahLst/>
            <a:cxnLst/>
            <a:rect r="r" b="b" t="t" l="l"/>
            <a:pathLst>
              <a:path h="1448155" w="1981685">
                <a:moveTo>
                  <a:pt x="1981685" y="1448155"/>
                </a:moveTo>
                <a:lnTo>
                  <a:pt x="0" y="1448155"/>
                </a:lnTo>
                <a:lnTo>
                  <a:pt x="0" y="0"/>
                </a:lnTo>
                <a:lnTo>
                  <a:pt x="1981685" y="0"/>
                </a:lnTo>
                <a:lnTo>
                  <a:pt x="1981685" y="1448155"/>
                </a:lnTo>
                <a:close/>
              </a:path>
            </a:pathLst>
          </a:custGeom>
          <a:blipFill>
            <a:blip r:embed="rId3"/>
            <a:stretch>
              <a:fillRect l="0" t="0" r="0" b="0"/>
            </a:stretch>
          </a:blipFill>
        </p:spPr>
      </p:sp>
      <p:sp>
        <p:nvSpPr>
          <p:cNvPr name="Freeform 4" id="4"/>
          <p:cNvSpPr/>
          <p:nvPr/>
        </p:nvSpPr>
        <p:spPr>
          <a:xfrm flipH="false" flipV="false" rot="0">
            <a:off x="1666802" y="1728110"/>
            <a:ext cx="12958407" cy="3937362"/>
          </a:xfrm>
          <a:custGeom>
            <a:avLst/>
            <a:gdLst/>
            <a:ahLst/>
            <a:cxnLst/>
            <a:rect r="r" b="b" t="t" l="l"/>
            <a:pathLst>
              <a:path h="3937362" w="12958407">
                <a:moveTo>
                  <a:pt x="0" y="0"/>
                </a:moveTo>
                <a:lnTo>
                  <a:pt x="12958408" y="0"/>
                </a:lnTo>
                <a:lnTo>
                  <a:pt x="12958408" y="3937362"/>
                </a:lnTo>
                <a:lnTo>
                  <a:pt x="0" y="3937362"/>
                </a:lnTo>
                <a:lnTo>
                  <a:pt x="0" y="0"/>
                </a:lnTo>
                <a:close/>
              </a:path>
            </a:pathLst>
          </a:custGeom>
          <a:blipFill>
            <a:blip r:embed="rId4"/>
            <a:stretch>
              <a:fillRect l="0" t="0" r="0" b="0"/>
            </a:stretch>
          </a:blipFill>
        </p:spPr>
      </p:sp>
      <p:sp>
        <p:nvSpPr>
          <p:cNvPr name="TextBox 5" id="5"/>
          <p:cNvSpPr txBox="true"/>
          <p:nvPr/>
        </p:nvSpPr>
        <p:spPr>
          <a:xfrm rot="0">
            <a:off x="3186160" y="828649"/>
            <a:ext cx="9919692" cy="639616"/>
          </a:xfrm>
          <a:prstGeom prst="rect">
            <a:avLst/>
          </a:prstGeom>
        </p:spPr>
        <p:txBody>
          <a:bodyPr anchor="t" rtlCol="false" tIns="0" lIns="0" bIns="0" rIns="0">
            <a:spAutoFit/>
          </a:bodyPr>
          <a:lstStyle/>
          <a:p>
            <a:pPr algn="ctr">
              <a:lnSpc>
                <a:spcPts val="5094"/>
              </a:lnSpc>
              <a:spcBef>
                <a:spcPct val="0"/>
              </a:spcBef>
            </a:pPr>
            <a:r>
              <a:rPr lang="en-US" b="true" sz="4317">
                <a:solidFill>
                  <a:srgbClr val="000000"/>
                </a:solidFill>
                <a:latin typeface="Montserrat Semi-Bold"/>
                <a:ea typeface="Montserrat Semi-Bold"/>
                <a:cs typeface="Montserrat Semi-Bold"/>
                <a:sym typeface="Montserrat Semi-Bold"/>
              </a:rPr>
              <a:t>Results of Hyperparameter Tuning </a:t>
            </a:r>
          </a:p>
        </p:txBody>
      </p:sp>
      <p:sp>
        <p:nvSpPr>
          <p:cNvPr name="TextBox 6" id="6"/>
          <p:cNvSpPr txBox="true"/>
          <p:nvPr/>
        </p:nvSpPr>
        <p:spPr>
          <a:xfrm rot="0">
            <a:off x="2333769" y="6512108"/>
            <a:ext cx="8711717" cy="2746192"/>
          </a:xfrm>
          <a:prstGeom prst="rect">
            <a:avLst/>
          </a:prstGeom>
        </p:spPr>
        <p:txBody>
          <a:bodyPr anchor="t" rtlCol="false" tIns="0" lIns="0" bIns="0" rIns="0">
            <a:spAutoFit/>
          </a:bodyPr>
          <a:lstStyle/>
          <a:p>
            <a:pPr algn="ctr">
              <a:lnSpc>
                <a:spcPts val="2734"/>
              </a:lnSpc>
              <a:spcBef>
                <a:spcPct val="0"/>
              </a:spcBef>
            </a:pPr>
            <a:r>
              <a:rPr lang="en-US" b="true" sz="2317">
                <a:solidFill>
                  <a:srgbClr val="000000"/>
                </a:solidFill>
                <a:latin typeface="Montserrat Semi-Bold"/>
                <a:ea typeface="Montserrat Semi-Bold"/>
                <a:cs typeface="Montserrat Semi-Bold"/>
                <a:sym typeface="Montserrat Semi-Bold"/>
              </a:rPr>
              <a:t>The tuned Random Forest achieved the same perfect scores as the baseline model on this small test set. While this indicates strong class separability in the selected features, it also reflects the very small test size (6 samples at 80/20 split). Results should be interpreted cautiously — future work should use cross-validation scores as the primary performance estimate rather than a single holdout split.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278052" cy="10287000"/>
          </a:xfrm>
          <a:custGeom>
            <a:avLst/>
            <a:gdLst/>
            <a:ahLst/>
            <a:cxnLst/>
            <a:rect r="r" b="b" t="t" l="l"/>
            <a:pathLst>
              <a:path h="10287000" w="7278052">
                <a:moveTo>
                  <a:pt x="0" y="0"/>
                </a:moveTo>
                <a:lnTo>
                  <a:pt x="7278052" y="0"/>
                </a:lnTo>
                <a:lnTo>
                  <a:pt x="7278052"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227585" y="781862"/>
            <a:ext cx="2718324" cy="1712544"/>
          </a:xfrm>
          <a:custGeom>
            <a:avLst/>
            <a:gdLst/>
            <a:ahLst/>
            <a:cxnLst/>
            <a:rect r="r" b="b" t="t" l="l"/>
            <a:pathLst>
              <a:path h="1712544" w="2718324">
                <a:moveTo>
                  <a:pt x="0" y="0"/>
                </a:moveTo>
                <a:lnTo>
                  <a:pt x="2718324" y="0"/>
                </a:lnTo>
                <a:lnTo>
                  <a:pt x="2718324" y="1712544"/>
                </a:lnTo>
                <a:lnTo>
                  <a:pt x="0" y="1712544"/>
                </a:lnTo>
                <a:lnTo>
                  <a:pt x="0" y="0"/>
                </a:lnTo>
                <a:close/>
              </a:path>
            </a:pathLst>
          </a:custGeom>
          <a:blipFill>
            <a:blip r:embed="rId3"/>
            <a:stretch>
              <a:fillRect l="0" t="0" r="0" b="0"/>
            </a:stretch>
          </a:blipFill>
        </p:spPr>
      </p:sp>
      <p:sp>
        <p:nvSpPr>
          <p:cNvPr name="TextBox 4" id="4"/>
          <p:cNvSpPr txBox="true"/>
          <p:nvPr/>
        </p:nvSpPr>
        <p:spPr>
          <a:xfrm rot="0">
            <a:off x="3878309" y="596715"/>
            <a:ext cx="9437959" cy="754195"/>
          </a:xfrm>
          <a:prstGeom prst="rect">
            <a:avLst/>
          </a:prstGeom>
        </p:spPr>
        <p:txBody>
          <a:bodyPr anchor="t" rtlCol="false" tIns="0" lIns="0" bIns="0" rIns="0">
            <a:spAutoFit/>
          </a:bodyPr>
          <a:lstStyle/>
          <a:p>
            <a:pPr algn="l" marL="0" indent="0" lvl="0">
              <a:lnSpc>
                <a:spcPts val="5920"/>
              </a:lnSpc>
            </a:pPr>
            <a:r>
              <a:rPr lang="en-US" b="true" sz="5017">
                <a:solidFill>
                  <a:srgbClr val="363E52"/>
                </a:solidFill>
                <a:latin typeface="Montserrat Semi-Bold"/>
                <a:ea typeface="Montserrat Semi-Bold"/>
                <a:cs typeface="Montserrat Semi-Bold"/>
                <a:sym typeface="Montserrat Semi-Bold"/>
              </a:rPr>
              <a:t>Feature Importance Analysis</a:t>
            </a:r>
          </a:p>
        </p:txBody>
      </p:sp>
      <p:sp>
        <p:nvSpPr>
          <p:cNvPr name="TextBox 5" id="5"/>
          <p:cNvSpPr txBox="true"/>
          <p:nvPr/>
        </p:nvSpPr>
        <p:spPr>
          <a:xfrm rot="0">
            <a:off x="8330897" y="3432862"/>
            <a:ext cx="1848954" cy="639616"/>
          </a:xfrm>
          <a:prstGeom prst="rect">
            <a:avLst/>
          </a:prstGeom>
        </p:spPr>
        <p:txBody>
          <a:bodyPr anchor="t" rtlCol="false" tIns="0" lIns="0" bIns="0" rIns="0">
            <a:spAutoFit/>
          </a:bodyPr>
          <a:lstStyle/>
          <a:p>
            <a:pPr algn="l" marL="0" indent="0" lvl="0">
              <a:lnSpc>
                <a:spcPts val="5094"/>
              </a:lnSpc>
            </a:pPr>
          </a:p>
        </p:txBody>
      </p:sp>
      <p:sp>
        <p:nvSpPr>
          <p:cNvPr name="TextBox 6" id="6"/>
          <p:cNvSpPr txBox="true"/>
          <p:nvPr/>
        </p:nvSpPr>
        <p:spPr>
          <a:xfrm rot="0">
            <a:off x="8330897" y="5494072"/>
            <a:ext cx="1848954" cy="639616"/>
          </a:xfrm>
          <a:prstGeom prst="rect">
            <a:avLst/>
          </a:prstGeom>
        </p:spPr>
        <p:txBody>
          <a:bodyPr anchor="t" rtlCol="false" tIns="0" lIns="0" bIns="0" rIns="0">
            <a:spAutoFit/>
          </a:bodyPr>
          <a:lstStyle/>
          <a:p>
            <a:pPr algn="l" marL="0" indent="0" lvl="0">
              <a:lnSpc>
                <a:spcPts val="5094"/>
              </a:lnSpc>
            </a:pPr>
          </a:p>
        </p:txBody>
      </p:sp>
      <p:sp>
        <p:nvSpPr>
          <p:cNvPr name="TextBox 7" id="7"/>
          <p:cNvSpPr txBox="true"/>
          <p:nvPr/>
        </p:nvSpPr>
        <p:spPr>
          <a:xfrm rot="0">
            <a:off x="8126287" y="2094816"/>
            <a:ext cx="8902233" cy="6565365"/>
          </a:xfrm>
          <a:prstGeom prst="rect">
            <a:avLst/>
          </a:prstGeom>
        </p:spPr>
        <p:txBody>
          <a:bodyPr anchor="t" rtlCol="false" tIns="0" lIns="0" bIns="0" rIns="0">
            <a:spAutoFit/>
          </a:bodyPr>
          <a:lstStyle/>
          <a:p>
            <a:pPr algn="l" marL="0" indent="0" lvl="0">
              <a:lnSpc>
                <a:spcPts val="3469"/>
              </a:lnSpc>
            </a:pPr>
            <a:r>
              <a:rPr lang="en-US" sz="2478">
                <a:solidFill>
                  <a:srgbClr val="363E52"/>
                </a:solidFill>
                <a:latin typeface="Open Sauce"/>
                <a:ea typeface="Open Sauce"/>
                <a:cs typeface="Open Sauce"/>
                <a:sym typeface="Open Sauce"/>
              </a:rPr>
              <a:t>Feature Importance Using </a:t>
            </a:r>
            <a:r>
              <a:rPr lang="en-US" sz="2478">
                <a:solidFill>
                  <a:srgbClr val="363E52"/>
                </a:solidFill>
                <a:latin typeface="Open Sauce"/>
                <a:ea typeface="Open Sauce"/>
                <a:cs typeface="Open Sauce"/>
                <a:sym typeface="Open Sauce"/>
              </a:rPr>
              <a:t>Random Forest</a:t>
            </a:r>
          </a:p>
          <a:p>
            <a:pPr algn="l" marL="0" indent="0" lvl="0">
              <a:lnSpc>
                <a:spcPts val="3469"/>
              </a:lnSpc>
            </a:pPr>
          </a:p>
          <a:p>
            <a:pPr algn="l" marL="0" indent="0" lvl="0">
              <a:lnSpc>
                <a:spcPts val="3469"/>
              </a:lnSpc>
            </a:pPr>
            <a:r>
              <a:rPr lang="en-US" b="true" sz="2478">
                <a:solidFill>
                  <a:srgbClr val="363E52"/>
                </a:solidFill>
                <a:latin typeface="Open Sauce Bold"/>
                <a:ea typeface="Open Sauce Bold"/>
                <a:cs typeface="Open Sauce Bold"/>
                <a:sym typeface="Open Sauce Bold"/>
              </a:rPr>
              <a:t>Purpose</a:t>
            </a:r>
          </a:p>
          <a:p>
            <a:pPr algn="l" marL="0" indent="0" lvl="0">
              <a:lnSpc>
                <a:spcPts val="3469"/>
              </a:lnSpc>
            </a:pPr>
            <a:r>
              <a:rPr lang="en-US" sz="2478">
                <a:solidFill>
                  <a:srgbClr val="363E52"/>
                </a:solidFill>
                <a:latin typeface="Open Sauce"/>
                <a:ea typeface="Open Sauce"/>
                <a:cs typeface="Open Sauce"/>
                <a:sym typeface="Open Sauce"/>
              </a:rPr>
              <a:t>Identify genes contributing most to classification.</a:t>
            </a:r>
          </a:p>
          <a:p>
            <a:pPr algn="l" marL="0" indent="0" lvl="0">
              <a:lnSpc>
                <a:spcPts val="3469"/>
              </a:lnSpc>
            </a:pPr>
          </a:p>
          <a:p>
            <a:pPr algn="l" marL="0" indent="0" lvl="0">
              <a:lnSpc>
                <a:spcPts val="3469"/>
              </a:lnSpc>
            </a:pPr>
            <a:r>
              <a:rPr lang="en-US" b="true" sz="2478">
                <a:solidFill>
                  <a:srgbClr val="363E52"/>
                </a:solidFill>
                <a:latin typeface="Open Sauce Bold"/>
                <a:ea typeface="Open Sauce Bold"/>
                <a:cs typeface="Open Sauce Bold"/>
                <a:sym typeface="Open Sauce Bold"/>
              </a:rPr>
              <a:t>Top Important Genes</a:t>
            </a:r>
          </a:p>
          <a:p>
            <a:pPr algn="l" marL="535082" indent="-267541" lvl="1">
              <a:lnSpc>
                <a:spcPts val="3469"/>
              </a:lnSpc>
              <a:buFont typeface="Arial"/>
              <a:buChar char="•"/>
            </a:pPr>
            <a:r>
              <a:rPr lang="en-US" sz="2478">
                <a:solidFill>
                  <a:srgbClr val="363E52"/>
                </a:solidFill>
                <a:latin typeface="Open Sauce"/>
                <a:ea typeface="Open Sauce"/>
                <a:cs typeface="Open Sauce"/>
                <a:sym typeface="Open Sauce"/>
              </a:rPr>
              <a:t>DPH2</a:t>
            </a:r>
          </a:p>
          <a:p>
            <a:pPr algn="l" marL="535082" indent="-267541" lvl="1">
              <a:lnSpc>
                <a:spcPts val="3469"/>
              </a:lnSpc>
              <a:buFont typeface="Arial"/>
              <a:buChar char="•"/>
            </a:pPr>
            <a:r>
              <a:rPr lang="en-US" sz="2478">
                <a:solidFill>
                  <a:srgbClr val="363E52"/>
                </a:solidFill>
                <a:latin typeface="Open Sauce"/>
                <a:ea typeface="Open Sauce"/>
                <a:cs typeface="Open Sauce"/>
                <a:sym typeface="Open Sauce"/>
              </a:rPr>
              <a:t>ZNF449</a:t>
            </a:r>
          </a:p>
          <a:p>
            <a:pPr algn="l" marL="535082" indent="-267541" lvl="1">
              <a:lnSpc>
                <a:spcPts val="3469"/>
              </a:lnSpc>
              <a:buFont typeface="Arial"/>
              <a:buChar char="•"/>
            </a:pPr>
            <a:r>
              <a:rPr lang="en-US" sz="2478">
                <a:solidFill>
                  <a:srgbClr val="363E52"/>
                </a:solidFill>
                <a:latin typeface="Open Sauce"/>
                <a:ea typeface="Open Sauce"/>
                <a:cs typeface="Open Sauce"/>
                <a:sym typeface="Open Sauce"/>
              </a:rPr>
              <a:t>RABGEF1</a:t>
            </a:r>
          </a:p>
          <a:p>
            <a:pPr algn="l" marL="535082" indent="-267541" lvl="1">
              <a:lnSpc>
                <a:spcPts val="3469"/>
              </a:lnSpc>
              <a:buFont typeface="Arial"/>
              <a:buChar char="•"/>
            </a:pPr>
          </a:p>
          <a:p>
            <a:pPr algn="l" marL="0" indent="0" lvl="0">
              <a:lnSpc>
                <a:spcPts val="3469"/>
              </a:lnSpc>
            </a:pPr>
            <a:r>
              <a:rPr lang="en-US" b="true" sz="2478">
                <a:solidFill>
                  <a:srgbClr val="363E52"/>
                </a:solidFill>
                <a:latin typeface="Open Sauce Bold"/>
                <a:ea typeface="Open Sauce Bold"/>
                <a:cs typeface="Open Sauce Bold"/>
                <a:sym typeface="Open Sauce Bold"/>
              </a:rPr>
              <a:t>Importance of Feature Importance</a:t>
            </a:r>
          </a:p>
          <a:p>
            <a:pPr algn="l" marL="535082" indent="-267541" lvl="1">
              <a:lnSpc>
                <a:spcPts val="3469"/>
              </a:lnSpc>
              <a:buFont typeface="Arial"/>
              <a:buChar char="•"/>
            </a:pPr>
            <a:r>
              <a:rPr lang="en-US" sz="2478">
                <a:solidFill>
                  <a:srgbClr val="363E52"/>
                </a:solidFill>
                <a:latin typeface="Open Sauce"/>
                <a:ea typeface="Open Sauce"/>
                <a:cs typeface="Open Sauce"/>
                <a:sym typeface="Open Sauce"/>
              </a:rPr>
              <a:t>Reduces model complexity</a:t>
            </a:r>
          </a:p>
          <a:p>
            <a:pPr algn="l" marL="535082" indent="-267541" lvl="1">
              <a:lnSpc>
                <a:spcPts val="3469"/>
              </a:lnSpc>
              <a:buFont typeface="Arial"/>
              <a:buChar char="•"/>
            </a:pPr>
            <a:r>
              <a:rPr lang="en-US" sz="2478">
                <a:solidFill>
                  <a:srgbClr val="363E52"/>
                </a:solidFill>
                <a:latin typeface="Open Sauce"/>
                <a:ea typeface="Open Sauce"/>
                <a:cs typeface="Open Sauce"/>
                <a:sym typeface="Open Sauce"/>
              </a:rPr>
              <a:t>Improves interpretability</a:t>
            </a:r>
          </a:p>
          <a:p>
            <a:pPr algn="l" marL="535082" indent="-267541" lvl="1">
              <a:lnSpc>
                <a:spcPts val="3469"/>
              </a:lnSpc>
              <a:buFont typeface="Arial"/>
              <a:buChar char="•"/>
            </a:pPr>
            <a:r>
              <a:rPr lang="en-US" sz="2478">
                <a:solidFill>
                  <a:srgbClr val="363E52"/>
                </a:solidFill>
                <a:latin typeface="Open Sauce"/>
                <a:ea typeface="Open Sauce"/>
                <a:cs typeface="Open Sauce"/>
                <a:sym typeface="Open Sauce"/>
              </a:rPr>
              <a:t>Identifies potential biomarkers</a:t>
            </a:r>
          </a:p>
          <a:p>
            <a:pPr algn="l" marL="0" indent="0" lvl="0">
              <a:lnSpc>
                <a:spcPts val="3469"/>
              </a:lnSpc>
            </a:pPr>
          </a:p>
        </p:txBody>
      </p:sp>
      <p:sp>
        <p:nvSpPr>
          <p:cNvPr name="TextBox 8" id="8"/>
          <p:cNvSpPr txBox="true"/>
          <p:nvPr/>
        </p:nvSpPr>
        <p:spPr>
          <a:xfrm rot="0">
            <a:off x="8330897" y="7555281"/>
            <a:ext cx="1848954" cy="639616"/>
          </a:xfrm>
          <a:prstGeom prst="rect">
            <a:avLst/>
          </a:prstGeom>
        </p:spPr>
        <p:txBody>
          <a:bodyPr anchor="t" rtlCol="false" tIns="0" lIns="0" bIns="0" rIns="0">
            <a:spAutoFit/>
          </a:bodyPr>
          <a:lstStyle/>
          <a:p>
            <a:pPr algn="l" marL="0" indent="0" lvl="0">
              <a:lnSpc>
                <a:spcPts val="5094"/>
              </a:lnSpc>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278052" cy="10287000"/>
          </a:xfrm>
          <a:custGeom>
            <a:avLst/>
            <a:gdLst/>
            <a:ahLst/>
            <a:cxnLst/>
            <a:rect r="r" b="b" t="t" l="l"/>
            <a:pathLst>
              <a:path h="10287000" w="7278052">
                <a:moveTo>
                  <a:pt x="0" y="0"/>
                </a:moveTo>
                <a:lnTo>
                  <a:pt x="7278052" y="0"/>
                </a:lnTo>
                <a:lnTo>
                  <a:pt x="7278052"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227585" y="781862"/>
            <a:ext cx="2718324" cy="1712544"/>
          </a:xfrm>
          <a:custGeom>
            <a:avLst/>
            <a:gdLst/>
            <a:ahLst/>
            <a:cxnLst/>
            <a:rect r="r" b="b" t="t" l="l"/>
            <a:pathLst>
              <a:path h="1712544" w="2718324">
                <a:moveTo>
                  <a:pt x="0" y="0"/>
                </a:moveTo>
                <a:lnTo>
                  <a:pt x="2718324" y="0"/>
                </a:lnTo>
                <a:lnTo>
                  <a:pt x="2718324" y="1712544"/>
                </a:lnTo>
                <a:lnTo>
                  <a:pt x="0" y="1712544"/>
                </a:lnTo>
                <a:lnTo>
                  <a:pt x="0" y="0"/>
                </a:lnTo>
                <a:close/>
              </a:path>
            </a:pathLst>
          </a:custGeom>
          <a:blipFill>
            <a:blip r:embed="rId3"/>
            <a:stretch>
              <a:fillRect l="0" t="0" r="0" b="0"/>
            </a:stretch>
          </a:blipFill>
        </p:spPr>
      </p:sp>
      <p:sp>
        <p:nvSpPr>
          <p:cNvPr name="Freeform 4" id="4"/>
          <p:cNvSpPr/>
          <p:nvPr/>
        </p:nvSpPr>
        <p:spPr>
          <a:xfrm flipH="false" flipV="false" rot="0">
            <a:off x="2326380" y="1720678"/>
            <a:ext cx="11681420" cy="6845645"/>
          </a:xfrm>
          <a:custGeom>
            <a:avLst/>
            <a:gdLst/>
            <a:ahLst/>
            <a:cxnLst/>
            <a:rect r="r" b="b" t="t" l="l"/>
            <a:pathLst>
              <a:path h="6845645" w="11681420">
                <a:moveTo>
                  <a:pt x="0" y="0"/>
                </a:moveTo>
                <a:lnTo>
                  <a:pt x="11681420" y="0"/>
                </a:lnTo>
                <a:lnTo>
                  <a:pt x="11681420" y="6845644"/>
                </a:lnTo>
                <a:lnTo>
                  <a:pt x="0" y="6845644"/>
                </a:lnTo>
                <a:lnTo>
                  <a:pt x="0" y="0"/>
                </a:lnTo>
                <a:close/>
              </a:path>
            </a:pathLst>
          </a:custGeom>
          <a:blipFill>
            <a:blip r:embed="rId4"/>
            <a:stretch>
              <a:fillRect l="0" t="0" r="0" b="0"/>
            </a:stretch>
          </a:blipFill>
        </p:spPr>
      </p:sp>
      <p:sp>
        <p:nvSpPr>
          <p:cNvPr name="TextBox 5" id="5"/>
          <p:cNvSpPr txBox="true"/>
          <p:nvPr/>
        </p:nvSpPr>
        <p:spPr>
          <a:xfrm rot="0">
            <a:off x="8330897" y="3432862"/>
            <a:ext cx="1848954" cy="639616"/>
          </a:xfrm>
          <a:prstGeom prst="rect">
            <a:avLst/>
          </a:prstGeom>
        </p:spPr>
        <p:txBody>
          <a:bodyPr anchor="t" rtlCol="false" tIns="0" lIns="0" bIns="0" rIns="0">
            <a:spAutoFit/>
          </a:bodyPr>
          <a:lstStyle/>
          <a:p>
            <a:pPr algn="l" marL="0" indent="0" lvl="0">
              <a:lnSpc>
                <a:spcPts val="5094"/>
              </a:lnSpc>
            </a:pPr>
          </a:p>
        </p:txBody>
      </p:sp>
      <p:sp>
        <p:nvSpPr>
          <p:cNvPr name="TextBox 6" id="6"/>
          <p:cNvSpPr txBox="true"/>
          <p:nvPr/>
        </p:nvSpPr>
        <p:spPr>
          <a:xfrm rot="0">
            <a:off x="8330897" y="5494072"/>
            <a:ext cx="1848954" cy="639616"/>
          </a:xfrm>
          <a:prstGeom prst="rect">
            <a:avLst/>
          </a:prstGeom>
        </p:spPr>
        <p:txBody>
          <a:bodyPr anchor="t" rtlCol="false" tIns="0" lIns="0" bIns="0" rIns="0">
            <a:spAutoFit/>
          </a:bodyPr>
          <a:lstStyle/>
          <a:p>
            <a:pPr algn="l" marL="0" indent="0" lvl="0">
              <a:lnSpc>
                <a:spcPts val="5094"/>
              </a:lnSpc>
            </a:pPr>
          </a:p>
        </p:txBody>
      </p:sp>
      <p:sp>
        <p:nvSpPr>
          <p:cNvPr name="TextBox 7" id="7"/>
          <p:cNvSpPr txBox="true"/>
          <p:nvPr/>
        </p:nvSpPr>
        <p:spPr>
          <a:xfrm rot="0">
            <a:off x="3320591" y="713654"/>
            <a:ext cx="11147822" cy="639616"/>
          </a:xfrm>
          <a:prstGeom prst="rect">
            <a:avLst/>
          </a:prstGeom>
        </p:spPr>
        <p:txBody>
          <a:bodyPr anchor="t" rtlCol="false" tIns="0" lIns="0" bIns="0" rIns="0">
            <a:spAutoFit/>
          </a:bodyPr>
          <a:lstStyle/>
          <a:p>
            <a:pPr algn="ctr">
              <a:lnSpc>
                <a:spcPts val="5094"/>
              </a:lnSpc>
              <a:spcBef>
                <a:spcPct val="0"/>
              </a:spcBef>
            </a:pPr>
            <a:r>
              <a:rPr lang="en-US" b="true" sz="4317">
                <a:solidFill>
                  <a:srgbClr val="363E52"/>
                </a:solidFill>
                <a:latin typeface="Montserrat Semi-Bold"/>
                <a:ea typeface="Montserrat Semi-Bold"/>
                <a:cs typeface="Montserrat Semi-Bold"/>
                <a:sym typeface="Montserrat Semi-Bold"/>
              </a:rPr>
              <a:t>Visualization of Top Important Features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737478" y="-785067"/>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0">
            <a:off x="8214786" y="2849401"/>
            <a:ext cx="1317484" cy="1322444"/>
          </a:xfrm>
          <a:custGeom>
            <a:avLst/>
            <a:gdLst/>
            <a:ahLst/>
            <a:cxnLst/>
            <a:rect r="r" b="b" t="t" l="l"/>
            <a:pathLst>
              <a:path h="1322444" w="1317484">
                <a:moveTo>
                  <a:pt x="0" y="0"/>
                </a:moveTo>
                <a:lnTo>
                  <a:pt x="1317484" y="0"/>
                </a:lnTo>
                <a:lnTo>
                  <a:pt x="1317484" y="1322444"/>
                </a:lnTo>
                <a:lnTo>
                  <a:pt x="0" y="1322444"/>
                </a:lnTo>
                <a:lnTo>
                  <a:pt x="0" y="0"/>
                </a:lnTo>
                <a:close/>
              </a:path>
            </a:pathLst>
          </a:custGeom>
          <a:blipFill>
            <a:blip r:embed="rId2"/>
            <a:stretch>
              <a:fillRect l="0" t="0" r="0" b="0"/>
            </a:stretch>
          </a:blipFill>
        </p:spPr>
      </p:sp>
      <p:sp>
        <p:nvSpPr>
          <p:cNvPr name="Freeform 6" id="6"/>
          <p:cNvSpPr/>
          <p:nvPr/>
        </p:nvSpPr>
        <p:spPr>
          <a:xfrm flipH="false" flipV="false" rot="0">
            <a:off x="13751845" y="2849401"/>
            <a:ext cx="1322444" cy="1322444"/>
          </a:xfrm>
          <a:custGeom>
            <a:avLst/>
            <a:gdLst/>
            <a:ahLst/>
            <a:cxnLst/>
            <a:rect r="r" b="b" t="t" l="l"/>
            <a:pathLst>
              <a:path h="1322444" w="1322444">
                <a:moveTo>
                  <a:pt x="0" y="0"/>
                </a:moveTo>
                <a:lnTo>
                  <a:pt x="1322444" y="0"/>
                </a:lnTo>
                <a:lnTo>
                  <a:pt x="1322444" y="1322444"/>
                </a:lnTo>
                <a:lnTo>
                  <a:pt x="0" y="1322444"/>
                </a:lnTo>
                <a:lnTo>
                  <a:pt x="0" y="0"/>
                </a:lnTo>
                <a:close/>
              </a:path>
            </a:pathLst>
          </a:custGeom>
          <a:blipFill>
            <a:blip r:embed="rId3"/>
            <a:stretch>
              <a:fillRect l="0" t="0" r="0" b="0"/>
            </a:stretch>
          </a:blipFill>
        </p:spPr>
      </p:sp>
      <p:sp>
        <p:nvSpPr>
          <p:cNvPr name="Freeform 7" id="7"/>
          <p:cNvSpPr/>
          <p:nvPr/>
        </p:nvSpPr>
        <p:spPr>
          <a:xfrm flipH="false" flipV="false" rot="0">
            <a:off x="2640586" y="2700935"/>
            <a:ext cx="1350164" cy="1350164"/>
          </a:xfrm>
          <a:custGeom>
            <a:avLst/>
            <a:gdLst/>
            <a:ahLst/>
            <a:cxnLst/>
            <a:rect r="r" b="b" t="t" l="l"/>
            <a:pathLst>
              <a:path h="1350164" w="1350164">
                <a:moveTo>
                  <a:pt x="0" y="0"/>
                </a:moveTo>
                <a:lnTo>
                  <a:pt x="1350163" y="0"/>
                </a:lnTo>
                <a:lnTo>
                  <a:pt x="1350163" y="1350164"/>
                </a:lnTo>
                <a:lnTo>
                  <a:pt x="0" y="1350164"/>
                </a:lnTo>
                <a:lnTo>
                  <a:pt x="0" y="0"/>
                </a:lnTo>
                <a:close/>
              </a:path>
            </a:pathLst>
          </a:custGeom>
          <a:blipFill>
            <a:blip r:embed="rId4"/>
            <a:stretch>
              <a:fillRect l="0" t="0" r="0" b="0"/>
            </a:stretch>
          </a:blipFill>
        </p:spPr>
      </p:sp>
      <p:sp>
        <p:nvSpPr>
          <p:cNvPr name="Freeform 8" id="8"/>
          <p:cNvSpPr/>
          <p:nvPr/>
        </p:nvSpPr>
        <p:spPr>
          <a:xfrm flipH="false" flipV="false" rot="-1739206">
            <a:off x="-1937303" y="-12914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5"/>
            <a:stretch>
              <a:fillRect l="0" t="0" r="0" b="0"/>
            </a:stretch>
          </a:blipFill>
        </p:spPr>
      </p:sp>
      <p:sp>
        <p:nvSpPr>
          <p:cNvPr name="Freeform 9" id="9"/>
          <p:cNvSpPr/>
          <p:nvPr/>
        </p:nvSpPr>
        <p:spPr>
          <a:xfrm flipH="true" flipV="false" rot="1655336">
            <a:off x="14293297" y="-83081"/>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5"/>
            <a:stretch>
              <a:fillRect l="0" t="0" r="0" b="0"/>
            </a:stretch>
          </a:blipFill>
        </p:spPr>
      </p:sp>
      <p:sp>
        <p:nvSpPr>
          <p:cNvPr name="Freeform 10" id="10"/>
          <p:cNvSpPr/>
          <p:nvPr/>
        </p:nvSpPr>
        <p:spPr>
          <a:xfrm flipH="false" flipV="false" rot="0">
            <a:off x="5762096" y="6391590"/>
            <a:ext cx="8155307" cy="3499719"/>
          </a:xfrm>
          <a:custGeom>
            <a:avLst/>
            <a:gdLst/>
            <a:ahLst/>
            <a:cxnLst/>
            <a:rect r="r" b="b" t="t" l="l"/>
            <a:pathLst>
              <a:path h="3499719" w="8155307">
                <a:moveTo>
                  <a:pt x="0" y="0"/>
                </a:moveTo>
                <a:lnTo>
                  <a:pt x="8155308" y="0"/>
                </a:lnTo>
                <a:lnTo>
                  <a:pt x="8155308" y="3499718"/>
                </a:lnTo>
                <a:lnTo>
                  <a:pt x="0" y="3499718"/>
                </a:lnTo>
                <a:lnTo>
                  <a:pt x="0" y="0"/>
                </a:lnTo>
                <a:close/>
              </a:path>
            </a:pathLst>
          </a:custGeom>
          <a:blipFill>
            <a:blip r:embed="rId6"/>
            <a:stretch>
              <a:fillRect l="0" t="0" r="0" b="0"/>
            </a:stretch>
          </a:blipFill>
        </p:spPr>
      </p:sp>
      <p:sp>
        <p:nvSpPr>
          <p:cNvPr name="TextBox 11" id="11"/>
          <p:cNvSpPr txBox="true"/>
          <p:nvPr/>
        </p:nvSpPr>
        <p:spPr>
          <a:xfrm rot="0">
            <a:off x="4702506" y="637495"/>
            <a:ext cx="8115300" cy="1613830"/>
          </a:xfrm>
          <a:prstGeom prst="rect">
            <a:avLst/>
          </a:prstGeom>
        </p:spPr>
        <p:txBody>
          <a:bodyPr anchor="t" rtlCol="false" tIns="0" lIns="0" bIns="0" rIns="0">
            <a:spAutoFit/>
          </a:bodyPr>
          <a:lstStyle/>
          <a:p>
            <a:pPr algn="ctr" marL="0" indent="0" lvl="0">
              <a:lnSpc>
                <a:spcPts val="6332"/>
              </a:lnSpc>
            </a:pPr>
            <a:r>
              <a:rPr lang="en-US" b="true" sz="5366">
                <a:solidFill>
                  <a:srgbClr val="363E52"/>
                </a:solidFill>
                <a:latin typeface="Montserrat Semi-Bold"/>
                <a:ea typeface="Montserrat Semi-Bold"/>
                <a:cs typeface="Montserrat Semi-Bold"/>
                <a:sym typeface="Montserrat Semi-Bold"/>
              </a:rPr>
              <a:t>Simplified Deployment Model</a:t>
            </a:r>
          </a:p>
        </p:txBody>
      </p:sp>
      <p:sp>
        <p:nvSpPr>
          <p:cNvPr name="TextBox 12" id="12"/>
          <p:cNvSpPr txBox="true"/>
          <p:nvPr/>
        </p:nvSpPr>
        <p:spPr>
          <a:xfrm rot="0">
            <a:off x="6804457" y="4446389"/>
            <a:ext cx="4509014" cy="2223106"/>
          </a:xfrm>
          <a:prstGeom prst="rect">
            <a:avLst/>
          </a:prstGeom>
        </p:spPr>
        <p:txBody>
          <a:bodyPr anchor="t" rtlCol="false" tIns="0" lIns="0" bIns="0" rIns="0">
            <a:spAutoFit/>
          </a:bodyPr>
          <a:lstStyle/>
          <a:p>
            <a:pPr algn="ctr" marL="0" indent="0" lvl="0">
              <a:lnSpc>
                <a:spcPts val="2941"/>
              </a:lnSpc>
            </a:pPr>
            <a:r>
              <a:rPr lang="en-US" sz="2101">
                <a:solidFill>
                  <a:srgbClr val="363E52"/>
                </a:solidFill>
                <a:latin typeface="Open Sauce"/>
                <a:ea typeface="Open Sauce"/>
                <a:cs typeface="Open Sauce"/>
                <a:sym typeface="Open Sauce"/>
              </a:rPr>
              <a:t>Ben</a:t>
            </a:r>
            <a:r>
              <a:rPr lang="en-US" sz="2101">
                <a:solidFill>
                  <a:srgbClr val="363E52"/>
                </a:solidFill>
                <a:latin typeface="Open Sauce"/>
                <a:ea typeface="Open Sauce"/>
                <a:cs typeface="Open Sauce"/>
                <a:sym typeface="Open Sauce"/>
              </a:rPr>
              <a:t>efits</a:t>
            </a:r>
          </a:p>
          <a:p>
            <a:pPr algn="ctr" marL="453633" indent="-226816" lvl="1">
              <a:lnSpc>
                <a:spcPts val="2941"/>
              </a:lnSpc>
              <a:buFont typeface="Arial"/>
              <a:buChar char="•"/>
            </a:pPr>
            <a:r>
              <a:rPr lang="en-US" sz="2101">
                <a:solidFill>
                  <a:srgbClr val="363E52"/>
                </a:solidFill>
                <a:latin typeface="Open Sauce"/>
                <a:ea typeface="Open Sauce"/>
                <a:cs typeface="Open Sauce"/>
                <a:sym typeface="Open Sauce"/>
              </a:rPr>
              <a:t>Simpler interface</a:t>
            </a:r>
          </a:p>
          <a:p>
            <a:pPr algn="ctr" marL="453633" indent="-226816" lvl="1">
              <a:lnSpc>
                <a:spcPts val="2941"/>
              </a:lnSpc>
              <a:buFont typeface="Arial"/>
              <a:buChar char="•"/>
            </a:pPr>
            <a:r>
              <a:rPr lang="en-US" sz="2101">
                <a:solidFill>
                  <a:srgbClr val="363E52"/>
                </a:solidFill>
                <a:latin typeface="Open Sauce"/>
                <a:ea typeface="Open Sauce"/>
                <a:cs typeface="Open Sauce"/>
                <a:sym typeface="Open Sauce"/>
              </a:rPr>
              <a:t>Reduced computation</a:t>
            </a:r>
          </a:p>
          <a:p>
            <a:pPr algn="ctr" marL="453633" indent="-226816" lvl="1">
              <a:lnSpc>
                <a:spcPts val="2941"/>
              </a:lnSpc>
              <a:buFont typeface="Arial"/>
              <a:buChar char="•"/>
            </a:pPr>
            <a:r>
              <a:rPr lang="en-US" sz="2101">
                <a:solidFill>
                  <a:srgbClr val="363E52"/>
                </a:solidFill>
                <a:latin typeface="Open Sauce"/>
                <a:ea typeface="Open Sauce"/>
                <a:cs typeface="Open Sauce"/>
                <a:sym typeface="Open Sauce"/>
              </a:rPr>
              <a:t>Comparable performance to full model</a:t>
            </a:r>
          </a:p>
          <a:p>
            <a:pPr algn="ctr" marL="0" indent="0" lvl="0">
              <a:lnSpc>
                <a:spcPts val="2941"/>
              </a:lnSpc>
            </a:pPr>
          </a:p>
        </p:txBody>
      </p:sp>
      <p:sp>
        <p:nvSpPr>
          <p:cNvPr name="TextBox 13" id="13"/>
          <p:cNvSpPr txBox="true"/>
          <p:nvPr/>
        </p:nvSpPr>
        <p:spPr>
          <a:xfrm rot="0">
            <a:off x="12160507" y="4724295"/>
            <a:ext cx="5098048" cy="1667295"/>
          </a:xfrm>
          <a:prstGeom prst="rect">
            <a:avLst/>
          </a:prstGeom>
        </p:spPr>
        <p:txBody>
          <a:bodyPr anchor="t" rtlCol="false" tIns="0" lIns="0" bIns="0" rIns="0">
            <a:spAutoFit/>
          </a:bodyPr>
          <a:lstStyle/>
          <a:p>
            <a:pPr algn="ctr" marL="0" indent="0" lvl="0">
              <a:lnSpc>
                <a:spcPts val="3325"/>
              </a:lnSpc>
            </a:pPr>
            <a:r>
              <a:rPr lang="en-US" sz="2375">
                <a:solidFill>
                  <a:srgbClr val="363E52"/>
                </a:solidFill>
                <a:latin typeface="Open Sauce"/>
                <a:ea typeface="Open Sauce"/>
                <a:cs typeface="Open Sauce"/>
                <a:sym typeface="Open Sauce"/>
              </a:rPr>
              <a:t>R</a:t>
            </a:r>
            <a:r>
              <a:rPr lang="en-US" sz="2375">
                <a:solidFill>
                  <a:srgbClr val="363E52"/>
                </a:solidFill>
                <a:latin typeface="Open Sauce"/>
                <a:ea typeface="Open Sauce"/>
                <a:cs typeface="Open Sauce"/>
                <a:sym typeface="Open Sauce"/>
              </a:rPr>
              <a:t>esult</a:t>
            </a:r>
          </a:p>
          <a:p>
            <a:pPr algn="ctr" marL="0" indent="0" lvl="0">
              <a:lnSpc>
                <a:spcPts val="3325"/>
              </a:lnSpc>
            </a:pPr>
            <a:r>
              <a:rPr lang="en-US" sz="2375">
                <a:solidFill>
                  <a:srgbClr val="363E52"/>
                </a:solidFill>
                <a:latin typeface="Open Sauce"/>
                <a:ea typeface="Open Sauce"/>
                <a:cs typeface="Open Sauce"/>
                <a:sym typeface="Open Sauce"/>
              </a:rPr>
              <a:t>Strong predictive ability maintained with only 3 genes.</a:t>
            </a:r>
          </a:p>
          <a:p>
            <a:pPr algn="ctr" marL="0" indent="0" lvl="0">
              <a:lnSpc>
                <a:spcPts val="3325"/>
              </a:lnSpc>
            </a:pPr>
          </a:p>
        </p:txBody>
      </p:sp>
      <p:sp>
        <p:nvSpPr>
          <p:cNvPr name="TextBox 14" id="14"/>
          <p:cNvSpPr txBox="true"/>
          <p:nvPr/>
        </p:nvSpPr>
        <p:spPr>
          <a:xfrm rot="0">
            <a:off x="1253083" y="4431139"/>
            <a:ext cx="4509014" cy="2223106"/>
          </a:xfrm>
          <a:prstGeom prst="rect">
            <a:avLst/>
          </a:prstGeom>
        </p:spPr>
        <p:txBody>
          <a:bodyPr anchor="t" rtlCol="false" tIns="0" lIns="0" bIns="0" rIns="0">
            <a:spAutoFit/>
          </a:bodyPr>
          <a:lstStyle/>
          <a:p>
            <a:pPr algn="ctr" marL="0" indent="0" lvl="0">
              <a:lnSpc>
                <a:spcPts val="2941"/>
              </a:lnSpc>
            </a:pPr>
            <a:r>
              <a:rPr lang="en-US" sz="2101">
                <a:solidFill>
                  <a:srgbClr val="363E52"/>
                </a:solidFill>
                <a:latin typeface="Open Sauce"/>
                <a:ea typeface="Open Sauce"/>
                <a:cs typeface="Open Sauce"/>
                <a:sym typeface="Open Sauce"/>
              </a:rPr>
              <a:t>Strategy</a:t>
            </a:r>
          </a:p>
          <a:p>
            <a:pPr algn="ctr" marL="0" indent="0" lvl="0">
              <a:lnSpc>
                <a:spcPts val="2941"/>
              </a:lnSpc>
            </a:pPr>
            <a:r>
              <a:rPr lang="en-US" sz="2101">
                <a:solidFill>
                  <a:srgbClr val="363E52"/>
                </a:solidFill>
                <a:latin typeface="Open Sauce"/>
                <a:ea typeface="Open Sauce"/>
                <a:cs typeface="Open Sauce"/>
                <a:sym typeface="Open Sauce"/>
              </a:rPr>
              <a:t>Used only top 3 most important genes to create:</a:t>
            </a:r>
          </a:p>
          <a:p>
            <a:pPr algn="ctr" marL="453633" indent="-226816" lvl="1">
              <a:lnSpc>
                <a:spcPts val="2941"/>
              </a:lnSpc>
              <a:buFont typeface="Arial"/>
              <a:buChar char="•"/>
            </a:pPr>
            <a:r>
              <a:rPr lang="en-US" sz="2101">
                <a:solidFill>
                  <a:srgbClr val="363E52"/>
                </a:solidFill>
                <a:latin typeface="Open Sauce"/>
                <a:ea typeface="Open Sauce"/>
                <a:cs typeface="Open Sauce"/>
                <a:sym typeface="Open Sauce"/>
              </a:rPr>
              <a:t>Lightweight model</a:t>
            </a:r>
          </a:p>
          <a:p>
            <a:pPr algn="ctr" marL="453633" indent="-226816" lvl="1">
              <a:lnSpc>
                <a:spcPts val="2941"/>
              </a:lnSpc>
              <a:buFont typeface="Arial"/>
              <a:buChar char="•"/>
            </a:pPr>
            <a:r>
              <a:rPr lang="en-US" sz="2101">
                <a:solidFill>
                  <a:srgbClr val="363E52"/>
                </a:solidFill>
                <a:latin typeface="Open Sauce"/>
                <a:ea typeface="Open Sauce"/>
                <a:cs typeface="Open Sauce"/>
                <a:sym typeface="Open Sauce"/>
              </a:rPr>
              <a:t>Faster deployment system</a:t>
            </a:r>
          </a:p>
          <a:p>
            <a:pPr algn="ctr" marL="0" indent="0" lvl="0">
              <a:lnSpc>
                <a:spcPts val="2941"/>
              </a:lnSpc>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9909220" y="0"/>
            <a:ext cx="8512492" cy="10287000"/>
          </a:xfrm>
          <a:custGeom>
            <a:avLst/>
            <a:gdLst/>
            <a:ahLst/>
            <a:cxnLst/>
            <a:rect r="r" b="b" t="t" l="l"/>
            <a:pathLst>
              <a:path h="10287000" w="8512492">
                <a:moveTo>
                  <a:pt x="8512493" y="0"/>
                </a:moveTo>
                <a:lnTo>
                  <a:pt x="0" y="0"/>
                </a:lnTo>
                <a:lnTo>
                  <a:pt x="0" y="10287000"/>
                </a:lnTo>
                <a:lnTo>
                  <a:pt x="8512493" y="10287000"/>
                </a:lnTo>
                <a:lnTo>
                  <a:pt x="8512493" y="0"/>
                </a:lnTo>
                <a:close/>
              </a:path>
            </a:pathLst>
          </a:custGeom>
          <a:blipFill>
            <a:blip r:embed="rId2"/>
            <a:stretch>
              <a:fillRect l="0" t="0" r="0" b="0"/>
            </a:stretch>
          </a:blipFill>
        </p:spPr>
      </p:sp>
      <p:sp>
        <p:nvSpPr>
          <p:cNvPr name="TextBox 3" id="3"/>
          <p:cNvSpPr txBox="true"/>
          <p:nvPr/>
        </p:nvSpPr>
        <p:spPr>
          <a:xfrm rot="0">
            <a:off x="1287939" y="6183685"/>
            <a:ext cx="7537864" cy="3105160"/>
          </a:xfrm>
          <a:prstGeom prst="rect">
            <a:avLst/>
          </a:prstGeom>
        </p:spPr>
        <p:txBody>
          <a:bodyPr anchor="t" rtlCol="false" tIns="0" lIns="0" bIns="0" rIns="0">
            <a:spAutoFit/>
          </a:bodyPr>
          <a:lstStyle/>
          <a:p>
            <a:pPr algn="l" marL="0" indent="0" lvl="0">
              <a:lnSpc>
                <a:spcPts val="3149"/>
              </a:lnSpc>
            </a:pPr>
            <a:r>
              <a:rPr lang="en-US" sz="2249">
                <a:solidFill>
                  <a:srgbClr val="363E52"/>
                </a:solidFill>
                <a:latin typeface="Open Sauce"/>
                <a:ea typeface="Open Sauce"/>
                <a:cs typeface="Open Sauce"/>
                <a:sym typeface="Open Sauce"/>
              </a:rPr>
              <a:t>N</a:t>
            </a:r>
            <a:r>
              <a:rPr lang="en-US" sz="2249">
                <a:solidFill>
                  <a:srgbClr val="363E52"/>
                </a:solidFill>
                <a:latin typeface="Open Sauce"/>
                <a:ea typeface="Open Sauce"/>
                <a:cs typeface="Open Sauce"/>
                <a:sym typeface="Open Sauce"/>
              </a:rPr>
              <a:t>otes</a:t>
            </a:r>
          </a:p>
          <a:p>
            <a:pPr algn="l" marL="0" indent="0" lvl="0">
              <a:lnSpc>
                <a:spcPts val="3149"/>
              </a:lnSpc>
            </a:pPr>
            <a:r>
              <a:rPr lang="en-US" sz="2249">
                <a:solidFill>
                  <a:srgbClr val="363E52"/>
                </a:solidFill>
                <a:latin typeface="Open Sauce"/>
                <a:ea typeface="Open Sauce"/>
                <a:cs typeface="Open Sauce"/>
                <a:sym typeface="Open Sauce"/>
              </a:rPr>
              <a:t>High performance due to:</a:t>
            </a:r>
          </a:p>
          <a:p>
            <a:pPr algn="l" marL="485692" indent="-242846" lvl="1">
              <a:lnSpc>
                <a:spcPts val="3149"/>
              </a:lnSpc>
              <a:buFont typeface="Arial"/>
              <a:buChar char="•"/>
            </a:pPr>
            <a:r>
              <a:rPr lang="en-US" sz="2249">
                <a:solidFill>
                  <a:srgbClr val="363E52"/>
                </a:solidFill>
                <a:latin typeface="Open Sauce"/>
                <a:ea typeface="Open Sauce"/>
                <a:cs typeface="Open Sauce"/>
                <a:sym typeface="Open Sauce"/>
              </a:rPr>
              <a:t>Strong biological signal</a:t>
            </a:r>
          </a:p>
          <a:p>
            <a:pPr algn="l" marL="485692" indent="-242846" lvl="1">
              <a:lnSpc>
                <a:spcPts val="3149"/>
              </a:lnSpc>
              <a:buFont typeface="Arial"/>
              <a:buChar char="•"/>
            </a:pPr>
            <a:r>
              <a:rPr lang="en-US" sz="2249">
                <a:solidFill>
                  <a:srgbClr val="363E52"/>
                </a:solidFill>
                <a:latin typeface="Open Sauce"/>
                <a:ea typeface="Open Sauce"/>
                <a:cs typeface="Open Sauce"/>
                <a:sym typeface="Open Sauce"/>
              </a:rPr>
              <a:t>Effective feature selection</a:t>
            </a:r>
          </a:p>
          <a:p>
            <a:pPr algn="l" marL="485692" indent="-242846" lvl="1">
              <a:lnSpc>
                <a:spcPts val="3149"/>
              </a:lnSpc>
              <a:buFont typeface="Arial"/>
              <a:buChar char="•"/>
            </a:pPr>
            <a:r>
              <a:rPr lang="en-US" sz="2249">
                <a:solidFill>
                  <a:srgbClr val="363E52"/>
                </a:solidFill>
                <a:latin typeface="Open Sauce"/>
                <a:ea typeface="Open Sauce"/>
                <a:cs typeface="Open Sauce"/>
                <a:sym typeface="Open Sauce"/>
              </a:rPr>
              <a:t>Ensemble learning capability</a:t>
            </a:r>
          </a:p>
          <a:p>
            <a:pPr algn="l" marL="0" indent="0" lvl="0">
              <a:lnSpc>
                <a:spcPts val="3149"/>
              </a:lnSpc>
            </a:pPr>
            <a:r>
              <a:rPr lang="en-US" sz="2249">
                <a:solidFill>
                  <a:srgbClr val="363E52"/>
                </a:solidFill>
                <a:latin typeface="Open Sauce"/>
                <a:ea typeface="Open Sauce"/>
                <a:cs typeface="Open Sauce"/>
                <a:sym typeface="Open Sauce"/>
              </a:rPr>
              <a:t>Limitation</a:t>
            </a:r>
          </a:p>
          <a:p>
            <a:pPr algn="l" marL="0" indent="0" lvl="0">
              <a:lnSpc>
                <a:spcPts val="3149"/>
              </a:lnSpc>
            </a:pPr>
            <a:r>
              <a:rPr lang="en-US" sz="2249">
                <a:solidFill>
                  <a:srgbClr val="363E52"/>
                </a:solidFill>
                <a:latin typeface="Open Sauce"/>
                <a:ea typeface="Open Sauce"/>
                <a:cs typeface="Open Sauce"/>
                <a:sym typeface="Open Sauce"/>
              </a:rPr>
              <a:t>Small dataset size may inflate performance estimates.</a:t>
            </a:r>
          </a:p>
          <a:p>
            <a:pPr algn="l" marL="0" indent="0" lvl="0">
              <a:lnSpc>
                <a:spcPts val="3149"/>
              </a:lnSpc>
            </a:pPr>
          </a:p>
        </p:txBody>
      </p:sp>
      <p:sp>
        <p:nvSpPr>
          <p:cNvPr name="Freeform 4" id="4"/>
          <p:cNvSpPr/>
          <p:nvPr/>
        </p:nvSpPr>
        <p:spPr>
          <a:xfrm flipH="false" flipV="false" rot="-1866251">
            <a:off x="-2491577" y="1102658"/>
            <a:ext cx="4983154" cy="2566324"/>
          </a:xfrm>
          <a:custGeom>
            <a:avLst/>
            <a:gdLst/>
            <a:ahLst/>
            <a:cxnLst/>
            <a:rect r="r" b="b" t="t" l="l"/>
            <a:pathLst>
              <a:path h="2566324" w="4983154">
                <a:moveTo>
                  <a:pt x="0" y="0"/>
                </a:moveTo>
                <a:lnTo>
                  <a:pt x="4983154" y="0"/>
                </a:lnTo>
                <a:lnTo>
                  <a:pt x="4983154" y="2566324"/>
                </a:lnTo>
                <a:lnTo>
                  <a:pt x="0" y="2566324"/>
                </a:lnTo>
                <a:lnTo>
                  <a:pt x="0" y="0"/>
                </a:lnTo>
                <a:close/>
              </a:path>
            </a:pathLst>
          </a:custGeom>
          <a:blipFill>
            <a:blip r:embed="rId3"/>
            <a:stretch>
              <a:fillRect l="0" t="0" r="0" b="0"/>
            </a:stretch>
          </a:blipFill>
        </p:spPr>
      </p:sp>
      <p:sp>
        <p:nvSpPr>
          <p:cNvPr name="Freeform 5" id="5"/>
          <p:cNvSpPr/>
          <p:nvPr/>
        </p:nvSpPr>
        <p:spPr>
          <a:xfrm flipH="false" flipV="false" rot="3849890">
            <a:off x="8279261" y="8755360"/>
            <a:ext cx="4983154" cy="2566324"/>
          </a:xfrm>
          <a:custGeom>
            <a:avLst/>
            <a:gdLst/>
            <a:ahLst/>
            <a:cxnLst/>
            <a:rect r="r" b="b" t="t" l="l"/>
            <a:pathLst>
              <a:path h="2566324" w="4983154">
                <a:moveTo>
                  <a:pt x="0" y="0"/>
                </a:moveTo>
                <a:lnTo>
                  <a:pt x="4983154" y="0"/>
                </a:lnTo>
                <a:lnTo>
                  <a:pt x="4983154" y="2566325"/>
                </a:lnTo>
                <a:lnTo>
                  <a:pt x="0" y="2566325"/>
                </a:lnTo>
                <a:lnTo>
                  <a:pt x="0" y="0"/>
                </a:lnTo>
                <a:close/>
              </a:path>
            </a:pathLst>
          </a:custGeom>
          <a:blipFill>
            <a:blip r:embed="rId3"/>
            <a:stretch>
              <a:fillRect l="0" t="0" r="0" b="0"/>
            </a:stretch>
          </a:blipFill>
        </p:spPr>
      </p:sp>
      <p:sp>
        <p:nvSpPr>
          <p:cNvPr name="Freeform 6" id="6"/>
          <p:cNvSpPr/>
          <p:nvPr/>
        </p:nvSpPr>
        <p:spPr>
          <a:xfrm flipH="false" flipV="false" rot="0">
            <a:off x="4329493" y="1646181"/>
            <a:ext cx="8992621" cy="4384396"/>
          </a:xfrm>
          <a:custGeom>
            <a:avLst/>
            <a:gdLst/>
            <a:ahLst/>
            <a:cxnLst/>
            <a:rect r="r" b="b" t="t" l="l"/>
            <a:pathLst>
              <a:path h="4384396" w="8992621">
                <a:moveTo>
                  <a:pt x="0" y="0"/>
                </a:moveTo>
                <a:lnTo>
                  <a:pt x="8992621" y="0"/>
                </a:lnTo>
                <a:lnTo>
                  <a:pt x="8992621" y="4384397"/>
                </a:lnTo>
                <a:lnTo>
                  <a:pt x="0" y="4384397"/>
                </a:lnTo>
                <a:lnTo>
                  <a:pt x="0" y="0"/>
                </a:lnTo>
                <a:close/>
              </a:path>
            </a:pathLst>
          </a:custGeom>
          <a:blipFill>
            <a:blip r:embed="rId4"/>
            <a:stretch>
              <a:fillRect l="0" t="0" r="0" b="0"/>
            </a:stretch>
          </a:blipFill>
        </p:spPr>
      </p:sp>
      <p:sp>
        <p:nvSpPr>
          <p:cNvPr name="TextBox 7" id="7"/>
          <p:cNvSpPr txBox="true"/>
          <p:nvPr/>
        </p:nvSpPr>
        <p:spPr>
          <a:xfrm rot="0">
            <a:off x="3648253" y="611951"/>
            <a:ext cx="9363285" cy="843023"/>
          </a:xfrm>
          <a:prstGeom prst="rect">
            <a:avLst/>
          </a:prstGeom>
        </p:spPr>
        <p:txBody>
          <a:bodyPr anchor="t" rtlCol="false" tIns="0" lIns="0" bIns="0" rIns="0">
            <a:spAutoFit/>
          </a:bodyPr>
          <a:lstStyle/>
          <a:p>
            <a:pPr algn="l" marL="0" indent="0" lvl="0">
              <a:lnSpc>
                <a:spcPts val="6665"/>
              </a:lnSpc>
            </a:pPr>
            <a:r>
              <a:rPr lang="en-US" b="true" sz="5648">
                <a:solidFill>
                  <a:srgbClr val="363E52"/>
                </a:solidFill>
                <a:latin typeface="Montserrat Semi-Bold"/>
                <a:ea typeface="Montserrat Semi-Bold"/>
                <a:cs typeface="Montserrat Semi-Bold"/>
                <a:sym typeface="Montserrat Semi-Bold"/>
              </a:rPr>
              <a:t>Final Model Performance</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02060" y="0"/>
            <a:ext cx="7278052" cy="10287000"/>
          </a:xfrm>
          <a:custGeom>
            <a:avLst/>
            <a:gdLst/>
            <a:ahLst/>
            <a:cxnLst/>
            <a:rect r="r" b="b" t="t" l="l"/>
            <a:pathLst>
              <a:path h="10287000" w="7278052">
                <a:moveTo>
                  <a:pt x="0" y="0"/>
                </a:moveTo>
                <a:lnTo>
                  <a:pt x="7278052" y="0"/>
                </a:lnTo>
                <a:lnTo>
                  <a:pt x="7278052"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660392" y="-704971"/>
            <a:ext cx="3635483" cy="3467342"/>
          </a:xfrm>
          <a:custGeom>
            <a:avLst/>
            <a:gdLst/>
            <a:ahLst/>
            <a:cxnLst/>
            <a:rect r="r" b="b" t="t" l="l"/>
            <a:pathLst>
              <a:path h="3467342" w="3635483">
                <a:moveTo>
                  <a:pt x="0" y="0"/>
                </a:moveTo>
                <a:lnTo>
                  <a:pt x="3635483" y="0"/>
                </a:lnTo>
                <a:lnTo>
                  <a:pt x="3635483" y="3467342"/>
                </a:lnTo>
                <a:lnTo>
                  <a:pt x="0" y="3467342"/>
                </a:lnTo>
                <a:lnTo>
                  <a:pt x="0" y="0"/>
                </a:lnTo>
                <a:close/>
              </a:path>
            </a:pathLst>
          </a:custGeom>
          <a:blipFill>
            <a:blip r:embed="rId3"/>
            <a:stretch>
              <a:fillRect l="0" t="0" r="0" b="0"/>
            </a:stretch>
          </a:blipFill>
        </p:spPr>
      </p:sp>
      <p:sp>
        <p:nvSpPr>
          <p:cNvPr name="TextBox 4" id="4"/>
          <p:cNvSpPr txBox="true"/>
          <p:nvPr/>
        </p:nvSpPr>
        <p:spPr>
          <a:xfrm rot="0">
            <a:off x="3324260" y="275644"/>
            <a:ext cx="10142490" cy="753056"/>
          </a:xfrm>
          <a:prstGeom prst="rect">
            <a:avLst/>
          </a:prstGeom>
        </p:spPr>
        <p:txBody>
          <a:bodyPr anchor="t" rtlCol="false" tIns="0" lIns="0" bIns="0" rIns="0">
            <a:spAutoFit/>
          </a:bodyPr>
          <a:lstStyle/>
          <a:p>
            <a:pPr algn="ctr" marL="0" indent="0" lvl="0">
              <a:lnSpc>
                <a:spcPts val="5911"/>
              </a:lnSpc>
            </a:pPr>
            <a:r>
              <a:rPr lang="en-US" b="true" sz="5009">
                <a:solidFill>
                  <a:srgbClr val="363E52"/>
                </a:solidFill>
                <a:latin typeface="Montserrat Semi-Bold"/>
                <a:ea typeface="Montserrat Semi-Bold"/>
                <a:cs typeface="Montserrat Semi-Bold"/>
                <a:sym typeface="Montserrat Semi-Bold"/>
              </a:rPr>
              <a:t>Model Saving &amp; Requirements</a:t>
            </a:r>
          </a:p>
        </p:txBody>
      </p:sp>
      <p:sp>
        <p:nvSpPr>
          <p:cNvPr name="TextBox 5" id="5"/>
          <p:cNvSpPr txBox="true"/>
          <p:nvPr/>
        </p:nvSpPr>
        <p:spPr>
          <a:xfrm rot="0">
            <a:off x="5049773" y="1556983"/>
            <a:ext cx="7643098" cy="8117583"/>
          </a:xfrm>
          <a:prstGeom prst="rect">
            <a:avLst/>
          </a:prstGeom>
        </p:spPr>
        <p:txBody>
          <a:bodyPr anchor="t" rtlCol="false" tIns="0" lIns="0" bIns="0" rIns="0">
            <a:spAutoFit/>
          </a:bodyPr>
          <a:lstStyle/>
          <a:p>
            <a:pPr algn="l">
              <a:lnSpc>
                <a:spcPts val="4599"/>
              </a:lnSpc>
              <a:spcBef>
                <a:spcPct val="0"/>
              </a:spcBef>
            </a:pPr>
            <a:r>
              <a:rPr lang="en-US" b="true" sz="3285">
                <a:solidFill>
                  <a:srgbClr val="363E52"/>
                </a:solidFill>
                <a:latin typeface="Open Sauce Bold"/>
                <a:ea typeface="Open Sauce Bold"/>
                <a:cs typeface="Open Sauce Bold"/>
                <a:sym typeface="Open Sauce Bold"/>
              </a:rPr>
              <a:t>Model Saving and Reproducibility</a:t>
            </a:r>
          </a:p>
          <a:p>
            <a:pPr algn="l">
              <a:lnSpc>
                <a:spcPts val="4599"/>
              </a:lnSpc>
              <a:spcBef>
                <a:spcPct val="0"/>
              </a:spcBef>
            </a:pPr>
            <a:r>
              <a:rPr lang="en-US" b="true" sz="3285">
                <a:solidFill>
                  <a:srgbClr val="363E52"/>
                </a:solidFill>
                <a:latin typeface="Open Sauce Bold"/>
                <a:ea typeface="Open Sauce Bold"/>
                <a:cs typeface="Open Sauce Bold"/>
                <a:sym typeface="Open Sauce Bold"/>
              </a:rPr>
              <a:t>Model Saving</a:t>
            </a:r>
          </a:p>
          <a:p>
            <a:pPr algn="l">
              <a:lnSpc>
                <a:spcPts val="4599"/>
              </a:lnSpc>
              <a:spcBef>
                <a:spcPct val="0"/>
              </a:spcBef>
            </a:pPr>
            <a:r>
              <a:rPr lang="en-US" sz="3285">
                <a:solidFill>
                  <a:srgbClr val="363E52"/>
                </a:solidFill>
                <a:latin typeface="Open Sauce"/>
                <a:ea typeface="Open Sauce"/>
                <a:cs typeface="Open Sauce"/>
                <a:sym typeface="Open Sauce"/>
              </a:rPr>
              <a:t>Deployment model saved using Joblib</a:t>
            </a:r>
          </a:p>
          <a:p>
            <a:pPr algn="l">
              <a:lnSpc>
                <a:spcPts val="4599"/>
              </a:lnSpc>
              <a:spcBef>
                <a:spcPct val="0"/>
              </a:spcBef>
            </a:pPr>
          </a:p>
          <a:p>
            <a:pPr algn="l">
              <a:lnSpc>
                <a:spcPts val="4599"/>
              </a:lnSpc>
              <a:spcBef>
                <a:spcPct val="0"/>
              </a:spcBef>
            </a:pPr>
            <a:r>
              <a:rPr lang="en-US" b="true" sz="3285">
                <a:solidFill>
                  <a:srgbClr val="363E52"/>
                </a:solidFill>
                <a:latin typeface="Open Sauce Bold"/>
                <a:ea typeface="Open Sauce Bold"/>
                <a:cs typeface="Open Sauce Bold"/>
                <a:sym typeface="Open Sauce Bold"/>
              </a:rPr>
              <a:t>Advantages</a:t>
            </a:r>
          </a:p>
          <a:p>
            <a:pPr algn="l">
              <a:lnSpc>
                <a:spcPts val="4599"/>
              </a:lnSpc>
              <a:spcBef>
                <a:spcPct val="0"/>
              </a:spcBef>
            </a:pPr>
            <a:r>
              <a:rPr lang="en-US" sz="3285">
                <a:solidFill>
                  <a:srgbClr val="363E52"/>
                </a:solidFill>
                <a:latin typeface="Open Sauce"/>
                <a:ea typeface="Open Sauce"/>
                <a:cs typeface="Open Sauce"/>
                <a:sym typeface="Open Sauce"/>
              </a:rPr>
              <a:t>Avoids retraining</a:t>
            </a:r>
          </a:p>
          <a:p>
            <a:pPr algn="l">
              <a:lnSpc>
                <a:spcPts val="4599"/>
              </a:lnSpc>
              <a:spcBef>
                <a:spcPct val="0"/>
              </a:spcBef>
            </a:pPr>
            <a:r>
              <a:rPr lang="en-US" sz="3285">
                <a:solidFill>
                  <a:srgbClr val="363E52"/>
                </a:solidFill>
                <a:latin typeface="Open Sauce"/>
                <a:ea typeface="Open Sauce"/>
                <a:cs typeface="Open Sauce"/>
                <a:sym typeface="Open Sauce"/>
              </a:rPr>
              <a:t>Faster deployment</a:t>
            </a:r>
          </a:p>
          <a:p>
            <a:pPr algn="l">
              <a:lnSpc>
                <a:spcPts val="4599"/>
              </a:lnSpc>
              <a:spcBef>
                <a:spcPct val="0"/>
              </a:spcBef>
            </a:pPr>
            <a:r>
              <a:rPr lang="en-US" sz="3285">
                <a:solidFill>
                  <a:srgbClr val="363E52"/>
                </a:solidFill>
                <a:latin typeface="Open Sauce"/>
                <a:ea typeface="Open Sauce"/>
                <a:cs typeface="Open Sauce"/>
                <a:sym typeface="Open Sauce"/>
              </a:rPr>
              <a:t>Easier reuse</a:t>
            </a:r>
          </a:p>
          <a:p>
            <a:pPr algn="l">
              <a:lnSpc>
                <a:spcPts val="4599"/>
              </a:lnSpc>
              <a:spcBef>
                <a:spcPct val="0"/>
              </a:spcBef>
            </a:pPr>
          </a:p>
          <a:p>
            <a:pPr algn="l">
              <a:lnSpc>
                <a:spcPts val="4599"/>
              </a:lnSpc>
              <a:spcBef>
                <a:spcPct val="0"/>
              </a:spcBef>
            </a:pPr>
            <a:r>
              <a:rPr lang="en-US" b="true" sz="3285">
                <a:solidFill>
                  <a:srgbClr val="363E52"/>
                </a:solidFill>
                <a:latin typeface="Open Sauce Bold"/>
                <a:ea typeface="Open Sauce Bold"/>
                <a:cs typeface="Open Sauce Bold"/>
                <a:sym typeface="Open Sauce Bold"/>
              </a:rPr>
              <a:t>Requirements File</a:t>
            </a:r>
          </a:p>
          <a:p>
            <a:pPr algn="l">
              <a:lnSpc>
                <a:spcPts val="4599"/>
              </a:lnSpc>
              <a:spcBef>
                <a:spcPct val="0"/>
              </a:spcBef>
            </a:pPr>
            <a:r>
              <a:rPr lang="en-US" sz="3285">
                <a:solidFill>
                  <a:srgbClr val="363E52"/>
                </a:solidFill>
                <a:latin typeface="Open Sauce"/>
                <a:ea typeface="Open Sauce"/>
                <a:cs typeface="Open Sauce"/>
                <a:sym typeface="Open Sauce"/>
              </a:rPr>
              <a:t>requirements.txt created to:</a:t>
            </a:r>
          </a:p>
          <a:p>
            <a:pPr algn="l">
              <a:lnSpc>
                <a:spcPts val="4599"/>
              </a:lnSpc>
              <a:spcBef>
                <a:spcPct val="0"/>
              </a:spcBef>
            </a:pPr>
            <a:r>
              <a:rPr lang="en-US" sz="3285">
                <a:solidFill>
                  <a:srgbClr val="363E52"/>
                </a:solidFill>
                <a:latin typeface="Open Sauce"/>
                <a:ea typeface="Open Sauce"/>
                <a:cs typeface="Open Sauce"/>
                <a:sym typeface="Open Sauce"/>
              </a:rPr>
              <a:t>Store dependencies</a:t>
            </a:r>
          </a:p>
          <a:p>
            <a:pPr algn="l">
              <a:lnSpc>
                <a:spcPts val="4599"/>
              </a:lnSpc>
              <a:spcBef>
                <a:spcPct val="0"/>
              </a:spcBef>
            </a:pPr>
            <a:r>
              <a:rPr lang="en-US" sz="3285">
                <a:solidFill>
                  <a:srgbClr val="363E52"/>
                </a:solidFill>
                <a:latin typeface="Open Sauce"/>
                <a:ea typeface="Open Sauce"/>
                <a:cs typeface="Open Sauce"/>
                <a:sym typeface="Open Sauce"/>
              </a:rPr>
              <a:t>Reproduce environment</a:t>
            </a:r>
          </a:p>
          <a:p>
            <a:pPr algn="l">
              <a:lnSpc>
                <a:spcPts val="4599"/>
              </a:lnSpc>
              <a:spcBef>
                <a:spcPct val="0"/>
              </a:spcBef>
            </a:pPr>
            <a:r>
              <a:rPr lang="en-US" sz="3285">
                <a:solidFill>
                  <a:srgbClr val="363E52"/>
                </a:solidFill>
                <a:latin typeface="Open Sauce"/>
                <a:ea typeface="Open Sauce"/>
                <a:cs typeface="Open Sauce"/>
                <a:sym typeface="Open Sauce"/>
              </a:rPr>
              <a:t>Simplify deployment</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737478" y="-1091959"/>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0">
            <a:off x="8445678" y="2736090"/>
            <a:ext cx="1258362" cy="1258362"/>
          </a:xfrm>
          <a:custGeom>
            <a:avLst/>
            <a:gdLst/>
            <a:ahLst/>
            <a:cxnLst/>
            <a:rect r="r" b="b" t="t" l="l"/>
            <a:pathLst>
              <a:path h="1258362" w="1258362">
                <a:moveTo>
                  <a:pt x="0" y="0"/>
                </a:moveTo>
                <a:lnTo>
                  <a:pt x="1258363" y="0"/>
                </a:lnTo>
                <a:lnTo>
                  <a:pt x="1258363" y="1258363"/>
                </a:lnTo>
                <a:lnTo>
                  <a:pt x="0" y="1258363"/>
                </a:lnTo>
                <a:lnTo>
                  <a:pt x="0" y="0"/>
                </a:lnTo>
                <a:close/>
              </a:path>
            </a:pathLst>
          </a:custGeom>
          <a:blipFill>
            <a:blip r:embed="rId2"/>
            <a:stretch>
              <a:fillRect l="0" t="0" r="0" b="0"/>
            </a:stretch>
          </a:blipFill>
        </p:spPr>
      </p:sp>
      <p:sp>
        <p:nvSpPr>
          <p:cNvPr name="Freeform 6" id="6"/>
          <p:cNvSpPr/>
          <p:nvPr/>
        </p:nvSpPr>
        <p:spPr>
          <a:xfrm flipH="false" flipV="false" rot="0">
            <a:off x="13786256" y="2916842"/>
            <a:ext cx="1259006" cy="1255003"/>
          </a:xfrm>
          <a:custGeom>
            <a:avLst/>
            <a:gdLst/>
            <a:ahLst/>
            <a:cxnLst/>
            <a:rect r="r" b="b" t="t" l="l"/>
            <a:pathLst>
              <a:path h="1255003" w="1259006">
                <a:moveTo>
                  <a:pt x="0" y="0"/>
                </a:moveTo>
                <a:lnTo>
                  <a:pt x="1259006" y="0"/>
                </a:lnTo>
                <a:lnTo>
                  <a:pt x="1259006" y="1255003"/>
                </a:lnTo>
                <a:lnTo>
                  <a:pt x="0" y="1255003"/>
                </a:lnTo>
                <a:lnTo>
                  <a:pt x="0" y="0"/>
                </a:lnTo>
                <a:close/>
              </a:path>
            </a:pathLst>
          </a:custGeom>
          <a:blipFill>
            <a:blip r:embed="rId3"/>
            <a:stretch>
              <a:fillRect l="0" t="0" r="0" b="0"/>
            </a:stretch>
          </a:blipFill>
        </p:spPr>
      </p:sp>
      <p:sp>
        <p:nvSpPr>
          <p:cNvPr name="Freeform 7" id="7"/>
          <p:cNvSpPr/>
          <p:nvPr/>
        </p:nvSpPr>
        <p:spPr>
          <a:xfrm flipH="false" flipV="false" rot="0">
            <a:off x="3074620" y="2705682"/>
            <a:ext cx="1288771" cy="1288771"/>
          </a:xfrm>
          <a:custGeom>
            <a:avLst/>
            <a:gdLst/>
            <a:ahLst/>
            <a:cxnLst/>
            <a:rect r="r" b="b" t="t" l="l"/>
            <a:pathLst>
              <a:path h="1288771" w="1288771">
                <a:moveTo>
                  <a:pt x="0" y="0"/>
                </a:moveTo>
                <a:lnTo>
                  <a:pt x="1288771" y="0"/>
                </a:lnTo>
                <a:lnTo>
                  <a:pt x="1288771" y="1288771"/>
                </a:lnTo>
                <a:lnTo>
                  <a:pt x="0" y="1288771"/>
                </a:lnTo>
                <a:lnTo>
                  <a:pt x="0" y="0"/>
                </a:lnTo>
                <a:close/>
              </a:path>
            </a:pathLst>
          </a:custGeom>
          <a:blipFill>
            <a:blip r:embed="rId4"/>
            <a:stretch>
              <a:fillRect l="0" t="0" r="0" b="0"/>
            </a:stretch>
          </a:blipFill>
        </p:spPr>
      </p:sp>
      <p:sp>
        <p:nvSpPr>
          <p:cNvPr name="Freeform 8" id="8"/>
          <p:cNvSpPr/>
          <p:nvPr/>
        </p:nvSpPr>
        <p:spPr>
          <a:xfrm flipH="false" flipV="false" rot="-1739206">
            <a:off x="-1937303" y="-12914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5"/>
            <a:stretch>
              <a:fillRect l="0" t="0" r="0" b="0"/>
            </a:stretch>
          </a:blipFill>
        </p:spPr>
      </p:sp>
      <p:sp>
        <p:nvSpPr>
          <p:cNvPr name="TextBox 9" id="9"/>
          <p:cNvSpPr txBox="true"/>
          <p:nvPr/>
        </p:nvSpPr>
        <p:spPr>
          <a:xfrm rot="0">
            <a:off x="3397437" y="616953"/>
            <a:ext cx="10706246" cy="823495"/>
          </a:xfrm>
          <a:prstGeom prst="rect">
            <a:avLst/>
          </a:prstGeom>
        </p:spPr>
        <p:txBody>
          <a:bodyPr anchor="t" rtlCol="false" tIns="0" lIns="0" bIns="0" rIns="0">
            <a:spAutoFit/>
          </a:bodyPr>
          <a:lstStyle/>
          <a:p>
            <a:pPr algn="ctr" marL="0" indent="0" lvl="0">
              <a:lnSpc>
                <a:spcPts val="6443"/>
              </a:lnSpc>
            </a:pPr>
            <a:r>
              <a:rPr lang="en-US" b="true" sz="5460">
                <a:solidFill>
                  <a:srgbClr val="363E52"/>
                </a:solidFill>
                <a:latin typeface="Montserrat Semi-Bold"/>
                <a:ea typeface="Montserrat Semi-Bold"/>
                <a:cs typeface="Montserrat Semi-Bold"/>
                <a:sym typeface="Montserrat Semi-Bold"/>
              </a:rPr>
              <a:t>Web Application Deployment</a:t>
            </a:r>
          </a:p>
        </p:txBody>
      </p:sp>
      <p:sp>
        <p:nvSpPr>
          <p:cNvPr name="TextBox 10" id="10"/>
          <p:cNvSpPr txBox="true"/>
          <p:nvPr/>
        </p:nvSpPr>
        <p:spPr>
          <a:xfrm rot="0">
            <a:off x="6889493" y="4511476"/>
            <a:ext cx="4509014" cy="2195736"/>
          </a:xfrm>
          <a:prstGeom prst="rect">
            <a:avLst/>
          </a:prstGeom>
        </p:spPr>
        <p:txBody>
          <a:bodyPr anchor="t" rtlCol="false" tIns="0" lIns="0" bIns="0" rIns="0">
            <a:spAutoFit/>
          </a:bodyPr>
          <a:lstStyle/>
          <a:p>
            <a:pPr algn="ctr" marL="0" indent="0" lvl="0">
              <a:lnSpc>
                <a:spcPts val="2941"/>
              </a:lnSpc>
            </a:pPr>
            <a:r>
              <a:rPr lang="en-US" sz="2101">
                <a:solidFill>
                  <a:srgbClr val="363E52"/>
                </a:solidFill>
                <a:latin typeface="Montserrat"/>
                <a:ea typeface="Montserrat"/>
                <a:cs typeface="Montserrat"/>
                <a:sym typeface="Montserrat"/>
              </a:rPr>
              <a:t>Streamlit Frontend</a:t>
            </a:r>
          </a:p>
          <a:p>
            <a:pPr algn="ctr" marL="0" indent="0" lvl="0">
              <a:lnSpc>
                <a:spcPts val="2941"/>
              </a:lnSpc>
            </a:pPr>
            <a:r>
              <a:rPr lang="en-US" sz="2101">
                <a:solidFill>
                  <a:srgbClr val="363E52"/>
                </a:solidFill>
                <a:latin typeface="Montserrat"/>
                <a:ea typeface="Montserrat"/>
                <a:cs typeface="Montserrat"/>
                <a:sym typeface="Montserrat"/>
              </a:rPr>
              <a:t>Deployed on Streamlit Community Cloud. Provides an interactive browser-based interface for users to input gene expression values seamlessly.</a:t>
            </a:r>
          </a:p>
        </p:txBody>
      </p:sp>
      <p:sp>
        <p:nvSpPr>
          <p:cNvPr name="TextBox 11" id="11"/>
          <p:cNvSpPr txBox="true"/>
          <p:nvPr/>
        </p:nvSpPr>
        <p:spPr>
          <a:xfrm rot="0">
            <a:off x="12161252" y="4511476"/>
            <a:ext cx="4509014" cy="2564237"/>
          </a:xfrm>
          <a:prstGeom prst="rect">
            <a:avLst/>
          </a:prstGeom>
        </p:spPr>
        <p:txBody>
          <a:bodyPr anchor="t" rtlCol="false" tIns="0" lIns="0" bIns="0" rIns="0">
            <a:spAutoFit/>
          </a:bodyPr>
          <a:lstStyle/>
          <a:p>
            <a:pPr algn="ctr" marL="0" indent="0" lvl="0">
              <a:lnSpc>
                <a:spcPts val="2941"/>
              </a:lnSpc>
            </a:pPr>
            <a:r>
              <a:rPr lang="en-US" sz="2101">
                <a:solidFill>
                  <a:srgbClr val="363E52"/>
                </a:solidFill>
                <a:latin typeface="Montserrat"/>
                <a:ea typeface="Montserrat"/>
                <a:cs typeface="Montserrat"/>
                <a:sym typeface="Montserrat"/>
              </a:rPr>
              <a:t>Real-Time Prediction</a:t>
            </a:r>
          </a:p>
          <a:p>
            <a:pPr algn="ctr" marL="0" indent="0" lvl="0">
              <a:lnSpc>
                <a:spcPts val="2941"/>
              </a:lnSpc>
            </a:pPr>
            <a:r>
              <a:rPr lang="en-US" sz="2101">
                <a:solidFill>
                  <a:srgbClr val="363E52"/>
                </a:solidFill>
                <a:latin typeface="Montserrat"/>
                <a:ea typeface="Montserrat"/>
                <a:cs typeface="Montserrat"/>
                <a:sym typeface="Montserrat"/>
              </a:rPr>
              <a:t>Users input gene expression values and instantly receive Alzheimer's vs. control classification results powered by the trained Random Forest model.</a:t>
            </a:r>
          </a:p>
        </p:txBody>
      </p:sp>
      <p:sp>
        <p:nvSpPr>
          <p:cNvPr name="TextBox 12" id="12"/>
          <p:cNvSpPr txBox="true"/>
          <p:nvPr/>
        </p:nvSpPr>
        <p:spPr>
          <a:xfrm rot="0">
            <a:off x="1618480" y="4396323"/>
            <a:ext cx="4509014" cy="2195736"/>
          </a:xfrm>
          <a:prstGeom prst="rect">
            <a:avLst/>
          </a:prstGeom>
        </p:spPr>
        <p:txBody>
          <a:bodyPr anchor="t" rtlCol="false" tIns="0" lIns="0" bIns="0" rIns="0">
            <a:spAutoFit/>
          </a:bodyPr>
          <a:lstStyle/>
          <a:p>
            <a:pPr algn="ctr" marL="0" indent="0" lvl="0">
              <a:lnSpc>
                <a:spcPts val="2941"/>
              </a:lnSpc>
            </a:pPr>
            <a:r>
              <a:rPr lang="en-US" sz="2101">
                <a:solidFill>
                  <a:srgbClr val="363E52"/>
                </a:solidFill>
                <a:latin typeface="Montserrat"/>
                <a:ea typeface="Montserrat"/>
                <a:cs typeface="Montserrat"/>
                <a:sym typeface="Montserrat"/>
              </a:rPr>
              <a:t>Flask Backend</a:t>
            </a:r>
          </a:p>
          <a:p>
            <a:pPr algn="ctr" marL="0" indent="0" lvl="0">
              <a:lnSpc>
                <a:spcPts val="2941"/>
              </a:lnSpc>
            </a:pPr>
            <a:r>
              <a:rPr lang="en-US" sz="2101">
                <a:solidFill>
                  <a:srgbClr val="363E52"/>
                </a:solidFill>
                <a:latin typeface="Montserrat"/>
                <a:ea typeface="Montserrat"/>
                <a:cs typeface="Montserrat"/>
                <a:sym typeface="Montserrat"/>
              </a:rPr>
              <a:t>Powers the prediction engine. Handles model loading, processes gene expression inputs, and serves prediction routes via a lightweight REST API.</a:t>
            </a:r>
          </a:p>
        </p:txBody>
      </p:sp>
      <p:sp>
        <p:nvSpPr>
          <p:cNvPr name="Freeform 13" id="13"/>
          <p:cNvSpPr/>
          <p:nvPr/>
        </p:nvSpPr>
        <p:spPr>
          <a:xfrm flipH="true" flipV="false" rot="1655336">
            <a:off x="14293297" y="-83081"/>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5"/>
            <a:stretch>
              <a:fillRect l="0" t="0" r="0" b="0"/>
            </a:stretch>
          </a:blipFill>
        </p:spPr>
      </p:sp>
      <p:sp>
        <p:nvSpPr>
          <p:cNvPr name="TextBox 14" id="14"/>
          <p:cNvSpPr txBox="true"/>
          <p:nvPr/>
        </p:nvSpPr>
        <p:spPr>
          <a:xfrm rot="0">
            <a:off x="1818970" y="7259663"/>
            <a:ext cx="5359476" cy="2254650"/>
          </a:xfrm>
          <a:prstGeom prst="rect">
            <a:avLst/>
          </a:prstGeom>
        </p:spPr>
        <p:txBody>
          <a:bodyPr anchor="t" rtlCol="false" tIns="0" lIns="0" bIns="0" rIns="0">
            <a:spAutoFit/>
          </a:bodyPr>
          <a:lstStyle/>
          <a:p>
            <a:pPr algn="l">
              <a:lnSpc>
                <a:spcPts val="3637"/>
              </a:lnSpc>
              <a:spcBef>
                <a:spcPct val="0"/>
              </a:spcBef>
            </a:pPr>
            <a:r>
              <a:rPr lang="en-US" b="true" sz="3082">
                <a:solidFill>
                  <a:srgbClr val="363E52"/>
                </a:solidFill>
                <a:latin typeface="Montserrat Semi-Bold"/>
                <a:ea typeface="Montserrat Semi-Bold"/>
                <a:cs typeface="Montserrat Semi-Bold"/>
                <a:sym typeface="Montserrat Semi-Bold"/>
              </a:rPr>
              <a:t>Deployment Included</a:t>
            </a:r>
          </a:p>
          <a:p>
            <a:pPr algn="l">
              <a:lnSpc>
                <a:spcPts val="3637"/>
              </a:lnSpc>
              <a:spcBef>
                <a:spcPct val="0"/>
              </a:spcBef>
            </a:pPr>
            <a:r>
              <a:rPr lang="en-US" b="true" sz="3082">
                <a:solidFill>
                  <a:srgbClr val="363E52"/>
                </a:solidFill>
                <a:latin typeface="Montserrat Semi-Bold"/>
                <a:ea typeface="Montserrat Semi-Bold"/>
                <a:cs typeface="Montserrat Semi-Bold"/>
                <a:sym typeface="Montserrat Semi-Bold"/>
              </a:rPr>
              <a:t>Model loading</a:t>
            </a:r>
          </a:p>
          <a:p>
            <a:pPr algn="l">
              <a:lnSpc>
                <a:spcPts val="3637"/>
              </a:lnSpc>
              <a:spcBef>
                <a:spcPct val="0"/>
              </a:spcBef>
            </a:pPr>
            <a:r>
              <a:rPr lang="en-US" b="true" sz="3082">
                <a:solidFill>
                  <a:srgbClr val="363E52"/>
                </a:solidFill>
                <a:latin typeface="Montserrat Semi-Bold"/>
                <a:ea typeface="Montserrat Semi-Bold"/>
                <a:cs typeface="Montserrat Semi-Bold"/>
                <a:sym typeface="Montserrat Semi-Bold"/>
              </a:rPr>
              <a:t>HTML/Streamlit interface</a:t>
            </a:r>
          </a:p>
          <a:p>
            <a:pPr algn="l">
              <a:lnSpc>
                <a:spcPts val="3637"/>
              </a:lnSpc>
              <a:spcBef>
                <a:spcPct val="0"/>
              </a:spcBef>
            </a:pPr>
            <a:r>
              <a:rPr lang="en-US" b="true" sz="3082">
                <a:solidFill>
                  <a:srgbClr val="363E52"/>
                </a:solidFill>
                <a:latin typeface="Montserrat Semi-Bold"/>
                <a:ea typeface="Montserrat Semi-Bold"/>
                <a:cs typeface="Montserrat Semi-Bold"/>
                <a:sym typeface="Montserrat Semi-Bold"/>
              </a:rPr>
              <a:t>Prediction routes</a:t>
            </a:r>
          </a:p>
          <a:p>
            <a:pPr algn="l">
              <a:lnSpc>
                <a:spcPts val="3637"/>
              </a:lnSpc>
              <a:spcBef>
                <a:spcPct val="0"/>
              </a:spcBef>
            </a:pPr>
            <a:r>
              <a:rPr lang="en-US" b="true" sz="3082">
                <a:solidFill>
                  <a:srgbClr val="363E52"/>
                </a:solidFill>
                <a:latin typeface="Montserrat Semi-Bold"/>
                <a:ea typeface="Montserrat Semi-Bold"/>
                <a:cs typeface="Montserrat Semi-Bold"/>
                <a:sym typeface="Montserrat Semi-Bold"/>
              </a:rPr>
              <a:t>Real-time prediction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87769" r="0" b="-63506"/>
            </a:stretch>
          </a:blipFill>
        </p:spPr>
      </p:sp>
      <p:sp>
        <p:nvSpPr>
          <p:cNvPr name="AutoShape 3" id="3"/>
          <p:cNvSpPr/>
          <p:nvPr/>
        </p:nvSpPr>
        <p:spPr>
          <a:xfrm>
            <a:off x="1581359" y="3069762"/>
            <a:ext cx="15125281" cy="0"/>
          </a:xfrm>
          <a:prstGeom prst="line">
            <a:avLst/>
          </a:prstGeom>
          <a:ln cap="flat" w="47625">
            <a:solidFill>
              <a:srgbClr val="363E52"/>
            </a:solidFill>
            <a:prstDash val="solid"/>
            <a:headEnd type="oval" len="lg" w="lg"/>
            <a:tailEnd type="oval" len="lg" w="lg"/>
          </a:ln>
        </p:spPr>
      </p:sp>
      <p:grpSp>
        <p:nvGrpSpPr>
          <p:cNvPr name="Group 4" id="4"/>
          <p:cNvGrpSpPr/>
          <p:nvPr/>
        </p:nvGrpSpPr>
        <p:grpSpPr>
          <a:xfrm rot="0">
            <a:off x="14711373" y="2789200"/>
            <a:ext cx="561123" cy="1256658"/>
            <a:chOff x="0" y="0"/>
            <a:chExt cx="748164" cy="1675544"/>
          </a:xfrm>
        </p:grpSpPr>
        <p:sp>
          <p:nvSpPr>
            <p:cNvPr name="AutoShape 5" id="5"/>
            <p:cNvSpPr/>
            <p:nvPr/>
          </p:nvSpPr>
          <p:spPr>
            <a:xfrm>
              <a:off x="395773" y="350561"/>
              <a:ext cx="0" cy="1324983"/>
            </a:xfrm>
            <a:prstGeom prst="line">
              <a:avLst/>
            </a:prstGeom>
            <a:ln cap="flat" w="76200">
              <a:solidFill>
                <a:srgbClr val="363E52"/>
              </a:solidFill>
              <a:prstDash val="solid"/>
              <a:headEnd type="none" len="sm" w="sm"/>
              <a:tailEnd type="triangle" len="med" w="lg"/>
            </a:ln>
          </p:spPr>
        </p:sp>
        <p:sp>
          <p:nvSpPr>
            <p:cNvPr name="Freeform 6" id="6"/>
            <p:cNvSpPr/>
            <p:nvPr/>
          </p:nvSpPr>
          <p:spPr>
            <a:xfrm flipH="false" flipV="false" rot="5400000">
              <a:off x="0" y="0"/>
              <a:ext cx="748164" cy="748164"/>
            </a:xfrm>
            <a:custGeom>
              <a:avLst/>
              <a:gdLst/>
              <a:ahLst/>
              <a:cxnLst/>
              <a:rect r="r" b="b" t="t" l="l"/>
              <a:pathLst>
                <a:path h="748164" w="748164">
                  <a:moveTo>
                    <a:pt x="0" y="0"/>
                  </a:moveTo>
                  <a:lnTo>
                    <a:pt x="748164" y="0"/>
                  </a:lnTo>
                  <a:lnTo>
                    <a:pt x="748164" y="748164"/>
                  </a:lnTo>
                  <a:lnTo>
                    <a:pt x="0" y="748164"/>
                  </a:lnTo>
                  <a:lnTo>
                    <a:pt x="0" y="0"/>
                  </a:lnTo>
                  <a:close/>
                </a:path>
              </a:pathLst>
            </a:custGeom>
            <a:blipFill>
              <a:blip r:embed="rId3"/>
              <a:stretch>
                <a:fillRect l="0" t="0" r="0" b="0"/>
              </a:stretch>
            </a:blipFill>
          </p:spPr>
        </p:sp>
      </p:grpSp>
      <p:grpSp>
        <p:nvGrpSpPr>
          <p:cNvPr name="Group 7" id="7"/>
          <p:cNvGrpSpPr/>
          <p:nvPr/>
        </p:nvGrpSpPr>
        <p:grpSpPr>
          <a:xfrm rot="0">
            <a:off x="10812750" y="2789200"/>
            <a:ext cx="561123" cy="1256658"/>
            <a:chOff x="0" y="0"/>
            <a:chExt cx="748164" cy="1675544"/>
          </a:xfrm>
        </p:grpSpPr>
        <p:sp>
          <p:nvSpPr>
            <p:cNvPr name="AutoShape 8" id="8"/>
            <p:cNvSpPr/>
            <p:nvPr/>
          </p:nvSpPr>
          <p:spPr>
            <a:xfrm>
              <a:off x="397896" y="350561"/>
              <a:ext cx="0" cy="1324983"/>
            </a:xfrm>
            <a:prstGeom prst="line">
              <a:avLst/>
            </a:prstGeom>
            <a:ln cap="flat" w="76200">
              <a:solidFill>
                <a:srgbClr val="363E52"/>
              </a:solidFill>
              <a:prstDash val="solid"/>
              <a:headEnd type="none" len="sm" w="sm"/>
              <a:tailEnd type="triangle" len="med" w="lg"/>
            </a:ln>
          </p:spPr>
        </p:sp>
        <p:sp>
          <p:nvSpPr>
            <p:cNvPr name="Freeform 9" id="9"/>
            <p:cNvSpPr/>
            <p:nvPr/>
          </p:nvSpPr>
          <p:spPr>
            <a:xfrm flipH="false" flipV="false" rot="5400000">
              <a:off x="0" y="0"/>
              <a:ext cx="748164" cy="748164"/>
            </a:xfrm>
            <a:custGeom>
              <a:avLst/>
              <a:gdLst/>
              <a:ahLst/>
              <a:cxnLst/>
              <a:rect r="r" b="b" t="t" l="l"/>
              <a:pathLst>
                <a:path h="748164" w="748164">
                  <a:moveTo>
                    <a:pt x="0" y="0"/>
                  </a:moveTo>
                  <a:lnTo>
                    <a:pt x="748164" y="0"/>
                  </a:lnTo>
                  <a:lnTo>
                    <a:pt x="748164" y="748164"/>
                  </a:lnTo>
                  <a:lnTo>
                    <a:pt x="0" y="748164"/>
                  </a:lnTo>
                  <a:lnTo>
                    <a:pt x="0" y="0"/>
                  </a:lnTo>
                  <a:close/>
                </a:path>
              </a:pathLst>
            </a:custGeom>
            <a:blipFill>
              <a:blip r:embed="rId3"/>
              <a:stretch>
                <a:fillRect l="0" t="0" r="0" b="0"/>
              </a:stretch>
            </a:blipFill>
          </p:spPr>
        </p:sp>
      </p:grpSp>
      <p:grpSp>
        <p:nvGrpSpPr>
          <p:cNvPr name="Group 10" id="10"/>
          <p:cNvGrpSpPr/>
          <p:nvPr/>
        </p:nvGrpSpPr>
        <p:grpSpPr>
          <a:xfrm rot="0">
            <a:off x="6914127" y="2789200"/>
            <a:ext cx="561123" cy="1256658"/>
            <a:chOff x="0" y="0"/>
            <a:chExt cx="748164" cy="1675544"/>
          </a:xfrm>
        </p:grpSpPr>
        <p:sp>
          <p:nvSpPr>
            <p:cNvPr name="AutoShape 11" id="11"/>
            <p:cNvSpPr/>
            <p:nvPr/>
          </p:nvSpPr>
          <p:spPr>
            <a:xfrm>
              <a:off x="400020" y="350561"/>
              <a:ext cx="0" cy="1324983"/>
            </a:xfrm>
            <a:prstGeom prst="line">
              <a:avLst/>
            </a:prstGeom>
            <a:ln cap="flat" w="76200">
              <a:solidFill>
                <a:srgbClr val="363E52"/>
              </a:solidFill>
              <a:prstDash val="solid"/>
              <a:headEnd type="none" len="sm" w="sm"/>
              <a:tailEnd type="triangle" len="med" w="lg"/>
            </a:ln>
          </p:spPr>
        </p:sp>
        <p:sp>
          <p:nvSpPr>
            <p:cNvPr name="Freeform 12" id="12"/>
            <p:cNvSpPr/>
            <p:nvPr/>
          </p:nvSpPr>
          <p:spPr>
            <a:xfrm flipH="false" flipV="false" rot="5400000">
              <a:off x="0" y="0"/>
              <a:ext cx="748164" cy="748164"/>
            </a:xfrm>
            <a:custGeom>
              <a:avLst/>
              <a:gdLst/>
              <a:ahLst/>
              <a:cxnLst/>
              <a:rect r="r" b="b" t="t" l="l"/>
              <a:pathLst>
                <a:path h="748164" w="748164">
                  <a:moveTo>
                    <a:pt x="0" y="0"/>
                  </a:moveTo>
                  <a:lnTo>
                    <a:pt x="748164" y="0"/>
                  </a:lnTo>
                  <a:lnTo>
                    <a:pt x="748164" y="748164"/>
                  </a:lnTo>
                  <a:lnTo>
                    <a:pt x="0" y="748164"/>
                  </a:lnTo>
                  <a:lnTo>
                    <a:pt x="0" y="0"/>
                  </a:lnTo>
                  <a:close/>
                </a:path>
              </a:pathLst>
            </a:custGeom>
            <a:blipFill>
              <a:blip r:embed="rId3"/>
              <a:stretch>
                <a:fillRect l="0" t="0" r="0" b="0"/>
              </a:stretch>
            </a:blipFill>
          </p:spPr>
        </p:sp>
      </p:grpSp>
      <p:grpSp>
        <p:nvGrpSpPr>
          <p:cNvPr name="Group 13" id="13"/>
          <p:cNvGrpSpPr/>
          <p:nvPr/>
        </p:nvGrpSpPr>
        <p:grpSpPr>
          <a:xfrm rot="0">
            <a:off x="3015504" y="2789200"/>
            <a:ext cx="561123" cy="1256658"/>
            <a:chOff x="0" y="0"/>
            <a:chExt cx="748164" cy="1675544"/>
          </a:xfrm>
        </p:grpSpPr>
        <p:sp>
          <p:nvSpPr>
            <p:cNvPr name="AutoShape 14" id="14"/>
            <p:cNvSpPr/>
            <p:nvPr/>
          </p:nvSpPr>
          <p:spPr>
            <a:xfrm>
              <a:off x="396258" y="350561"/>
              <a:ext cx="0" cy="1324983"/>
            </a:xfrm>
            <a:prstGeom prst="line">
              <a:avLst/>
            </a:prstGeom>
            <a:ln cap="flat" w="76200">
              <a:solidFill>
                <a:srgbClr val="363E52"/>
              </a:solidFill>
              <a:prstDash val="solid"/>
              <a:headEnd type="none" len="sm" w="sm"/>
              <a:tailEnd type="triangle" len="med" w="lg"/>
            </a:ln>
          </p:spPr>
        </p:sp>
        <p:sp>
          <p:nvSpPr>
            <p:cNvPr name="Freeform 15" id="15"/>
            <p:cNvSpPr/>
            <p:nvPr/>
          </p:nvSpPr>
          <p:spPr>
            <a:xfrm flipH="false" flipV="false" rot="5400000">
              <a:off x="0" y="0"/>
              <a:ext cx="748164" cy="748164"/>
            </a:xfrm>
            <a:custGeom>
              <a:avLst/>
              <a:gdLst/>
              <a:ahLst/>
              <a:cxnLst/>
              <a:rect r="r" b="b" t="t" l="l"/>
              <a:pathLst>
                <a:path h="748164" w="748164">
                  <a:moveTo>
                    <a:pt x="0" y="0"/>
                  </a:moveTo>
                  <a:lnTo>
                    <a:pt x="748164" y="0"/>
                  </a:lnTo>
                  <a:lnTo>
                    <a:pt x="748164" y="748164"/>
                  </a:lnTo>
                  <a:lnTo>
                    <a:pt x="0" y="748164"/>
                  </a:lnTo>
                  <a:lnTo>
                    <a:pt x="0" y="0"/>
                  </a:lnTo>
                  <a:close/>
                </a:path>
              </a:pathLst>
            </a:custGeom>
            <a:blipFill>
              <a:blip r:embed="rId3"/>
              <a:stretch>
                <a:fillRect l="0" t="0" r="0" b="0"/>
              </a:stretch>
            </a:blipFill>
          </p:spPr>
        </p:sp>
      </p:grpSp>
      <p:sp>
        <p:nvSpPr>
          <p:cNvPr name="Freeform 16" id="16"/>
          <p:cNvSpPr/>
          <p:nvPr/>
        </p:nvSpPr>
        <p:spPr>
          <a:xfrm flipH="false" flipV="false" rot="-2365843">
            <a:off x="692807" y="182897"/>
            <a:ext cx="1348618" cy="1448155"/>
          </a:xfrm>
          <a:custGeom>
            <a:avLst/>
            <a:gdLst/>
            <a:ahLst/>
            <a:cxnLst/>
            <a:rect r="r" b="b" t="t" l="l"/>
            <a:pathLst>
              <a:path h="1448155" w="1348618">
                <a:moveTo>
                  <a:pt x="0" y="0"/>
                </a:moveTo>
                <a:lnTo>
                  <a:pt x="1348618" y="0"/>
                </a:lnTo>
                <a:lnTo>
                  <a:pt x="1348618" y="1448155"/>
                </a:lnTo>
                <a:lnTo>
                  <a:pt x="0" y="1448155"/>
                </a:lnTo>
                <a:lnTo>
                  <a:pt x="0" y="0"/>
                </a:lnTo>
                <a:close/>
              </a:path>
            </a:pathLst>
          </a:custGeom>
          <a:blipFill>
            <a:blip r:embed="rId4"/>
            <a:stretch>
              <a:fillRect l="0" t="0" r="0" b="0"/>
            </a:stretch>
          </a:blipFill>
        </p:spPr>
      </p:sp>
      <p:sp>
        <p:nvSpPr>
          <p:cNvPr name="Freeform 17" id="17"/>
          <p:cNvSpPr/>
          <p:nvPr/>
        </p:nvSpPr>
        <p:spPr>
          <a:xfrm flipH="true" flipV="false" rot="0">
            <a:off x="5479982" y="4130758"/>
            <a:ext cx="3429413" cy="545848"/>
          </a:xfrm>
          <a:custGeom>
            <a:avLst/>
            <a:gdLst/>
            <a:ahLst/>
            <a:cxnLst/>
            <a:rect r="r" b="b" t="t" l="l"/>
            <a:pathLst>
              <a:path h="545848" w="3429413">
                <a:moveTo>
                  <a:pt x="3429413" y="0"/>
                </a:moveTo>
                <a:lnTo>
                  <a:pt x="0" y="0"/>
                </a:lnTo>
                <a:lnTo>
                  <a:pt x="0" y="545848"/>
                </a:lnTo>
                <a:lnTo>
                  <a:pt x="3429413" y="545848"/>
                </a:lnTo>
                <a:lnTo>
                  <a:pt x="3429413" y="0"/>
                </a:lnTo>
                <a:close/>
              </a:path>
            </a:pathLst>
          </a:custGeom>
          <a:blipFill>
            <a:blip r:embed="rId5"/>
            <a:stretch>
              <a:fillRect l="0" t="0" r="0" b="0"/>
            </a:stretch>
          </a:blipFill>
        </p:spPr>
      </p:sp>
      <p:sp>
        <p:nvSpPr>
          <p:cNvPr name="Freeform 18" id="18"/>
          <p:cNvSpPr/>
          <p:nvPr/>
        </p:nvSpPr>
        <p:spPr>
          <a:xfrm flipH="true" flipV="false" rot="0">
            <a:off x="9378605" y="4130758"/>
            <a:ext cx="3429413" cy="545848"/>
          </a:xfrm>
          <a:custGeom>
            <a:avLst/>
            <a:gdLst/>
            <a:ahLst/>
            <a:cxnLst/>
            <a:rect r="r" b="b" t="t" l="l"/>
            <a:pathLst>
              <a:path h="545848" w="3429413">
                <a:moveTo>
                  <a:pt x="3429413" y="0"/>
                </a:moveTo>
                <a:lnTo>
                  <a:pt x="0" y="0"/>
                </a:lnTo>
                <a:lnTo>
                  <a:pt x="0" y="545848"/>
                </a:lnTo>
                <a:lnTo>
                  <a:pt x="3429413" y="545848"/>
                </a:lnTo>
                <a:lnTo>
                  <a:pt x="3429413" y="0"/>
                </a:lnTo>
                <a:close/>
              </a:path>
            </a:pathLst>
          </a:custGeom>
          <a:blipFill>
            <a:blip r:embed="rId5"/>
            <a:stretch>
              <a:fillRect l="0" t="0" r="0" b="0"/>
            </a:stretch>
          </a:blipFill>
        </p:spPr>
      </p:sp>
      <p:sp>
        <p:nvSpPr>
          <p:cNvPr name="Freeform 19" id="19"/>
          <p:cNvSpPr/>
          <p:nvPr/>
        </p:nvSpPr>
        <p:spPr>
          <a:xfrm flipH="true" flipV="false" rot="0">
            <a:off x="13277228" y="4130758"/>
            <a:ext cx="3429413" cy="545848"/>
          </a:xfrm>
          <a:custGeom>
            <a:avLst/>
            <a:gdLst/>
            <a:ahLst/>
            <a:cxnLst/>
            <a:rect r="r" b="b" t="t" l="l"/>
            <a:pathLst>
              <a:path h="545848" w="3429413">
                <a:moveTo>
                  <a:pt x="3429413" y="0"/>
                </a:moveTo>
                <a:lnTo>
                  <a:pt x="0" y="0"/>
                </a:lnTo>
                <a:lnTo>
                  <a:pt x="0" y="545848"/>
                </a:lnTo>
                <a:lnTo>
                  <a:pt x="3429413" y="545848"/>
                </a:lnTo>
                <a:lnTo>
                  <a:pt x="3429413" y="0"/>
                </a:lnTo>
                <a:close/>
              </a:path>
            </a:pathLst>
          </a:custGeom>
          <a:blipFill>
            <a:blip r:embed="rId5"/>
            <a:stretch>
              <a:fillRect l="0" t="0" r="0" b="0"/>
            </a:stretch>
          </a:blipFill>
        </p:spPr>
      </p:sp>
      <p:sp>
        <p:nvSpPr>
          <p:cNvPr name="Freeform 20" id="20"/>
          <p:cNvSpPr/>
          <p:nvPr/>
        </p:nvSpPr>
        <p:spPr>
          <a:xfrm flipH="true" flipV="false" rot="0">
            <a:off x="1579294" y="4130758"/>
            <a:ext cx="3431478" cy="545848"/>
          </a:xfrm>
          <a:custGeom>
            <a:avLst/>
            <a:gdLst/>
            <a:ahLst/>
            <a:cxnLst/>
            <a:rect r="r" b="b" t="t" l="l"/>
            <a:pathLst>
              <a:path h="545848" w="3431478">
                <a:moveTo>
                  <a:pt x="3431478" y="0"/>
                </a:moveTo>
                <a:lnTo>
                  <a:pt x="0" y="0"/>
                </a:lnTo>
                <a:lnTo>
                  <a:pt x="0" y="545848"/>
                </a:lnTo>
                <a:lnTo>
                  <a:pt x="3431478" y="545848"/>
                </a:lnTo>
                <a:lnTo>
                  <a:pt x="3431478" y="0"/>
                </a:lnTo>
                <a:close/>
              </a:path>
            </a:pathLst>
          </a:custGeom>
          <a:blipFill>
            <a:blip r:embed="rId6"/>
            <a:stretch>
              <a:fillRect l="0" t="0" r="0" b="0"/>
            </a:stretch>
          </a:blipFill>
        </p:spPr>
      </p:sp>
      <p:sp>
        <p:nvSpPr>
          <p:cNvPr name="TextBox 21" id="21"/>
          <p:cNvSpPr txBox="true"/>
          <p:nvPr/>
        </p:nvSpPr>
        <p:spPr>
          <a:xfrm rot="0">
            <a:off x="5086350" y="1038225"/>
            <a:ext cx="8115300" cy="901011"/>
          </a:xfrm>
          <a:prstGeom prst="rect">
            <a:avLst/>
          </a:prstGeom>
        </p:spPr>
        <p:txBody>
          <a:bodyPr anchor="t" rtlCol="false" tIns="0" lIns="0" bIns="0" rIns="0">
            <a:spAutoFit/>
          </a:bodyPr>
          <a:lstStyle/>
          <a:p>
            <a:pPr algn="ctr" marL="0" indent="0" lvl="0">
              <a:lnSpc>
                <a:spcPts val="7054"/>
              </a:lnSpc>
            </a:pPr>
            <a:r>
              <a:rPr lang="en-US" b="true" sz="5978">
                <a:solidFill>
                  <a:srgbClr val="363E52"/>
                </a:solidFill>
                <a:latin typeface="Montserrat Semi-Bold"/>
                <a:ea typeface="Montserrat Semi-Bold"/>
                <a:cs typeface="Montserrat Semi-Bold"/>
                <a:sym typeface="Montserrat Semi-Bold"/>
              </a:rPr>
              <a:t>Deployment Process</a:t>
            </a:r>
          </a:p>
        </p:txBody>
      </p:sp>
      <p:sp>
        <p:nvSpPr>
          <p:cNvPr name="TextBox 22" id="22"/>
          <p:cNvSpPr txBox="true"/>
          <p:nvPr/>
        </p:nvSpPr>
        <p:spPr>
          <a:xfrm rot="0">
            <a:off x="1581359" y="4186631"/>
            <a:ext cx="3429413" cy="279027"/>
          </a:xfrm>
          <a:prstGeom prst="rect">
            <a:avLst/>
          </a:prstGeom>
        </p:spPr>
        <p:txBody>
          <a:bodyPr anchor="t" rtlCol="false" tIns="0" lIns="0" bIns="0" rIns="0">
            <a:spAutoFit/>
          </a:bodyPr>
          <a:lstStyle/>
          <a:p>
            <a:pPr algn="ctr" marL="0" indent="0" lvl="0">
              <a:lnSpc>
                <a:spcPts val="2323"/>
              </a:lnSpc>
            </a:pPr>
            <a:r>
              <a:rPr lang="en-US" b="true" sz="1659">
                <a:solidFill>
                  <a:srgbClr val="363E52"/>
                </a:solidFill>
                <a:latin typeface="Montserrat Bold"/>
                <a:ea typeface="Montserrat Bold"/>
                <a:cs typeface="Montserrat Bold"/>
                <a:sym typeface="Montserrat Bold"/>
              </a:rPr>
              <a:t>STEP 1</a:t>
            </a:r>
          </a:p>
        </p:txBody>
      </p:sp>
      <p:sp>
        <p:nvSpPr>
          <p:cNvPr name="TextBox 23" id="23"/>
          <p:cNvSpPr txBox="true"/>
          <p:nvPr/>
        </p:nvSpPr>
        <p:spPr>
          <a:xfrm rot="0">
            <a:off x="1581359" y="4875671"/>
            <a:ext cx="3429413" cy="1381919"/>
          </a:xfrm>
          <a:prstGeom prst="rect">
            <a:avLst/>
          </a:prstGeom>
        </p:spPr>
        <p:txBody>
          <a:bodyPr anchor="t" rtlCol="false" tIns="0" lIns="0" bIns="0" rIns="0">
            <a:spAutoFit/>
          </a:bodyPr>
          <a:lstStyle/>
          <a:p>
            <a:pPr algn="ctr" marL="0" indent="0" lvl="0">
              <a:lnSpc>
                <a:spcPts val="2209"/>
              </a:lnSpc>
            </a:pPr>
            <a:r>
              <a:rPr lang="en-US" sz="1578">
                <a:solidFill>
                  <a:srgbClr val="363E52"/>
                </a:solidFill>
                <a:latin typeface="Montserrat"/>
                <a:ea typeface="Montserrat"/>
                <a:cs typeface="Montserrat"/>
                <a:sym typeface="Montserrat"/>
              </a:rPr>
              <a:t>Create a Streamlit Cloud account at streamlit.io/cloud. Sign up using your GitHub credentials for seamless integration and access to deployment features.</a:t>
            </a:r>
          </a:p>
        </p:txBody>
      </p:sp>
      <p:sp>
        <p:nvSpPr>
          <p:cNvPr name="TextBox 24" id="24"/>
          <p:cNvSpPr txBox="true"/>
          <p:nvPr/>
        </p:nvSpPr>
        <p:spPr>
          <a:xfrm rot="0">
            <a:off x="5479982" y="4186631"/>
            <a:ext cx="3429413" cy="279027"/>
          </a:xfrm>
          <a:prstGeom prst="rect">
            <a:avLst/>
          </a:prstGeom>
        </p:spPr>
        <p:txBody>
          <a:bodyPr anchor="t" rtlCol="false" tIns="0" lIns="0" bIns="0" rIns="0">
            <a:spAutoFit/>
          </a:bodyPr>
          <a:lstStyle/>
          <a:p>
            <a:pPr algn="ctr" marL="0" indent="0" lvl="0">
              <a:lnSpc>
                <a:spcPts val="2323"/>
              </a:lnSpc>
            </a:pPr>
            <a:r>
              <a:rPr lang="en-US" b="true" sz="1659">
                <a:solidFill>
                  <a:srgbClr val="363E52"/>
                </a:solidFill>
                <a:latin typeface="Montserrat Bold"/>
                <a:ea typeface="Montserrat Bold"/>
                <a:cs typeface="Montserrat Bold"/>
                <a:sym typeface="Montserrat Bold"/>
              </a:rPr>
              <a:t>STEP 2</a:t>
            </a:r>
          </a:p>
        </p:txBody>
      </p:sp>
      <p:sp>
        <p:nvSpPr>
          <p:cNvPr name="TextBox 25" id="25"/>
          <p:cNvSpPr txBox="true"/>
          <p:nvPr/>
        </p:nvSpPr>
        <p:spPr>
          <a:xfrm rot="0">
            <a:off x="5479982" y="4875671"/>
            <a:ext cx="3429413" cy="1381919"/>
          </a:xfrm>
          <a:prstGeom prst="rect">
            <a:avLst/>
          </a:prstGeom>
        </p:spPr>
        <p:txBody>
          <a:bodyPr anchor="t" rtlCol="false" tIns="0" lIns="0" bIns="0" rIns="0">
            <a:spAutoFit/>
          </a:bodyPr>
          <a:lstStyle/>
          <a:p>
            <a:pPr algn="ctr" marL="0" indent="0" lvl="0">
              <a:lnSpc>
                <a:spcPts val="2209"/>
              </a:lnSpc>
            </a:pPr>
            <a:r>
              <a:rPr lang="en-US" sz="1578">
                <a:solidFill>
                  <a:srgbClr val="363E52"/>
                </a:solidFill>
                <a:latin typeface="Montserrat"/>
                <a:ea typeface="Montserrat"/>
                <a:cs typeface="Montserrat"/>
                <a:sym typeface="Montserrat"/>
              </a:rPr>
              <a:t>Link your GitHub repository. Select the target branch and specify app.py as the entry point. Streamlit reads your project structure automatically.</a:t>
            </a:r>
          </a:p>
        </p:txBody>
      </p:sp>
      <p:sp>
        <p:nvSpPr>
          <p:cNvPr name="TextBox 26" id="26"/>
          <p:cNvSpPr txBox="true"/>
          <p:nvPr/>
        </p:nvSpPr>
        <p:spPr>
          <a:xfrm rot="0">
            <a:off x="9378605" y="4186631"/>
            <a:ext cx="3429413" cy="279027"/>
          </a:xfrm>
          <a:prstGeom prst="rect">
            <a:avLst/>
          </a:prstGeom>
        </p:spPr>
        <p:txBody>
          <a:bodyPr anchor="t" rtlCol="false" tIns="0" lIns="0" bIns="0" rIns="0">
            <a:spAutoFit/>
          </a:bodyPr>
          <a:lstStyle/>
          <a:p>
            <a:pPr algn="ctr" marL="0" indent="0" lvl="0">
              <a:lnSpc>
                <a:spcPts val="2323"/>
              </a:lnSpc>
            </a:pPr>
            <a:r>
              <a:rPr lang="en-US" b="true" sz="1659">
                <a:solidFill>
                  <a:srgbClr val="363E52"/>
                </a:solidFill>
                <a:latin typeface="Montserrat Bold"/>
                <a:ea typeface="Montserrat Bold"/>
                <a:cs typeface="Montserrat Bold"/>
                <a:sym typeface="Montserrat Bold"/>
              </a:rPr>
              <a:t>STEP 3</a:t>
            </a:r>
          </a:p>
        </p:txBody>
      </p:sp>
      <p:sp>
        <p:nvSpPr>
          <p:cNvPr name="TextBox 27" id="27"/>
          <p:cNvSpPr txBox="true"/>
          <p:nvPr/>
        </p:nvSpPr>
        <p:spPr>
          <a:xfrm rot="0">
            <a:off x="9378605" y="4875671"/>
            <a:ext cx="3429413" cy="1658701"/>
          </a:xfrm>
          <a:prstGeom prst="rect">
            <a:avLst/>
          </a:prstGeom>
        </p:spPr>
        <p:txBody>
          <a:bodyPr anchor="t" rtlCol="false" tIns="0" lIns="0" bIns="0" rIns="0">
            <a:spAutoFit/>
          </a:bodyPr>
          <a:lstStyle/>
          <a:p>
            <a:pPr algn="ctr" marL="0" indent="0" lvl="0">
              <a:lnSpc>
                <a:spcPts val="2209"/>
              </a:lnSpc>
            </a:pPr>
            <a:r>
              <a:rPr lang="en-US" sz="1578">
                <a:solidFill>
                  <a:srgbClr val="363E52"/>
                </a:solidFill>
                <a:latin typeface="Montserrat"/>
                <a:ea typeface="Montserrat"/>
                <a:cs typeface="Montserrat"/>
                <a:sym typeface="Montserrat"/>
              </a:rPr>
              <a:t>Streamlit automatically installs all required dependencies from requirements.txt. Ensure all libraries are listed: Streamlit, NumPy, Pandas, Scikit-learn, and Joblib.</a:t>
            </a:r>
          </a:p>
        </p:txBody>
      </p:sp>
      <p:sp>
        <p:nvSpPr>
          <p:cNvPr name="TextBox 28" id="28"/>
          <p:cNvSpPr txBox="true"/>
          <p:nvPr/>
        </p:nvSpPr>
        <p:spPr>
          <a:xfrm rot="0">
            <a:off x="13277228" y="4186631"/>
            <a:ext cx="3429413" cy="279027"/>
          </a:xfrm>
          <a:prstGeom prst="rect">
            <a:avLst/>
          </a:prstGeom>
        </p:spPr>
        <p:txBody>
          <a:bodyPr anchor="t" rtlCol="false" tIns="0" lIns="0" bIns="0" rIns="0">
            <a:spAutoFit/>
          </a:bodyPr>
          <a:lstStyle/>
          <a:p>
            <a:pPr algn="ctr" marL="0" indent="0" lvl="0">
              <a:lnSpc>
                <a:spcPts val="2323"/>
              </a:lnSpc>
            </a:pPr>
            <a:r>
              <a:rPr lang="en-US" b="true" sz="1659">
                <a:solidFill>
                  <a:srgbClr val="363E52"/>
                </a:solidFill>
                <a:latin typeface="Montserrat Bold"/>
                <a:ea typeface="Montserrat Bold"/>
                <a:cs typeface="Montserrat Bold"/>
                <a:sym typeface="Montserrat Bold"/>
              </a:rPr>
              <a:t>STEP 4</a:t>
            </a:r>
          </a:p>
        </p:txBody>
      </p:sp>
      <p:sp>
        <p:nvSpPr>
          <p:cNvPr name="TextBox 29" id="29"/>
          <p:cNvSpPr txBox="true"/>
          <p:nvPr/>
        </p:nvSpPr>
        <p:spPr>
          <a:xfrm rot="0">
            <a:off x="13277228" y="4875671"/>
            <a:ext cx="3429413" cy="1658701"/>
          </a:xfrm>
          <a:prstGeom prst="rect">
            <a:avLst/>
          </a:prstGeom>
        </p:spPr>
        <p:txBody>
          <a:bodyPr anchor="t" rtlCol="false" tIns="0" lIns="0" bIns="0" rIns="0">
            <a:spAutoFit/>
          </a:bodyPr>
          <a:lstStyle/>
          <a:p>
            <a:pPr algn="ctr" marL="0" indent="0" lvl="0">
              <a:lnSpc>
                <a:spcPts val="2209"/>
              </a:lnSpc>
            </a:pPr>
            <a:r>
              <a:rPr lang="en-US" sz="1578">
                <a:solidFill>
                  <a:srgbClr val="363E52"/>
                </a:solidFill>
                <a:latin typeface="Montserrat"/>
                <a:ea typeface="Montserrat"/>
                <a:cs typeface="Montserrat"/>
                <a:sym typeface="Montserrat"/>
              </a:rPr>
              <a:t>The app is launched publicly and becomes accessible via a unique Streamlit URL. Users can immediately interact with the Alzheimer's prediction interface in their browser.</a:t>
            </a:r>
          </a:p>
        </p:txBody>
      </p:sp>
      <p:sp>
        <p:nvSpPr>
          <p:cNvPr name="TextBox 30" id="30"/>
          <p:cNvSpPr txBox="true"/>
          <p:nvPr/>
        </p:nvSpPr>
        <p:spPr>
          <a:xfrm rot="0">
            <a:off x="3015504" y="7430251"/>
            <a:ext cx="11976430" cy="1387510"/>
          </a:xfrm>
          <a:prstGeom prst="rect">
            <a:avLst/>
          </a:prstGeom>
        </p:spPr>
        <p:txBody>
          <a:bodyPr anchor="t" rtlCol="false" tIns="0" lIns="0" bIns="0" rIns="0">
            <a:spAutoFit/>
          </a:bodyPr>
          <a:lstStyle/>
          <a:p>
            <a:pPr algn="ctr" marL="0" indent="0" lvl="0">
              <a:lnSpc>
                <a:spcPts val="2798"/>
              </a:lnSpc>
            </a:pPr>
            <a:r>
              <a:rPr lang="en-US" sz="1998">
                <a:solidFill>
                  <a:srgbClr val="363E52"/>
                </a:solidFill>
                <a:latin typeface="Montserrat"/>
                <a:ea typeface="Montserrat"/>
                <a:cs typeface="Montserrat"/>
                <a:sym typeface="Montserrat"/>
              </a:rPr>
              <a:t>The Streamlit Community Cloud platform enables rapid, free deployment directly from a GitHub repository. The entire workflow — from account creation to a live public application — requires no server configuration, making it ideal for academic and research-oriented machine learning projects. Required libraries: Streamlit, NumPy, Pandas, Scikit-learn, Joblib.</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737478" y="-8571423"/>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9275291">
            <a:off x="14294035" y="750072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2"/>
            <a:stretch>
              <a:fillRect l="0" t="0" r="0" b="0"/>
            </a:stretch>
          </a:blipFill>
        </p:spPr>
      </p:sp>
      <p:sp>
        <p:nvSpPr>
          <p:cNvPr name="Freeform 6" id="6"/>
          <p:cNvSpPr/>
          <p:nvPr/>
        </p:nvSpPr>
        <p:spPr>
          <a:xfrm flipH="true" flipV="false" rot="-9144663">
            <a:off x="-1936565" y="7454662"/>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2"/>
            <a:stretch>
              <a:fillRect l="0" t="0" r="0" b="0"/>
            </a:stretch>
          </a:blipFill>
        </p:spPr>
      </p:sp>
      <p:sp>
        <p:nvSpPr>
          <p:cNvPr name="TextBox 7" id="7"/>
          <p:cNvSpPr txBox="true"/>
          <p:nvPr/>
        </p:nvSpPr>
        <p:spPr>
          <a:xfrm rot="0">
            <a:off x="2687391" y="1206761"/>
            <a:ext cx="12913218" cy="1211195"/>
          </a:xfrm>
          <a:prstGeom prst="rect">
            <a:avLst/>
          </a:prstGeom>
        </p:spPr>
        <p:txBody>
          <a:bodyPr anchor="t" rtlCol="false" tIns="0" lIns="0" bIns="0" rIns="0">
            <a:spAutoFit/>
          </a:bodyPr>
          <a:lstStyle/>
          <a:p>
            <a:pPr algn="ctr" marL="0" indent="0" lvl="0">
              <a:lnSpc>
                <a:spcPts val="9556"/>
              </a:lnSpc>
            </a:pPr>
            <a:r>
              <a:rPr lang="en-US" b="true" sz="8098">
                <a:solidFill>
                  <a:srgbClr val="363E52"/>
                </a:solidFill>
                <a:latin typeface="Montserrat Semi-Bold"/>
                <a:ea typeface="Montserrat Semi-Bold"/>
                <a:cs typeface="Montserrat Semi-Bold"/>
                <a:sym typeface="Montserrat Semi-Bold"/>
              </a:rPr>
              <a:t>Deployment Challenges</a:t>
            </a:r>
          </a:p>
        </p:txBody>
      </p:sp>
      <p:sp>
        <p:nvSpPr>
          <p:cNvPr name="Freeform 8" id="8"/>
          <p:cNvSpPr/>
          <p:nvPr/>
        </p:nvSpPr>
        <p:spPr>
          <a:xfrm flipH="false" flipV="false" rot="0">
            <a:off x="2450012" y="3301084"/>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9" id="9"/>
          <p:cNvSpPr txBox="true"/>
          <p:nvPr/>
        </p:nvSpPr>
        <p:spPr>
          <a:xfrm rot="0">
            <a:off x="4072424" y="3253459"/>
            <a:ext cx="11802218" cy="1217820"/>
          </a:xfrm>
          <a:prstGeom prst="rect">
            <a:avLst/>
          </a:prstGeom>
        </p:spPr>
        <p:txBody>
          <a:bodyPr anchor="t" rtlCol="false" tIns="0" lIns="0" bIns="0" rIns="0">
            <a:spAutoFit/>
          </a:bodyPr>
          <a:lstStyle/>
          <a:p>
            <a:pPr algn="l" marL="0" indent="0" lvl="0">
              <a:lnSpc>
                <a:spcPts val="3226"/>
              </a:lnSpc>
            </a:pPr>
            <a:r>
              <a:rPr lang="en-US" sz="2304">
                <a:solidFill>
                  <a:srgbClr val="363E52"/>
                </a:solidFill>
                <a:latin typeface="Montserrat"/>
                <a:ea typeface="Montserrat"/>
                <a:cs typeface="Montserrat"/>
                <a:sym typeface="Montserrat"/>
              </a:rPr>
              <a:t>Missing packages and incorrect dependencies caused deployment failures. Python version conflicts between local and cloud environments led to incompatible library installations, breaking the app on launch.</a:t>
            </a:r>
          </a:p>
        </p:txBody>
      </p:sp>
      <p:sp>
        <p:nvSpPr>
          <p:cNvPr name="TextBox 10" id="10"/>
          <p:cNvSpPr txBox="true"/>
          <p:nvPr/>
        </p:nvSpPr>
        <p:spPr>
          <a:xfrm rot="0">
            <a:off x="2413358" y="3555236"/>
            <a:ext cx="1284975" cy="885973"/>
          </a:xfrm>
          <a:prstGeom prst="rect">
            <a:avLst/>
          </a:prstGeom>
        </p:spPr>
        <p:txBody>
          <a:bodyPr anchor="t" rtlCol="false" tIns="0" lIns="0" bIns="0" rIns="0">
            <a:spAutoFit/>
          </a:bodyPr>
          <a:lstStyle/>
          <a:p>
            <a:pPr algn="ctr" marL="0" indent="0" lvl="0">
              <a:lnSpc>
                <a:spcPts val="6957"/>
              </a:lnSpc>
            </a:pPr>
            <a:r>
              <a:rPr lang="en-US" b="true" sz="5896">
                <a:solidFill>
                  <a:srgbClr val="FFFFFF"/>
                </a:solidFill>
                <a:latin typeface="Montserrat Semi-Bold"/>
                <a:ea typeface="Montserrat Semi-Bold"/>
                <a:cs typeface="Montserrat Semi-Bold"/>
                <a:sym typeface="Montserrat Semi-Bold"/>
              </a:rPr>
              <a:t>1</a:t>
            </a:r>
          </a:p>
        </p:txBody>
      </p:sp>
      <p:sp>
        <p:nvSpPr>
          <p:cNvPr name="Freeform 11" id="11"/>
          <p:cNvSpPr/>
          <p:nvPr/>
        </p:nvSpPr>
        <p:spPr>
          <a:xfrm flipH="false" flipV="false" rot="0">
            <a:off x="2450012" y="5091797"/>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12" id="12"/>
          <p:cNvSpPr txBox="true"/>
          <p:nvPr/>
        </p:nvSpPr>
        <p:spPr>
          <a:xfrm rot="0">
            <a:off x="4072424" y="5044172"/>
            <a:ext cx="11802218" cy="1217820"/>
          </a:xfrm>
          <a:prstGeom prst="rect">
            <a:avLst/>
          </a:prstGeom>
        </p:spPr>
        <p:txBody>
          <a:bodyPr anchor="t" rtlCol="false" tIns="0" lIns="0" bIns="0" rIns="0">
            <a:spAutoFit/>
          </a:bodyPr>
          <a:lstStyle/>
          <a:p>
            <a:pPr algn="l" marL="0" indent="0" lvl="0">
              <a:lnSpc>
                <a:spcPts val="3226"/>
              </a:lnSpc>
            </a:pPr>
            <a:r>
              <a:rPr lang="en-US" sz="2304">
                <a:solidFill>
                  <a:srgbClr val="363E52"/>
                </a:solidFill>
                <a:latin typeface="Montserrat"/>
                <a:ea typeface="Montserrat"/>
                <a:cs typeface="Montserrat"/>
                <a:sym typeface="Montserrat"/>
              </a:rPr>
              <a:t>Git authentication problems prevented repository linking, while incorrect deployment paths caused Streamlit to fail locating app.py and required configuration files.</a:t>
            </a:r>
          </a:p>
        </p:txBody>
      </p:sp>
      <p:sp>
        <p:nvSpPr>
          <p:cNvPr name="TextBox 13" id="13"/>
          <p:cNvSpPr txBox="true"/>
          <p:nvPr/>
        </p:nvSpPr>
        <p:spPr>
          <a:xfrm rot="0">
            <a:off x="2413358" y="5345949"/>
            <a:ext cx="1284975" cy="885973"/>
          </a:xfrm>
          <a:prstGeom prst="rect">
            <a:avLst/>
          </a:prstGeom>
        </p:spPr>
        <p:txBody>
          <a:bodyPr anchor="t" rtlCol="false" tIns="0" lIns="0" bIns="0" rIns="0">
            <a:spAutoFit/>
          </a:bodyPr>
          <a:lstStyle/>
          <a:p>
            <a:pPr algn="ctr" marL="0" indent="0" lvl="0">
              <a:lnSpc>
                <a:spcPts val="6957"/>
              </a:lnSpc>
            </a:pPr>
            <a:r>
              <a:rPr lang="en-US" b="true" sz="5896">
                <a:solidFill>
                  <a:srgbClr val="FFFFFF"/>
                </a:solidFill>
                <a:latin typeface="Montserrat Semi-Bold"/>
                <a:ea typeface="Montserrat Semi-Bold"/>
                <a:cs typeface="Montserrat Semi-Bold"/>
                <a:sym typeface="Montserrat Semi-Bold"/>
              </a:rPr>
              <a:t>2</a:t>
            </a:r>
          </a:p>
        </p:txBody>
      </p:sp>
      <p:sp>
        <p:nvSpPr>
          <p:cNvPr name="Freeform 14" id="14"/>
          <p:cNvSpPr/>
          <p:nvPr/>
        </p:nvSpPr>
        <p:spPr>
          <a:xfrm flipH="false" flipV="false" rot="0">
            <a:off x="2450012" y="6882511"/>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15" id="15"/>
          <p:cNvSpPr txBox="true"/>
          <p:nvPr/>
        </p:nvSpPr>
        <p:spPr>
          <a:xfrm rot="0">
            <a:off x="4072424" y="6834886"/>
            <a:ext cx="11802218" cy="1217820"/>
          </a:xfrm>
          <a:prstGeom prst="rect">
            <a:avLst/>
          </a:prstGeom>
        </p:spPr>
        <p:txBody>
          <a:bodyPr anchor="t" rtlCol="false" tIns="0" lIns="0" bIns="0" rIns="0">
            <a:spAutoFit/>
          </a:bodyPr>
          <a:lstStyle/>
          <a:p>
            <a:pPr algn="l" marL="0" indent="0" lvl="0">
              <a:lnSpc>
                <a:spcPts val="3226"/>
              </a:lnSpc>
            </a:pPr>
            <a:r>
              <a:rPr lang="en-US" sz="2304">
                <a:solidFill>
                  <a:srgbClr val="363E52"/>
                </a:solidFill>
                <a:latin typeface="Montserrat"/>
                <a:ea typeface="Montserrat"/>
                <a:cs typeface="Montserrat"/>
                <a:sym typeface="Montserrat"/>
              </a:rPr>
              <a:t>Solutions: updated requirements.txt with pinned library versions, resolved Python version mismatches, installed and configured Git credentials, and corrected Streamlit configuration paths to ensure successful public deployment.</a:t>
            </a:r>
          </a:p>
        </p:txBody>
      </p:sp>
      <p:sp>
        <p:nvSpPr>
          <p:cNvPr name="TextBox 16" id="16"/>
          <p:cNvSpPr txBox="true"/>
          <p:nvPr/>
        </p:nvSpPr>
        <p:spPr>
          <a:xfrm rot="0">
            <a:off x="2413358" y="7136663"/>
            <a:ext cx="1284975" cy="885973"/>
          </a:xfrm>
          <a:prstGeom prst="rect">
            <a:avLst/>
          </a:prstGeom>
        </p:spPr>
        <p:txBody>
          <a:bodyPr anchor="t" rtlCol="false" tIns="0" lIns="0" bIns="0" rIns="0">
            <a:spAutoFit/>
          </a:bodyPr>
          <a:lstStyle/>
          <a:p>
            <a:pPr algn="ctr" marL="0" indent="0" lvl="0">
              <a:lnSpc>
                <a:spcPts val="6957"/>
              </a:lnSpc>
            </a:pPr>
            <a:r>
              <a:rPr lang="en-US" b="true" sz="5896">
                <a:solidFill>
                  <a:srgbClr val="FFFFFF"/>
                </a:solidFill>
                <a:latin typeface="Montserrat Semi-Bold"/>
                <a:ea typeface="Montserrat Semi-Bold"/>
                <a:cs typeface="Montserrat Semi-Bold"/>
                <a:sym typeface="Montserrat Semi-Bold"/>
              </a:rPr>
              <a:t>3</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65145" y="6351359"/>
            <a:ext cx="5333727" cy="848441"/>
          </a:xfrm>
          <a:custGeom>
            <a:avLst/>
            <a:gdLst/>
            <a:ahLst/>
            <a:cxnLst/>
            <a:rect r="r" b="b" t="t" l="l"/>
            <a:pathLst>
              <a:path h="848441" w="5333727">
                <a:moveTo>
                  <a:pt x="0" y="0"/>
                </a:moveTo>
                <a:lnTo>
                  <a:pt x="5333727" y="0"/>
                </a:lnTo>
                <a:lnTo>
                  <a:pt x="5333727" y="848440"/>
                </a:lnTo>
                <a:lnTo>
                  <a:pt x="0" y="848440"/>
                </a:lnTo>
                <a:lnTo>
                  <a:pt x="0" y="0"/>
                </a:lnTo>
                <a:close/>
              </a:path>
            </a:pathLst>
          </a:custGeom>
          <a:blipFill>
            <a:blip r:embed="rId2"/>
            <a:stretch>
              <a:fillRect l="0" t="0" r="0" b="0"/>
            </a:stretch>
          </a:blipFill>
        </p:spPr>
      </p:sp>
      <p:sp>
        <p:nvSpPr>
          <p:cNvPr name="Freeform 3" id="3"/>
          <p:cNvSpPr/>
          <p:nvPr/>
        </p:nvSpPr>
        <p:spPr>
          <a:xfrm flipH="false" flipV="false" rot="0">
            <a:off x="8465145" y="6449498"/>
            <a:ext cx="5333727" cy="848952"/>
          </a:xfrm>
          <a:custGeom>
            <a:avLst/>
            <a:gdLst/>
            <a:ahLst/>
            <a:cxnLst/>
            <a:rect r="r" b="b" t="t" l="l"/>
            <a:pathLst>
              <a:path h="848952" w="5333727">
                <a:moveTo>
                  <a:pt x="0" y="0"/>
                </a:moveTo>
                <a:lnTo>
                  <a:pt x="5333727" y="0"/>
                </a:lnTo>
                <a:lnTo>
                  <a:pt x="5333727" y="848952"/>
                </a:lnTo>
                <a:lnTo>
                  <a:pt x="0" y="848952"/>
                </a:lnTo>
                <a:lnTo>
                  <a:pt x="0" y="0"/>
                </a:lnTo>
                <a:close/>
              </a:path>
            </a:pathLst>
          </a:custGeom>
          <a:blipFill>
            <a:blip r:embed="rId3"/>
            <a:stretch>
              <a:fillRect l="0" t="0" r="0" b="0"/>
            </a:stretch>
          </a:blipFill>
        </p:spPr>
      </p:sp>
      <p:sp>
        <p:nvSpPr>
          <p:cNvPr name="Freeform 4" id="4"/>
          <p:cNvSpPr/>
          <p:nvPr/>
        </p:nvSpPr>
        <p:spPr>
          <a:xfrm flipH="false" flipV="false" rot="0">
            <a:off x="0" y="0"/>
            <a:ext cx="7278052" cy="10287000"/>
          </a:xfrm>
          <a:custGeom>
            <a:avLst/>
            <a:gdLst/>
            <a:ahLst/>
            <a:cxnLst/>
            <a:rect r="r" b="b" t="t" l="l"/>
            <a:pathLst>
              <a:path h="10287000" w="7278052">
                <a:moveTo>
                  <a:pt x="0" y="0"/>
                </a:moveTo>
                <a:lnTo>
                  <a:pt x="7278052" y="0"/>
                </a:lnTo>
                <a:lnTo>
                  <a:pt x="7278052" y="10287000"/>
                </a:lnTo>
                <a:lnTo>
                  <a:pt x="0" y="10287000"/>
                </a:lnTo>
                <a:lnTo>
                  <a:pt x="0" y="0"/>
                </a:lnTo>
                <a:close/>
              </a:path>
            </a:pathLst>
          </a:custGeom>
          <a:blipFill>
            <a:blip r:embed="rId4"/>
            <a:stretch>
              <a:fillRect l="0" t="0" r="0" b="0"/>
            </a:stretch>
          </a:blipFill>
        </p:spPr>
      </p:sp>
      <p:sp>
        <p:nvSpPr>
          <p:cNvPr name="Freeform 5" id="5"/>
          <p:cNvSpPr/>
          <p:nvPr/>
        </p:nvSpPr>
        <p:spPr>
          <a:xfrm flipH="false" flipV="false" rot="0">
            <a:off x="15660392" y="-704971"/>
            <a:ext cx="3635483" cy="3467342"/>
          </a:xfrm>
          <a:custGeom>
            <a:avLst/>
            <a:gdLst/>
            <a:ahLst/>
            <a:cxnLst/>
            <a:rect r="r" b="b" t="t" l="l"/>
            <a:pathLst>
              <a:path h="3467342" w="3635483">
                <a:moveTo>
                  <a:pt x="0" y="0"/>
                </a:moveTo>
                <a:lnTo>
                  <a:pt x="3635483" y="0"/>
                </a:lnTo>
                <a:lnTo>
                  <a:pt x="3635483" y="3467342"/>
                </a:lnTo>
                <a:lnTo>
                  <a:pt x="0" y="3467342"/>
                </a:lnTo>
                <a:lnTo>
                  <a:pt x="0" y="0"/>
                </a:lnTo>
                <a:close/>
              </a:path>
            </a:pathLst>
          </a:custGeom>
          <a:blipFill>
            <a:blip r:embed="rId5"/>
            <a:stretch>
              <a:fillRect l="0" t="0" r="0" b="0"/>
            </a:stretch>
          </a:blipFill>
        </p:spPr>
      </p:sp>
      <p:sp>
        <p:nvSpPr>
          <p:cNvPr name="TextBox 6" id="6"/>
          <p:cNvSpPr txBox="true"/>
          <p:nvPr/>
        </p:nvSpPr>
        <p:spPr>
          <a:xfrm rot="0">
            <a:off x="8330897" y="1380629"/>
            <a:ext cx="8115300" cy="1354501"/>
          </a:xfrm>
          <a:prstGeom prst="rect">
            <a:avLst/>
          </a:prstGeom>
        </p:spPr>
        <p:txBody>
          <a:bodyPr anchor="t" rtlCol="false" tIns="0" lIns="0" bIns="0" rIns="0">
            <a:spAutoFit/>
          </a:bodyPr>
          <a:lstStyle/>
          <a:p>
            <a:pPr algn="l" marL="0" indent="0" lvl="0">
              <a:lnSpc>
                <a:spcPts val="5331"/>
              </a:lnSpc>
            </a:pPr>
            <a:r>
              <a:rPr lang="en-US" b="true" sz="4518">
                <a:solidFill>
                  <a:srgbClr val="363E52"/>
                </a:solidFill>
                <a:latin typeface="Montserrat Semi-Bold"/>
                <a:ea typeface="Montserrat Semi-Bold"/>
                <a:cs typeface="Montserrat Semi-Bold"/>
                <a:sym typeface="Montserrat Semi-Bold"/>
              </a:rPr>
              <a:t>Final Deployment Outcome</a:t>
            </a:r>
          </a:p>
        </p:txBody>
      </p:sp>
      <p:sp>
        <p:nvSpPr>
          <p:cNvPr name="TextBox 7" id="7"/>
          <p:cNvSpPr txBox="true"/>
          <p:nvPr/>
        </p:nvSpPr>
        <p:spPr>
          <a:xfrm rot="0">
            <a:off x="9048883" y="3889319"/>
            <a:ext cx="7537864" cy="1712452"/>
          </a:xfrm>
          <a:prstGeom prst="rect">
            <a:avLst/>
          </a:prstGeom>
        </p:spPr>
        <p:txBody>
          <a:bodyPr anchor="t" rtlCol="false" tIns="0" lIns="0" bIns="0" rIns="0">
            <a:spAutoFit/>
          </a:bodyPr>
          <a:lstStyle/>
          <a:p>
            <a:pPr algn="l" marL="0" indent="0" lvl="0">
              <a:lnSpc>
                <a:spcPts val="2737"/>
              </a:lnSpc>
            </a:pPr>
            <a:r>
              <a:rPr lang="en-US" sz="1955">
                <a:solidFill>
                  <a:srgbClr val="363E52"/>
                </a:solidFill>
                <a:latin typeface="Montserrat"/>
                <a:ea typeface="Montserrat"/>
                <a:cs typeface="Montserrat"/>
                <a:sym typeface="Montserrat"/>
              </a:rPr>
              <a:t>The Alzheimer's prediction app was successfully deployed and is publicly accessible via Streamlit Community Cloud. The application is fully operational, allowing real-time classification of Alzheimer's vs. control samples based on RNA-Seq gene expression input.</a:t>
            </a:r>
          </a:p>
        </p:txBody>
      </p:sp>
      <p:sp>
        <p:nvSpPr>
          <p:cNvPr name="TextBox 8" id="8"/>
          <p:cNvSpPr txBox="true"/>
          <p:nvPr/>
        </p:nvSpPr>
        <p:spPr>
          <a:xfrm rot="0">
            <a:off x="8465145" y="3171709"/>
            <a:ext cx="5333727" cy="384924"/>
          </a:xfrm>
          <a:prstGeom prst="rect">
            <a:avLst/>
          </a:prstGeom>
        </p:spPr>
        <p:txBody>
          <a:bodyPr anchor="t" rtlCol="false" tIns="0" lIns="0" bIns="0" rIns="0">
            <a:spAutoFit/>
          </a:bodyPr>
          <a:lstStyle/>
          <a:p>
            <a:pPr algn="ctr" marL="0" indent="0" lvl="0">
              <a:lnSpc>
                <a:spcPts val="3102"/>
              </a:lnSpc>
            </a:pPr>
            <a:r>
              <a:rPr lang="en-US" b="true" sz="2215">
                <a:solidFill>
                  <a:srgbClr val="363E52"/>
                </a:solidFill>
                <a:latin typeface="Montserrat Bold"/>
                <a:ea typeface="Montserrat Bold"/>
                <a:cs typeface="Montserrat Bold"/>
                <a:sym typeface="Montserrat Bold"/>
              </a:rPr>
              <a:t>DEPLOYMENT SUCCESS</a:t>
            </a:r>
          </a:p>
        </p:txBody>
      </p:sp>
      <p:sp>
        <p:nvSpPr>
          <p:cNvPr name="TextBox 9" id="9"/>
          <p:cNvSpPr txBox="true"/>
          <p:nvPr/>
        </p:nvSpPr>
        <p:spPr>
          <a:xfrm rot="0">
            <a:off x="9048883" y="7250825"/>
            <a:ext cx="7537864" cy="1712452"/>
          </a:xfrm>
          <a:prstGeom prst="rect">
            <a:avLst/>
          </a:prstGeom>
        </p:spPr>
        <p:txBody>
          <a:bodyPr anchor="t" rtlCol="false" tIns="0" lIns="0" bIns="0" rIns="0">
            <a:spAutoFit/>
          </a:bodyPr>
          <a:lstStyle/>
          <a:p>
            <a:pPr algn="l" marL="0" indent="0" lvl="0">
              <a:lnSpc>
                <a:spcPts val="2737"/>
              </a:lnSpc>
            </a:pPr>
            <a:r>
              <a:rPr lang="en-US" sz="1955">
                <a:solidFill>
                  <a:srgbClr val="363E52"/>
                </a:solidFill>
                <a:latin typeface="Montserrat"/>
                <a:ea typeface="Montserrat"/>
                <a:cs typeface="Montserrat"/>
                <a:sym typeface="Montserrat"/>
              </a:rPr>
              <a:t>Users can input gene expression values and receive instant AD predictions through an interactive browser interface. Key advantages include easy deployment, free hosting, seamless GitHub integration, and no local installation required — making the tool accessible for research and educational use.</a:t>
            </a:r>
          </a:p>
        </p:txBody>
      </p:sp>
      <p:sp>
        <p:nvSpPr>
          <p:cNvPr name="TextBox 10" id="10"/>
          <p:cNvSpPr txBox="true"/>
          <p:nvPr/>
        </p:nvSpPr>
        <p:spPr>
          <a:xfrm rot="0">
            <a:off x="8465145" y="6533214"/>
            <a:ext cx="5333727" cy="384924"/>
          </a:xfrm>
          <a:prstGeom prst="rect">
            <a:avLst/>
          </a:prstGeom>
        </p:spPr>
        <p:txBody>
          <a:bodyPr anchor="t" rtlCol="false" tIns="0" lIns="0" bIns="0" rIns="0">
            <a:spAutoFit/>
          </a:bodyPr>
          <a:lstStyle/>
          <a:p>
            <a:pPr algn="ctr" marL="0" indent="0" lvl="0">
              <a:lnSpc>
                <a:spcPts val="3102"/>
              </a:lnSpc>
            </a:pPr>
            <a:r>
              <a:rPr lang="en-US" b="true" sz="2215">
                <a:solidFill>
                  <a:srgbClr val="363E52"/>
                </a:solidFill>
                <a:latin typeface="Montserrat Bold"/>
                <a:ea typeface="Montserrat Bold"/>
                <a:cs typeface="Montserrat Bold"/>
                <a:sym typeface="Montserrat Bold"/>
              </a:rPr>
              <a:t>USER CAPABILITIES &amp; ADVANTAGES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278052" cy="10287000"/>
          </a:xfrm>
          <a:custGeom>
            <a:avLst/>
            <a:gdLst/>
            <a:ahLst/>
            <a:cxnLst/>
            <a:rect r="r" b="b" t="t" l="l"/>
            <a:pathLst>
              <a:path h="10287000" w="7278052">
                <a:moveTo>
                  <a:pt x="0" y="0"/>
                </a:moveTo>
                <a:lnTo>
                  <a:pt x="7278052" y="0"/>
                </a:lnTo>
                <a:lnTo>
                  <a:pt x="7278052"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660392" y="-704971"/>
            <a:ext cx="3635483" cy="3467342"/>
          </a:xfrm>
          <a:custGeom>
            <a:avLst/>
            <a:gdLst/>
            <a:ahLst/>
            <a:cxnLst/>
            <a:rect r="r" b="b" t="t" l="l"/>
            <a:pathLst>
              <a:path h="3467342" w="3635483">
                <a:moveTo>
                  <a:pt x="0" y="0"/>
                </a:moveTo>
                <a:lnTo>
                  <a:pt x="3635483" y="0"/>
                </a:lnTo>
                <a:lnTo>
                  <a:pt x="3635483" y="3467342"/>
                </a:lnTo>
                <a:lnTo>
                  <a:pt x="0" y="3467342"/>
                </a:lnTo>
                <a:lnTo>
                  <a:pt x="0" y="0"/>
                </a:lnTo>
                <a:close/>
              </a:path>
            </a:pathLst>
          </a:custGeom>
          <a:blipFill>
            <a:blip r:embed="rId3"/>
            <a:stretch>
              <a:fillRect l="0" t="0" r="0" b="0"/>
            </a:stretch>
          </a:blipFill>
        </p:spPr>
      </p:sp>
      <p:sp>
        <p:nvSpPr>
          <p:cNvPr name="Freeform 4" id="4"/>
          <p:cNvSpPr/>
          <p:nvPr/>
        </p:nvSpPr>
        <p:spPr>
          <a:xfrm flipH="false" flipV="false" rot="0">
            <a:off x="688413" y="1563902"/>
            <a:ext cx="10142460" cy="6337447"/>
          </a:xfrm>
          <a:custGeom>
            <a:avLst/>
            <a:gdLst/>
            <a:ahLst/>
            <a:cxnLst/>
            <a:rect r="r" b="b" t="t" l="l"/>
            <a:pathLst>
              <a:path h="6337447" w="10142460">
                <a:moveTo>
                  <a:pt x="0" y="0"/>
                </a:moveTo>
                <a:lnTo>
                  <a:pt x="10142460" y="0"/>
                </a:lnTo>
                <a:lnTo>
                  <a:pt x="10142460" y="6337446"/>
                </a:lnTo>
                <a:lnTo>
                  <a:pt x="0" y="6337446"/>
                </a:lnTo>
                <a:lnTo>
                  <a:pt x="0" y="0"/>
                </a:lnTo>
                <a:close/>
              </a:path>
            </a:pathLst>
          </a:custGeom>
          <a:blipFill>
            <a:blip r:embed="rId4"/>
            <a:stretch>
              <a:fillRect l="0" t="0" r="0" b="0"/>
            </a:stretch>
          </a:blipFill>
        </p:spPr>
      </p:sp>
      <p:sp>
        <p:nvSpPr>
          <p:cNvPr name="TextBox 5" id="5"/>
          <p:cNvSpPr txBox="true"/>
          <p:nvPr/>
        </p:nvSpPr>
        <p:spPr>
          <a:xfrm rot="0">
            <a:off x="4146999" y="670518"/>
            <a:ext cx="8670815" cy="678226"/>
          </a:xfrm>
          <a:prstGeom prst="rect">
            <a:avLst/>
          </a:prstGeom>
        </p:spPr>
        <p:txBody>
          <a:bodyPr anchor="t" rtlCol="false" tIns="0" lIns="0" bIns="0" rIns="0">
            <a:spAutoFit/>
          </a:bodyPr>
          <a:lstStyle/>
          <a:p>
            <a:pPr algn="l" marL="0" indent="0" lvl="0">
              <a:lnSpc>
                <a:spcPts val="5331"/>
              </a:lnSpc>
            </a:pPr>
            <a:r>
              <a:rPr lang="en-US" b="true" sz="4518">
                <a:solidFill>
                  <a:srgbClr val="363E52"/>
                </a:solidFill>
                <a:latin typeface="Montserrat Semi-Bold"/>
                <a:ea typeface="Montserrat Semi-Bold"/>
                <a:cs typeface="Montserrat Semi-Bold"/>
                <a:sym typeface="Montserrat Semi-Bold"/>
              </a:rPr>
              <a:t>Final Deployment Outcome</a:t>
            </a:r>
          </a:p>
        </p:txBody>
      </p:sp>
      <p:sp>
        <p:nvSpPr>
          <p:cNvPr name="TextBox 6" id="6"/>
          <p:cNvSpPr txBox="true"/>
          <p:nvPr/>
        </p:nvSpPr>
        <p:spPr>
          <a:xfrm rot="0">
            <a:off x="11118756" y="2771896"/>
            <a:ext cx="6647261" cy="3226616"/>
          </a:xfrm>
          <a:prstGeom prst="rect">
            <a:avLst/>
          </a:prstGeom>
        </p:spPr>
        <p:txBody>
          <a:bodyPr anchor="t" rtlCol="false" tIns="0" lIns="0" bIns="0" rIns="0">
            <a:spAutoFit/>
          </a:bodyPr>
          <a:lstStyle/>
          <a:p>
            <a:pPr algn="ctr">
              <a:lnSpc>
                <a:spcPts val="2849"/>
              </a:lnSpc>
              <a:spcBef>
                <a:spcPct val="0"/>
              </a:spcBef>
            </a:pPr>
            <a:r>
              <a:rPr lang="en-US" b="true" sz="2414">
                <a:solidFill>
                  <a:srgbClr val="363E52"/>
                </a:solidFill>
                <a:latin typeface="Montserrat Semi-Bold"/>
                <a:ea typeface="Montserrat Semi-Bold"/>
                <a:cs typeface="Montserrat Semi-Bold"/>
                <a:sym typeface="Montserrat Semi-Bold"/>
              </a:rPr>
              <a:t>After resolving all dependency and configuration issues, the application was successfully deployed and became publicly accessible through a Streamlit web link. Users can interact with the system through a browser interface, input patient data, and receive Alzheimer disease predictions generated by the trained machine learning model.</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737478" y="-8571423"/>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9275291">
            <a:off x="14294035" y="750072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2"/>
            <a:stretch>
              <a:fillRect l="0" t="0" r="0" b="0"/>
            </a:stretch>
          </a:blipFill>
        </p:spPr>
      </p:sp>
      <p:sp>
        <p:nvSpPr>
          <p:cNvPr name="Freeform 6" id="6"/>
          <p:cNvSpPr/>
          <p:nvPr/>
        </p:nvSpPr>
        <p:spPr>
          <a:xfrm flipH="true" flipV="false" rot="-9144663">
            <a:off x="-1936565" y="7454662"/>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2"/>
            <a:stretch>
              <a:fillRect l="0" t="0" r="0" b="0"/>
            </a:stretch>
          </a:blipFill>
        </p:spPr>
      </p:sp>
      <p:sp>
        <p:nvSpPr>
          <p:cNvPr name="TextBox 7" id="7"/>
          <p:cNvSpPr txBox="true"/>
          <p:nvPr/>
        </p:nvSpPr>
        <p:spPr>
          <a:xfrm rot="0">
            <a:off x="2687391" y="1206761"/>
            <a:ext cx="12913218" cy="1346819"/>
          </a:xfrm>
          <a:prstGeom prst="rect">
            <a:avLst/>
          </a:prstGeom>
        </p:spPr>
        <p:txBody>
          <a:bodyPr anchor="t" rtlCol="false" tIns="0" lIns="0" bIns="0" rIns="0">
            <a:spAutoFit/>
          </a:bodyPr>
          <a:lstStyle/>
          <a:p>
            <a:pPr algn="ctr" marL="0" indent="0" lvl="0">
              <a:lnSpc>
                <a:spcPts val="10612"/>
              </a:lnSpc>
            </a:pPr>
            <a:r>
              <a:rPr lang="en-US" b="true" sz="8993">
                <a:solidFill>
                  <a:srgbClr val="363E52"/>
                </a:solidFill>
                <a:latin typeface="Montserrat Semi-Bold"/>
                <a:ea typeface="Montserrat Semi-Bold"/>
                <a:cs typeface="Montserrat Semi-Bold"/>
                <a:sym typeface="Montserrat Semi-Bold"/>
              </a:rPr>
              <a:t>Conclusion</a:t>
            </a:r>
          </a:p>
        </p:txBody>
      </p:sp>
      <p:sp>
        <p:nvSpPr>
          <p:cNvPr name="Freeform 8" id="8"/>
          <p:cNvSpPr/>
          <p:nvPr/>
        </p:nvSpPr>
        <p:spPr>
          <a:xfrm flipH="false" flipV="false" rot="0">
            <a:off x="2450012" y="3301084"/>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9" id="9"/>
          <p:cNvSpPr txBox="true"/>
          <p:nvPr/>
        </p:nvSpPr>
        <p:spPr>
          <a:xfrm rot="0">
            <a:off x="4072424" y="3253459"/>
            <a:ext cx="11802218" cy="1270977"/>
          </a:xfrm>
          <a:prstGeom prst="rect">
            <a:avLst/>
          </a:prstGeom>
        </p:spPr>
        <p:txBody>
          <a:bodyPr anchor="t" rtlCol="false" tIns="0" lIns="0" bIns="0" rIns="0">
            <a:spAutoFit/>
          </a:bodyPr>
          <a:lstStyle/>
          <a:p>
            <a:pPr algn="l" marL="0" indent="0" lvl="0">
              <a:lnSpc>
                <a:spcPts val="3446"/>
              </a:lnSpc>
            </a:pPr>
            <a:r>
              <a:rPr lang="en-US" sz="2461">
                <a:solidFill>
                  <a:srgbClr val="363E52"/>
                </a:solidFill>
                <a:latin typeface="Montserrat"/>
                <a:ea typeface="Montserrat"/>
                <a:cs typeface="Montserrat"/>
                <a:sym typeface="Montserrat"/>
              </a:rPr>
              <a:t>Successfully predicted Alzheimer's Disease using RNA-Seq gene expression data and a complete machine learning workflow — from preprocessing and EDA through feature selection, modeling, and evaluation.</a:t>
            </a:r>
          </a:p>
        </p:txBody>
      </p:sp>
      <p:sp>
        <p:nvSpPr>
          <p:cNvPr name="TextBox 10" id="10"/>
          <p:cNvSpPr txBox="true"/>
          <p:nvPr/>
        </p:nvSpPr>
        <p:spPr>
          <a:xfrm rot="0">
            <a:off x="2413358" y="3555236"/>
            <a:ext cx="1284975" cy="885973"/>
          </a:xfrm>
          <a:prstGeom prst="rect">
            <a:avLst/>
          </a:prstGeom>
        </p:spPr>
        <p:txBody>
          <a:bodyPr anchor="t" rtlCol="false" tIns="0" lIns="0" bIns="0" rIns="0">
            <a:spAutoFit/>
          </a:bodyPr>
          <a:lstStyle/>
          <a:p>
            <a:pPr algn="ctr" marL="0" indent="0" lvl="0">
              <a:lnSpc>
                <a:spcPts val="6957"/>
              </a:lnSpc>
            </a:pPr>
            <a:r>
              <a:rPr lang="en-US" b="true" sz="5896">
                <a:solidFill>
                  <a:srgbClr val="FFFFFF"/>
                </a:solidFill>
                <a:latin typeface="Montserrat Semi-Bold"/>
                <a:ea typeface="Montserrat Semi-Bold"/>
                <a:cs typeface="Montserrat Semi-Bold"/>
                <a:sym typeface="Montserrat Semi-Bold"/>
              </a:rPr>
              <a:t>?</a:t>
            </a:r>
          </a:p>
        </p:txBody>
      </p:sp>
      <p:sp>
        <p:nvSpPr>
          <p:cNvPr name="Freeform 11" id="11"/>
          <p:cNvSpPr/>
          <p:nvPr/>
        </p:nvSpPr>
        <p:spPr>
          <a:xfrm flipH="false" flipV="false" rot="0">
            <a:off x="2450012" y="5091797"/>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12" id="12"/>
          <p:cNvSpPr txBox="true"/>
          <p:nvPr/>
        </p:nvSpPr>
        <p:spPr>
          <a:xfrm rot="0">
            <a:off x="4072424" y="5044172"/>
            <a:ext cx="11802218" cy="1270977"/>
          </a:xfrm>
          <a:prstGeom prst="rect">
            <a:avLst/>
          </a:prstGeom>
        </p:spPr>
        <p:txBody>
          <a:bodyPr anchor="t" rtlCol="false" tIns="0" lIns="0" bIns="0" rIns="0">
            <a:spAutoFit/>
          </a:bodyPr>
          <a:lstStyle/>
          <a:p>
            <a:pPr algn="l" marL="0" indent="0" lvl="0">
              <a:lnSpc>
                <a:spcPts val="3446"/>
              </a:lnSpc>
            </a:pPr>
            <a:r>
              <a:rPr lang="en-US" sz="2461">
                <a:solidFill>
                  <a:srgbClr val="363E52"/>
                </a:solidFill>
                <a:latin typeface="Montserrat"/>
                <a:ea typeface="Montserrat"/>
                <a:cs typeface="Montserrat"/>
                <a:sym typeface="Montserrat"/>
              </a:rPr>
              <a:t>Dimensionality reduction (from 27,136 to 25,379 features) and SelectKBest feature selection proved highly effective in managing high-dimensional data, reducing noise, and improving model interpretability.</a:t>
            </a:r>
          </a:p>
        </p:txBody>
      </p:sp>
      <p:sp>
        <p:nvSpPr>
          <p:cNvPr name="TextBox 13" id="13"/>
          <p:cNvSpPr txBox="true"/>
          <p:nvPr/>
        </p:nvSpPr>
        <p:spPr>
          <a:xfrm rot="0">
            <a:off x="2413358" y="5345949"/>
            <a:ext cx="1284975" cy="885973"/>
          </a:xfrm>
          <a:prstGeom prst="rect">
            <a:avLst/>
          </a:prstGeom>
        </p:spPr>
        <p:txBody>
          <a:bodyPr anchor="t" rtlCol="false" tIns="0" lIns="0" bIns="0" rIns="0">
            <a:spAutoFit/>
          </a:bodyPr>
          <a:lstStyle/>
          <a:p>
            <a:pPr algn="ctr" marL="0" indent="0" lvl="0">
              <a:lnSpc>
                <a:spcPts val="6957"/>
              </a:lnSpc>
            </a:pPr>
            <a:r>
              <a:rPr lang="en-US" b="true" sz="5896">
                <a:solidFill>
                  <a:srgbClr val="FFFFFF"/>
                </a:solidFill>
                <a:latin typeface="Montserrat Semi-Bold"/>
                <a:ea typeface="Montserrat Semi-Bold"/>
                <a:cs typeface="Montserrat Semi-Bold"/>
                <a:sym typeface="Montserrat Semi-Bold"/>
              </a:rPr>
              <a:t>?</a:t>
            </a:r>
          </a:p>
        </p:txBody>
      </p:sp>
      <p:sp>
        <p:nvSpPr>
          <p:cNvPr name="Freeform 14" id="14"/>
          <p:cNvSpPr/>
          <p:nvPr/>
        </p:nvSpPr>
        <p:spPr>
          <a:xfrm flipH="false" flipV="false" rot="0">
            <a:off x="2450012" y="6882511"/>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15" id="15"/>
          <p:cNvSpPr txBox="true"/>
          <p:nvPr/>
        </p:nvSpPr>
        <p:spPr>
          <a:xfrm rot="0">
            <a:off x="4072424" y="6834886"/>
            <a:ext cx="11802218" cy="1270977"/>
          </a:xfrm>
          <a:prstGeom prst="rect">
            <a:avLst/>
          </a:prstGeom>
        </p:spPr>
        <p:txBody>
          <a:bodyPr anchor="t" rtlCol="false" tIns="0" lIns="0" bIns="0" rIns="0">
            <a:spAutoFit/>
          </a:bodyPr>
          <a:lstStyle/>
          <a:p>
            <a:pPr algn="l" marL="0" indent="0" lvl="0">
              <a:lnSpc>
                <a:spcPts val="3446"/>
              </a:lnSpc>
            </a:pPr>
            <a:r>
              <a:rPr lang="en-US" sz="2461">
                <a:solidFill>
                  <a:srgbClr val="363E52"/>
                </a:solidFill>
                <a:latin typeface="Montserrat"/>
                <a:ea typeface="Montserrat"/>
                <a:cs typeface="Montserrat"/>
                <a:sym typeface="Montserrat"/>
              </a:rPr>
              <a:t>Random Forest emerged as the best-performing classifier with perfect metrics (Accuracy, Precision, Recall, F1 = 1.00), and the final model was successfully deployed as a publicly accessible web application via Streamlit.</a:t>
            </a:r>
          </a:p>
        </p:txBody>
      </p:sp>
      <p:sp>
        <p:nvSpPr>
          <p:cNvPr name="TextBox 16" id="16"/>
          <p:cNvSpPr txBox="true"/>
          <p:nvPr/>
        </p:nvSpPr>
        <p:spPr>
          <a:xfrm rot="0">
            <a:off x="2413358" y="7136663"/>
            <a:ext cx="1284975" cy="885973"/>
          </a:xfrm>
          <a:prstGeom prst="rect">
            <a:avLst/>
          </a:prstGeom>
        </p:spPr>
        <p:txBody>
          <a:bodyPr anchor="t" rtlCol="false" tIns="0" lIns="0" bIns="0" rIns="0">
            <a:spAutoFit/>
          </a:bodyPr>
          <a:lstStyle/>
          <a:p>
            <a:pPr algn="ctr" marL="0" indent="0" lvl="0">
              <a:lnSpc>
                <a:spcPts val="6957"/>
              </a:lnSpc>
            </a:pPr>
            <a:r>
              <a:rPr lang="en-US" b="true" sz="5896">
                <a:solidFill>
                  <a:srgbClr val="FFFFFF"/>
                </a:solidFill>
                <a:latin typeface="Montserrat Semi-Bold"/>
                <a:ea typeface="Montserrat Semi-Bold"/>
                <a:cs typeface="Montserrat Semi-Bold"/>
                <a:sym typeface="Montserrat Semi-Bold"/>
              </a:rPr>
              <a:t>?</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737478" y="-8571423"/>
            <a:ext cx="10813045" cy="20094822"/>
            <a:chOff x="0" y="0"/>
            <a:chExt cx="2224906" cy="4134737"/>
          </a:xfrm>
        </p:grpSpPr>
        <p:sp>
          <p:nvSpPr>
            <p:cNvPr name="Freeform 3" id="3"/>
            <p:cNvSpPr/>
            <p:nvPr/>
          </p:nvSpPr>
          <p:spPr>
            <a:xfrm flipH="false" flipV="false" rot="0">
              <a:off x="0" y="0"/>
              <a:ext cx="2224906" cy="4134737"/>
            </a:xfrm>
            <a:custGeom>
              <a:avLst/>
              <a:gdLst/>
              <a:ahLst/>
              <a:cxnLst/>
              <a:rect r="r" b="b" t="t" l="l"/>
              <a:pathLst>
                <a:path h="4134737" w="2224906">
                  <a:moveTo>
                    <a:pt x="13984" y="0"/>
                  </a:moveTo>
                  <a:lnTo>
                    <a:pt x="2210922" y="0"/>
                  </a:lnTo>
                  <a:cubicBezTo>
                    <a:pt x="2214631" y="0"/>
                    <a:pt x="2218188" y="1473"/>
                    <a:pt x="2220811" y="4096"/>
                  </a:cubicBezTo>
                  <a:cubicBezTo>
                    <a:pt x="2223433" y="6718"/>
                    <a:pt x="2224906" y="10275"/>
                    <a:pt x="2224906" y="13984"/>
                  </a:cubicBezTo>
                  <a:lnTo>
                    <a:pt x="2224906" y="4120753"/>
                  </a:lnTo>
                  <a:cubicBezTo>
                    <a:pt x="2224906" y="4124462"/>
                    <a:pt x="2223433" y="4128019"/>
                    <a:pt x="2220811" y="4130641"/>
                  </a:cubicBezTo>
                  <a:cubicBezTo>
                    <a:pt x="2218188" y="4133264"/>
                    <a:pt x="2214631" y="4134737"/>
                    <a:pt x="2210922" y="4134737"/>
                  </a:cubicBezTo>
                  <a:lnTo>
                    <a:pt x="13984" y="4134737"/>
                  </a:lnTo>
                  <a:cubicBezTo>
                    <a:pt x="10275" y="4134737"/>
                    <a:pt x="6718" y="4133264"/>
                    <a:pt x="4096" y="4130641"/>
                  </a:cubicBezTo>
                  <a:cubicBezTo>
                    <a:pt x="1473" y="4128019"/>
                    <a:pt x="0" y="4124462"/>
                    <a:pt x="0" y="4120753"/>
                  </a:cubicBezTo>
                  <a:lnTo>
                    <a:pt x="0" y="13984"/>
                  </a:lnTo>
                  <a:cubicBezTo>
                    <a:pt x="0" y="10275"/>
                    <a:pt x="1473" y="6718"/>
                    <a:pt x="4096" y="4096"/>
                  </a:cubicBezTo>
                  <a:cubicBezTo>
                    <a:pt x="6718" y="1473"/>
                    <a:pt x="10275" y="0"/>
                    <a:pt x="13984"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4" id="4"/>
            <p:cNvSpPr txBox="true"/>
            <p:nvPr/>
          </p:nvSpPr>
          <p:spPr>
            <a:xfrm>
              <a:off x="0" y="-38100"/>
              <a:ext cx="2224906" cy="4172837"/>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9275291">
            <a:off x="14294035" y="7500720"/>
            <a:ext cx="5932006" cy="3054983"/>
          </a:xfrm>
          <a:custGeom>
            <a:avLst/>
            <a:gdLst/>
            <a:ahLst/>
            <a:cxnLst/>
            <a:rect r="r" b="b" t="t" l="l"/>
            <a:pathLst>
              <a:path h="3054983" w="5932006">
                <a:moveTo>
                  <a:pt x="0" y="0"/>
                </a:moveTo>
                <a:lnTo>
                  <a:pt x="5932006" y="0"/>
                </a:lnTo>
                <a:lnTo>
                  <a:pt x="5932006" y="3054983"/>
                </a:lnTo>
                <a:lnTo>
                  <a:pt x="0" y="3054983"/>
                </a:lnTo>
                <a:lnTo>
                  <a:pt x="0" y="0"/>
                </a:lnTo>
                <a:close/>
              </a:path>
            </a:pathLst>
          </a:custGeom>
          <a:blipFill>
            <a:blip r:embed="rId2"/>
            <a:stretch>
              <a:fillRect l="0" t="0" r="0" b="0"/>
            </a:stretch>
          </a:blipFill>
        </p:spPr>
      </p:sp>
      <p:sp>
        <p:nvSpPr>
          <p:cNvPr name="Freeform 6" id="6"/>
          <p:cNvSpPr/>
          <p:nvPr/>
        </p:nvSpPr>
        <p:spPr>
          <a:xfrm flipH="true" flipV="false" rot="-9144663">
            <a:off x="-1936565" y="7454662"/>
            <a:ext cx="5932006" cy="3054983"/>
          </a:xfrm>
          <a:custGeom>
            <a:avLst/>
            <a:gdLst/>
            <a:ahLst/>
            <a:cxnLst/>
            <a:rect r="r" b="b" t="t" l="l"/>
            <a:pathLst>
              <a:path h="3054983" w="5932006">
                <a:moveTo>
                  <a:pt x="5932006" y="0"/>
                </a:moveTo>
                <a:lnTo>
                  <a:pt x="0" y="0"/>
                </a:lnTo>
                <a:lnTo>
                  <a:pt x="0" y="3054983"/>
                </a:lnTo>
                <a:lnTo>
                  <a:pt x="5932006" y="3054983"/>
                </a:lnTo>
                <a:lnTo>
                  <a:pt x="5932006" y="0"/>
                </a:lnTo>
                <a:close/>
              </a:path>
            </a:pathLst>
          </a:custGeom>
          <a:blipFill>
            <a:blip r:embed="rId2"/>
            <a:stretch>
              <a:fillRect l="0" t="0" r="0" b="0"/>
            </a:stretch>
          </a:blipFill>
        </p:spPr>
      </p:sp>
      <p:sp>
        <p:nvSpPr>
          <p:cNvPr name="TextBox 7" id="7"/>
          <p:cNvSpPr txBox="true"/>
          <p:nvPr/>
        </p:nvSpPr>
        <p:spPr>
          <a:xfrm rot="0">
            <a:off x="2687391" y="1206761"/>
            <a:ext cx="12913218" cy="1346819"/>
          </a:xfrm>
          <a:prstGeom prst="rect">
            <a:avLst/>
          </a:prstGeom>
        </p:spPr>
        <p:txBody>
          <a:bodyPr anchor="t" rtlCol="false" tIns="0" lIns="0" bIns="0" rIns="0">
            <a:spAutoFit/>
          </a:bodyPr>
          <a:lstStyle/>
          <a:p>
            <a:pPr algn="ctr" marL="0" indent="0" lvl="0">
              <a:lnSpc>
                <a:spcPts val="10612"/>
              </a:lnSpc>
            </a:pPr>
            <a:r>
              <a:rPr lang="en-US" b="true" sz="8993">
                <a:solidFill>
                  <a:srgbClr val="363E52"/>
                </a:solidFill>
                <a:latin typeface="Montserrat Semi-Bold"/>
                <a:ea typeface="Montserrat Semi-Bold"/>
                <a:cs typeface="Montserrat Semi-Bold"/>
                <a:sym typeface="Montserrat Semi-Bold"/>
              </a:rPr>
              <a:t>Future Work</a:t>
            </a:r>
          </a:p>
        </p:txBody>
      </p:sp>
      <p:sp>
        <p:nvSpPr>
          <p:cNvPr name="Freeform 8" id="8"/>
          <p:cNvSpPr/>
          <p:nvPr/>
        </p:nvSpPr>
        <p:spPr>
          <a:xfrm flipH="false" flipV="false" rot="0">
            <a:off x="2450012" y="3301084"/>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9" id="9"/>
          <p:cNvSpPr txBox="true"/>
          <p:nvPr/>
        </p:nvSpPr>
        <p:spPr>
          <a:xfrm rot="0">
            <a:off x="4072424" y="3262984"/>
            <a:ext cx="11802218" cy="1234208"/>
          </a:xfrm>
          <a:prstGeom prst="rect">
            <a:avLst/>
          </a:prstGeom>
        </p:spPr>
        <p:txBody>
          <a:bodyPr anchor="t" rtlCol="false" tIns="0" lIns="0" bIns="0" rIns="0">
            <a:spAutoFit/>
          </a:bodyPr>
          <a:lstStyle/>
          <a:p>
            <a:pPr algn="l" marL="0" indent="0" lvl="0">
              <a:lnSpc>
                <a:spcPts val="3372"/>
              </a:lnSpc>
            </a:pPr>
            <a:r>
              <a:rPr lang="en-US" sz="2409">
                <a:solidFill>
                  <a:srgbClr val="363E52"/>
                </a:solidFill>
                <a:latin typeface="Montserrat"/>
                <a:ea typeface="Montserrat"/>
                <a:cs typeface="Montserrat"/>
                <a:sym typeface="Montserrat"/>
              </a:rPr>
              <a:t>Use larger, more diverse RNA-Seq datasets to improve model generalizability. Apply deep learning methods such as CNNs or autoencoders to capture complex gene expression patterns beyond traditional ML approaches.</a:t>
            </a:r>
          </a:p>
        </p:txBody>
      </p:sp>
      <p:sp>
        <p:nvSpPr>
          <p:cNvPr name="TextBox 10" id="10"/>
          <p:cNvSpPr txBox="true"/>
          <p:nvPr/>
        </p:nvSpPr>
        <p:spPr>
          <a:xfrm rot="0">
            <a:off x="2413358" y="3555236"/>
            <a:ext cx="1284975" cy="885973"/>
          </a:xfrm>
          <a:prstGeom prst="rect">
            <a:avLst/>
          </a:prstGeom>
        </p:spPr>
        <p:txBody>
          <a:bodyPr anchor="t" rtlCol="false" tIns="0" lIns="0" bIns="0" rIns="0">
            <a:spAutoFit/>
          </a:bodyPr>
          <a:lstStyle/>
          <a:p>
            <a:pPr algn="ctr" marL="0" indent="0" lvl="0">
              <a:lnSpc>
                <a:spcPts val="6957"/>
              </a:lnSpc>
            </a:pPr>
            <a:r>
              <a:rPr lang="en-US" b="true" sz="5896">
                <a:solidFill>
                  <a:srgbClr val="FFFFFF"/>
                </a:solidFill>
                <a:latin typeface="Montserrat Semi-Bold"/>
                <a:ea typeface="Montserrat Semi-Bold"/>
                <a:cs typeface="Montserrat Semi-Bold"/>
                <a:sym typeface="Montserrat Semi-Bold"/>
              </a:rPr>
              <a:t>1</a:t>
            </a:r>
          </a:p>
        </p:txBody>
      </p:sp>
      <p:sp>
        <p:nvSpPr>
          <p:cNvPr name="Freeform 11" id="11"/>
          <p:cNvSpPr/>
          <p:nvPr/>
        </p:nvSpPr>
        <p:spPr>
          <a:xfrm flipH="false" flipV="false" rot="0">
            <a:off x="2450012" y="5091797"/>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12" id="12"/>
          <p:cNvSpPr txBox="true"/>
          <p:nvPr/>
        </p:nvSpPr>
        <p:spPr>
          <a:xfrm rot="0">
            <a:off x="4072424" y="5053697"/>
            <a:ext cx="11802218" cy="1234208"/>
          </a:xfrm>
          <a:prstGeom prst="rect">
            <a:avLst/>
          </a:prstGeom>
        </p:spPr>
        <p:txBody>
          <a:bodyPr anchor="t" rtlCol="false" tIns="0" lIns="0" bIns="0" rIns="0">
            <a:spAutoFit/>
          </a:bodyPr>
          <a:lstStyle/>
          <a:p>
            <a:pPr algn="l" marL="0" indent="0" lvl="0">
              <a:lnSpc>
                <a:spcPts val="3372"/>
              </a:lnSpc>
            </a:pPr>
            <a:r>
              <a:rPr lang="en-US" sz="2409">
                <a:solidFill>
                  <a:srgbClr val="363E52"/>
                </a:solidFill>
                <a:latin typeface="Montserrat"/>
                <a:ea typeface="Montserrat"/>
                <a:cs typeface="Montserrat"/>
                <a:sym typeface="Montserrat"/>
              </a:rPr>
              <a:t>Validate the model on external, independent datasets to confirm robustness. Integrate multi-omics data — including proteomics and epigenomics — alongside RNA-Seq to enrich biological signal and prediction accuracy.</a:t>
            </a:r>
          </a:p>
        </p:txBody>
      </p:sp>
      <p:sp>
        <p:nvSpPr>
          <p:cNvPr name="TextBox 13" id="13"/>
          <p:cNvSpPr txBox="true"/>
          <p:nvPr/>
        </p:nvSpPr>
        <p:spPr>
          <a:xfrm rot="0">
            <a:off x="2413358" y="5345949"/>
            <a:ext cx="1284975" cy="885973"/>
          </a:xfrm>
          <a:prstGeom prst="rect">
            <a:avLst/>
          </a:prstGeom>
        </p:spPr>
        <p:txBody>
          <a:bodyPr anchor="t" rtlCol="false" tIns="0" lIns="0" bIns="0" rIns="0">
            <a:spAutoFit/>
          </a:bodyPr>
          <a:lstStyle/>
          <a:p>
            <a:pPr algn="ctr" marL="0" indent="0" lvl="0">
              <a:lnSpc>
                <a:spcPts val="6957"/>
              </a:lnSpc>
            </a:pPr>
            <a:r>
              <a:rPr lang="en-US" b="true" sz="5896">
                <a:solidFill>
                  <a:srgbClr val="FFFFFF"/>
                </a:solidFill>
                <a:latin typeface="Montserrat Semi-Bold"/>
                <a:ea typeface="Montserrat Semi-Bold"/>
                <a:cs typeface="Montserrat Semi-Bold"/>
                <a:sym typeface="Montserrat Semi-Bold"/>
              </a:rPr>
              <a:t>2</a:t>
            </a:r>
          </a:p>
        </p:txBody>
      </p:sp>
      <p:sp>
        <p:nvSpPr>
          <p:cNvPr name="Freeform 14" id="14"/>
          <p:cNvSpPr/>
          <p:nvPr/>
        </p:nvSpPr>
        <p:spPr>
          <a:xfrm flipH="false" flipV="false" rot="0">
            <a:off x="2450012" y="6882511"/>
            <a:ext cx="1211667" cy="1384763"/>
          </a:xfrm>
          <a:custGeom>
            <a:avLst/>
            <a:gdLst/>
            <a:ahLst/>
            <a:cxnLst/>
            <a:rect r="r" b="b" t="t" l="l"/>
            <a:pathLst>
              <a:path h="1384763" w="1211667">
                <a:moveTo>
                  <a:pt x="0" y="0"/>
                </a:moveTo>
                <a:lnTo>
                  <a:pt x="1211668" y="0"/>
                </a:lnTo>
                <a:lnTo>
                  <a:pt x="1211668" y="1384763"/>
                </a:lnTo>
                <a:lnTo>
                  <a:pt x="0" y="1384763"/>
                </a:lnTo>
                <a:lnTo>
                  <a:pt x="0" y="0"/>
                </a:lnTo>
                <a:close/>
              </a:path>
            </a:pathLst>
          </a:custGeom>
          <a:blipFill>
            <a:blip r:embed="rId3"/>
            <a:stretch>
              <a:fillRect l="0" t="0" r="0" b="0"/>
            </a:stretch>
          </a:blipFill>
        </p:spPr>
      </p:sp>
      <p:sp>
        <p:nvSpPr>
          <p:cNvPr name="TextBox 15" id="15"/>
          <p:cNvSpPr txBox="true"/>
          <p:nvPr/>
        </p:nvSpPr>
        <p:spPr>
          <a:xfrm rot="0">
            <a:off x="4072424" y="6844411"/>
            <a:ext cx="11802218" cy="1234208"/>
          </a:xfrm>
          <a:prstGeom prst="rect">
            <a:avLst/>
          </a:prstGeom>
        </p:spPr>
        <p:txBody>
          <a:bodyPr anchor="t" rtlCol="false" tIns="0" lIns="0" bIns="0" rIns="0">
            <a:spAutoFit/>
          </a:bodyPr>
          <a:lstStyle/>
          <a:p>
            <a:pPr algn="l" marL="0" indent="0" lvl="0">
              <a:lnSpc>
                <a:spcPts val="3372"/>
              </a:lnSpc>
            </a:pPr>
            <a:r>
              <a:rPr lang="en-US" sz="2409">
                <a:solidFill>
                  <a:srgbClr val="363E52"/>
                </a:solidFill>
                <a:latin typeface="Montserrat"/>
                <a:ea typeface="Montserrat"/>
                <a:cs typeface="Montserrat"/>
                <a:sym typeface="Montserrat"/>
              </a:rPr>
              <a:t>Improve clinical applicability by refining the deployment interface for real-world diagnostic use. Develop more sophisticated and scalable platforms that bridge computational research with practical clinical decision support.</a:t>
            </a:r>
          </a:p>
        </p:txBody>
      </p:sp>
      <p:sp>
        <p:nvSpPr>
          <p:cNvPr name="TextBox 16" id="16"/>
          <p:cNvSpPr txBox="true"/>
          <p:nvPr/>
        </p:nvSpPr>
        <p:spPr>
          <a:xfrm rot="0">
            <a:off x="2413358" y="7136663"/>
            <a:ext cx="1284975" cy="885973"/>
          </a:xfrm>
          <a:prstGeom prst="rect">
            <a:avLst/>
          </a:prstGeom>
        </p:spPr>
        <p:txBody>
          <a:bodyPr anchor="t" rtlCol="false" tIns="0" lIns="0" bIns="0" rIns="0">
            <a:spAutoFit/>
          </a:bodyPr>
          <a:lstStyle/>
          <a:p>
            <a:pPr algn="ctr" marL="0" indent="0" lvl="0">
              <a:lnSpc>
                <a:spcPts val="6957"/>
              </a:lnSpc>
            </a:pPr>
            <a:r>
              <a:rPr lang="en-US" b="true" sz="5896">
                <a:solidFill>
                  <a:srgbClr val="FFFFFF"/>
                </a:solidFill>
                <a:latin typeface="Montserrat Semi-Bold"/>
                <a:ea typeface="Montserrat Semi-Bold"/>
                <a:cs typeface="Montserrat Semi-Bold"/>
                <a:sym typeface="Montserrat Semi-Bold"/>
              </a:rPr>
              <a:t>3</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12875" t="0" r="-12875" b="0"/>
            </a:stretch>
          </a:blipFill>
        </p:spPr>
      </p:sp>
      <p:grpSp>
        <p:nvGrpSpPr>
          <p:cNvPr name="Group 3" id="3"/>
          <p:cNvGrpSpPr/>
          <p:nvPr/>
        </p:nvGrpSpPr>
        <p:grpSpPr>
          <a:xfrm rot="0">
            <a:off x="-1734300" y="-340038"/>
            <a:ext cx="20245050" cy="10967076"/>
            <a:chOff x="0" y="0"/>
            <a:chExt cx="4165648" cy="2256600"/>
          </a:xfrm>
        </p:grpSpPr>
        <p:sp>
          <p:nvSpPr>
            <p:cNvPr name="Freeform 4" id="4"/>
            <p:cNvSpPr/>
            <p:nvPr/>
          </p:nvSpPr>
          <p:spPr>
            <a:xfrm flipH="false" flipV="false" rot="0">
              <a:off x="0" y="0"/>
              <a:ext cx="4165648" cy="2256600"/>
            </a:xfrm>
            <a:custGeom>
              <a:avLst/>
              <a:gdLst/>
              <a:ahLst/>
              <a:cxnLst/>
              <a:rect r="r" b="b" t="t" l="l"/>
              <a:pathLst>
                <a:path h="2256600" w="4165648">
                  <a:moveTo>
                    <a:pt x="7469" y="0"/>
                  </a:moveTo>
                  <a:lnTo>
                    <a:pt x="4158179" y="0"/>
                  </a:lnTo>
                  <a:cubicBezTo>
                    <a:pt x="4160160" y="0"/>
                    <a:pt x="4162060" y="787"/>
                    <a:pt x="4163461" y="2188"/>
                  </a:cubicBezTo>
                  <a:cubicBezTo>
                    <a:pt x="4164861" y="3588"/>
                    <a:pt x="4165648" y="5488"/>
                    <a:pt x="4165648" y="7469"/>
                  </a:cubicBezTo>
                  <a:lnTo>
                    <a:pt x="4165648" y="2249131"/>
                  </a:lnTo>
                  <a:cubicBezTo>
                    <a:pt x="4165648" y="2251112"/>
                    <a:pt x="4164861" y="2253012"/>
                    <a:pt x="4163461" y="2254412"/>
                  </a:cubicBezTo>
                  <a:cubicBezTo>
                    <a:pt x="4162060" y="2255813"/>
                    <a:pt x="4160160" y="2256600"/>
                    <a:pt x="4158179" y="2256600"/>
                  </a:cubicBezTo>
                  <a:lnTo>
                    <a:pt x="7469" y="2256600"/>
                  </a:lnTo>
                  <a:cubicBezTo>
                    <a:pt x="5488" y="2256600"/>
                    <a:pt x="3588" y="2255813"/>
                    <a:pt x="2188" y="2254412"/>
                  </a:cubicBezTo>
                  <a:cubicBezTo>
                    <a:pt x="787" y="2253012"/>
                    <a:pt x="0" y="2251112"/>
                    <a:pt x="0" y="2249131"/>
                  </a:cubicBezTo>
                  <a:lnTo>
                    <a:pt x="0" y="7469"/>
                  </a:lnTo>
                  <a:cubicBezTo>
                    <a:pt x="0" y="5488"/>
                    <a:pt x="787" y="3588"/>
                    <a:pt x="2188" y="2188"/>
                  </a:cubicBezTo>
                  <a:cubicBezTo>
                    <a:pt x="3588" y="787"/>
                    <a:pt x="5488" y="0"/>
                    <a:pt x="7469" y="0"/>
                  </a:cubicBezTo>
                  <a:close/>
                </a:path>
              </a:pathLst>
            </a:custGeom>
            <a:gradFill rotWithShape="true">
              <a:gsLst>
                <a:gs pos="0">
                  <a:srgbClr val="A7B4E7">
                    <a:alpha val="100000"/>
                  </a:srgbClr>
                </a:gs>
                <a:gs pos="33333">
                  <a:srgbClr val="BEC9DE">
                    <a:alpha val="89000"/>
                  </a:srgbClr>
                </a:gs>
                <a:gs pos="66667">
                  <a:srgbClr val="E0E4ED">
                    <a:alpha val="30000"/>
                  </a:srgbClr>
                </a:gs>
                <a:gs pos="100000">
                  <a:srgbClr val="E0E4ED">
                    <a:alpha val="0"/>
                  </a:srgbClr>
                </a:gs>
              </a:gsLst>
              <a:lin ang="0"/>
            </a:gradFill>
          </p:spPr>
        </p:sp>
        <p:sp>
          <p:nvSpPr>
            <p:cNvPr name="TextBox 5" id="5"/>
            <p:cNvSpPr txBox="true"/>
            <p:nvPr/>
          </p:nvSpPr>
          <p:spPr>
            <a:xfrm>
              <a:off x="0" y="-38100"/>
              <a:ext cx="4165648" cy="2294700"/>
            </a:xfrm>
            <a:prstGeom prst="rect">
              <a:avLst/>
            </a:prstGeom>
          </p:spPr>
          <p:txBody>
            <a:bodyPr anchor="ctr" rtlCol="false" tIns="50800" lIns="50800" bIns="50800" rIns="50800"/>
            <a:lstStyle/>
            <a:p>
              <a:pPr algn="ctr" marL="0" indent="0" lvl="0">
                <a:lnSpc>
                  <a:spcPts val="2659"/>
                </a:lnSpc>
              </a:pPr>
            </a:p>
          </p:txBody>
        </p:sp>
      </p:grpSp>
      <p:sp>
        <p:nvSpPr>
          <p:cNvPr name="Freeform 6" id="6"/>
          <p:cNvSpPr/>
          <p:nvPr/>
        </p:nvSpPr>
        <p:spPr>
          <a:xfrm flipH="false" flipV="false" rot="0">
            <a:off x="-728099" y="-587672"/>
            <a:ext cx="3232744" cy="3232744"/>
          </a:xfrm>
          <a:custGeom>
            <a:avLst/>
            <a:gdLst/>
            <a:ahLst/>
            <a:cxnLst/>
            <a:rect r="r" b="b" t="t" l="l"/>
            <a:pathLst>
              <a:path h="3232744" w="3232744">
                <a:moveTo>
                  <a:pt x="0" y="0"/>
                </a:moveTo>
                <a:lnTo>
                  <a:pt x="3232744" y="0"/>
                </a:lnTo>
                <a:lnTo>
                  <a:pt x="3232744" y="3232744"/>
                </a:lnTo>
                <a:lnTo>
                  <a:pt x="0" y="3232744"/>
                </a:lnTo>
                <a:lnTo>
                  <a:pt x="0" y="0"/>
                </a:lnTo>
                <a:close/>
              </a:path>
            </a:pathLst>
          </a:custGeom>
          <a:blipFill>
            <a:blip r:embed="rId3"/>
            <a:stretch>
              <a:fillRect l="0" t="0" r="0" b="0"/>
            </a:stretch>
          </a:blipFill>
        </p:spPr>
      </p:sp>
      <p:sp>
        <p:nvSpPr>
          <p:cNvPr name="Freeform 7" id="7"/>
          <p:cNvSpPr/>
          <p:nvPr/>
        </p:nvSpPr>
        <p:spPr>
          <a:xfrm flipH="false" flipV="false" rot="-9508001">
            <a:off x="557896" y="8333929"/>
            <a:ext cx="1981685" cy="1448155"/>
          </a:xfrm>
          <a:custGeom>
            <a:avLst/>
            <a:gdLst/>
            <a:ahLst/>
            <a:cxnLst/>
            <a:rect r="r" b="b" t="t" l="l"/>
            <a:pathLst>
              <a:path h="1448155" w="1981685">
                <a:moveTo>
                  <a:pt x="0" y="0"/>
                </a:moveTo>
                <a:lnTo>
                  <a:pt x="1981685" y="0"/>
                </a:lnTo>
                <a:lnTo>
                  <a:pt x="1981685" y="1448155"/>
                </a:lnTo>
                <a:lnTo>
                  <a:pt x="0" y="1448155"/>
                </a:lnTo>
                <a:lnTo>
                  <a:pt x="0" y="0"/>
                </a:lnTo>
                <a:close/>
              </a:path>
            </a:pathLst>
          </a:custGeom>
          <a:blipFill>
            <a:blip r:embed="rId4"/>
            <a:stretch>
              <a:fillRect l="0" t="0" r="0" b="0"/>
            </a:stretch>
          </a:blipFill>
        </p:spPr>
      </p:sp>
      <p:sp>
        <p:nvSpPr>
          <p:cNvPr name="TextBox 8" id="8"/>
          <p:cNvSpPr txBox="true"/>
          <p:nvPr/>
        </p:nvSpPr>
        <p:spPr>
          <a:xfrm rot="0">
            <a:off x="1548739" y="2876905"/>
            <a:ext cx="5931562" cy="3746447"/>
          </a:xfrm>
          <a:prstGeom prst="rect">
            <a:avLst/>
          </a:prstGeom>
        </p:spPr>
        <p:txBody>
          <a:bodyPr anchor="t" rtlCol="false" tIns="0" lIns="0" bIns="0" rIns="0">
            <a:spAutoFit/>
          </a:bodyPr>
          <a:lstStyle/>
          <a:p>
            <a:pPr algn="l" marL="0" indent="0" lvl="0">
              <a:lnSpc>
                <a:spcPts val="14725"/>
              </a:lnSpc>
            </a:pPr>
            <a:r>
              <a:rPr lang="en-US" b="true" sz="12479">
                <a:solidFill>
                  <a:srgbClr val="FFFFFF"/>
                </a:solidFill>
                <a:latin typeface="Montserrat Bold"/>
                <a:ea typeface="Montserrat Bold"/>
                <a:cs typeface="Montserrat Bold"/>
                <a:sym typeface="Montserrat Bold"/>
              </a:rPr>
              <a:t>THANK</a:t>
            </a:r>
          </a:p>
          <a:p>
            <a:pPr algn="l" marL="0" indent="0" lvl="0">
              <a:lnSpc>
                <a:spcPts val="14725"/>
              </a:lnSpc>
            </a:pPr>
            <a:r>
              <a:rPr lang="en-US" b="true" sz="12479">
                <a:solidFill>
                  <a:srgbClr val="FFFFFF"/>
                </a:solidFill>
                <a:latin typeface="Montserrat Bold"/>
                <a:ea typeface="Montserrat Bold"/>
                <a:cs typeface="Montserrat Bold"/>
                <a:sym typeface="Montserrat Bold"/>
              </a:rPr>
              <a:t>YOU</a:t>
            </a:r>
          </a:p>
        </p:txBody>
      </p:sp>
      <p:sp>
        <p:nvSpPr>
          <p:cNvPr name="TextBox 9" id="9"/>
          <p:cNvSpPr txBox="true"/>
          <p:nvPr/>
        </p:nvSpPr>
        <p:spPr>
          <a:xfrm rot="0">
            <a:off x="1548739" y="6976390"/>
            <a:ext cx="7537864" cy="453049"/>
          </a:xfrm>
          <a:prstGeom prst="rect">
            <a:avLst/>
          </a:prstGeom>
        </p:spPr>
        <p:txBody>
          <a:bodyPr anchor="t" rtlCol="false" tIns="0" lIns="0" bIns="0" rIns="0">
            <a:spAutoFit/>
          </a:bodyPr>
          <a:lstStyle/>
          <a:p>
            <a:pPr algn="l" marL="0" indent="0" lvl="0">
              <a:lnSpc>
                <a:spcPts val="1803"/>
              </a:lnSpc>
            </a:pPr>
            <a:r>
              <a:rPr lang="en-US" sz="1288">
                <a:solidFill>
                  <a:srgbClr val="FFFFFF"/>
                </a:solidFill>
                <a:latin typeface="Montserrat"/>
                <a:ea typeface="Montserrat"/>
                <a:cs typeface="Montserrat"/>
                <a:sym typeface="Montserrat"/>
              </a:rPr>
              <a:t>Questions &amp; Discussion  |  Jessica Amgad Anis  |  CBIO313: Data Mining and Machine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DAHLs7_zVMQ</dc:identifier>
  <dcterms:modified xsi:type="dcterms:W3CDTF">2011-08-01T06:04:30Z</dcterms:modified>
  <cp:revision>1</cp:revision>
  <dc:title>Blue Purple Futuristic DNA Structure Group Project Presentation</dc:title>
</cp:coreProperties>
</file>